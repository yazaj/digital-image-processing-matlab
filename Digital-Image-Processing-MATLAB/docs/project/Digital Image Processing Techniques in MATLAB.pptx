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3.jpg" ContentType="image/jpeg"/>
  <Override PartName="/ppt/media/image4.jpg" ContentType="image/jpeg"/>
  <Override PartName="/ppt/media/image5.jpg" ContentType="image/jpeg"/>
  <Override PartName="/ppt/media/image6.jpg" ContentType="image/jpeg"/>
  <Override PartName="/ppt/media/image7.jpg" ContentType="image/jpeg"/>
  <Override PartName="/ppt/media/image8.jpg" ContentType="image/jpeg"/>
  <Override PartName="/ppt/notesSlides/notesSlide8.xml" ContentType="application/vnd.openxmlformats-officedocument.presentationml.notesSlide+xml"/>
  <Override PartName="/ppt/media/image9.jpg" ContentType="image/jpeg"/>
  <Override PartName="/ppt/media/image10.jpg" ContentType="image/jpeg"/>
  <Override PartName="/ppt/media/image11.jpg" ContentType="image/jpeg"/>
  <Override PartName="/ppt/media/image12.jpg" ContentType="image/jpeg"/>
  <Override PartName="/ppt/media/image13.jpg" ContentType="image/jpeg"/>
  <Override PartName="/ppt/media/image14.jpg" ContentType="image/jpeg"/>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5.jpg" ContentType="image/jpeg"/>
  <Override PartName="/ppt/media/image16.jpg" ContentType="image/jpeg"/>
  <Override PartName="/ppt/media/image17.jpg" ContentType="image/jpeg"/>
  <Override PartName="/ppt/media/image18.jpg" ContentType="image/jpeg"/>
  <Override PartName="/ppt/media/image19.jpg" ContentType="image/jpeg"/>
  <Override PartName="/ppt/notesSlides/notesSlide11.xml" ContentType="application/vnd.openxmlformats-officedocument.presentationml.notesSlide+xml"/>
  <Override PartName="/ppt/media/image20.jpg" ContentType="image/jpeg"/>
  <Override PartName="/ppt/media/image21.jpg" ContentType="image/jpeg"/>
  <Override PartName="/ppt/media/image22.jpg" ContentType="image/jpeg"/>
  <Override PartName="/ppt/media/image23.jpg" ContentType="image/jpeg"/>
  <Override PartName="/ppt/media/image24.jpg" ContentType="image/jpeg"/>
  <Override PartName="/ppt/media/image25.jpg" ContentType="image/jpe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27.jpg" ContentType="image/jpeg"/>
  <Override PartName="/ppt/media/image28.jpg" ContentType="image/jpeg"/>
  <Override PartName="/ppt/media/image29.jpg" ContentType="image/jpeg"/>
  <Override PartName="/ppt/media/image30.jpg" ContentType="image/jpeg"/>
  <Override PartName="/ppt/notesSlides/notesSlide18.xml" ContentType="application/vnd.openxmlformats-officedocument.presentationml.notesSlide+xml"/>
  <Override PartName="/ppt/media/image31.jpg" ContentType="image/jpeg"/>
  <Override PartName="/ppt/media/image32.jpg" ContentType="image/jpeg"/>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71" r:id="rId3"/>
    <p:sldId id="257" r:id="rId4"/>
    <p:sldId id="258" r:id="rId5"/>
    <p:sldId id="259" r:id="rId6"/>
    <p:sldId id="260" r:id="rId7"/>
    <p:sldId id="272" r:id="rId8"/>
    <p:sldId id="262" r:id="rId9"/>
    <p:sldId id="261" r:id="rId10"/>
    <p:sldId id="264" r:id="rId11"/>
    <p:sldId id="273" r:id="rId12"/>
    <p:sldId id="263" r:id="rId13"/>
    <p:sldId id="265" r:id="rId14"/>
    <p:sldId id="266" r:id="rId15"/>
    <p:sldId id="267" r:id="rId16"/>
    <p:sldId id="268" r:id="rId17"/>
    <p:sldId id="274" r:id="rId18"/>
    <p:sldId id="269" r:id="rId19"/>
    <p:sldId id="270" r:id="rId20"/>
  </p:sldIdLst>
  <p:sldSz cx="12192000" cy="6858000"/>
  <p:notesSz cx="6858000" cy="12192000"/>
  <p:embeddedFontLst>
    <p:embeddedFont>
      <p:font typeface="Liter" panose="020B0604020202020204" charset="0"/>
      <p:regular r:id="rId22"/>
    </p:embeddedFont>
    <p:embeddedFont>
      <p:font typeface="Quattrocento Sans" panose="020B0502050000020003" pitchFamily="34"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615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9BE05-5C12-C908-D915-02944B6DF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9509F-989B-8B91-3A7B-E6E38FC3B1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4B03A5-A506-15DD-56B9-6035155A84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37D225-7EA2-D2AB-3BC5-AF92EFD6505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46798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AD85-CCC3-54E8-2D44-39099D731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F1165-0F39-F1E8-2FD3-A137F9BA48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259AE6F-CF4E-F0AE-875D-0DFEE5F1AF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028657-2D41-2A42-0FC5-65CDE84F618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46273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F7BA3-2D50-F2AC-28FC-EDDDCB275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160C1-AA6E-75D8-1E25-A2792654E8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D1FB5-1F3D-113A-0F18-FB232FED6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658FB1-AA56-863F-A1E7-B47ECC6EABA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66860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7A7E-F872-37EC-6C9E-7797BF41C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96E56-B9A7-8315-2622-F46CCEE490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B41BD2-489E-D00B-0A79-7321DEAD89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207B08-D37F-F062-6533-AA0FEA606DA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76976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5.jpg"/><Relationship Id="rId7"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media.istockphoto.com/6142b5356e62a21345ed08cc1ed45b39c810b21c.jpg"/>
          <p:cNvPicPr>
            <a:picLocks noChangeAspect="1"/>
          </p:cNvPicPr>
          <p:nvPr/>
        </p:nvPicPr>
        <p:blipFill>
          <a:blip r:embed="rId3">
            <a:alphaModFix amt="30000"/>
          </a:blip>
          <a:srcRect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4A6C8C">
                  <a:alpha val="20000"/>
                </a:srgbClr>
              </a:gs>
              <a:gs pos="100000">
                <a:srgbClr val="1A1D21">
                  <a:alpha val="95000"/>
                </a:srgbClr>
              </a:gs>
            </a:gsLst>
            <a:lin ang="2700000" scaled="1"/>
          </a:gradFill>
          <a:ln/>
        </p:spPr>
        <p:txBody>
          <a:bodyPr/>
          <a:lstStyle/>
          <a:p>
            <a:endParaRPr lang="en-US"/>
          </a:p>
        </p:txBody>
      </p:sp>
      <p:sp>
        <p:nvSpPr>
          <p:cNvPr id="4" name="Shape 1"/>
          <p:cNvSpPr/>
          <p:nvPr/>
        </p:nvSpPr>
        <p:spPr>
          <a:xfrm>
            <a:off x="381000" y="647700"/>
            <a:ext cx="3019425" cy="533400"/>
          </a:xfrm>
          <a:custGeom>
            <a:avLst/>
            <a:gdLst/>
            <a:ahLst/>
            <a:cxnLst/>
            <a:rect l="l" t="t" r="r" b="b"/>
            <a:pathLst>
              <a:path w="3019425" h="533400">
                <a:moveTo>
                  <a:pt x="76202" y="0"/>
                </a:moveTo>
                <a:lnTo>
                  <a:pt x="2943223" y="0"/>
                </a:lnTo>
                <a:cubicBezTo>
                  <a:pt x="2985308" y="0"/>
                  <a:pt x="3019425" y="34117"/>
                  <a:pt x="3019425" y="76202"/>
                </a:cubicBezTo>
                <a:lnTo>
                  <a:pt x="3019425" y="457198"/>
                </a:lnTo>
                <a:cubicBezTo>
                  <a:pt x="3019425" y="499283"/>
                  <a:pt x="2985308" y="533400"/>
                  <a:pt x="2943223" y="533400"/>
                </a:cubicBezTo>
                <a:lnTo>
                  <a:pt x="76202" y="533400"/>
                </a:lnTo>
                <a:cubicBezTo>
                  <a:pt x="34117" y="533400"/>
                  <a:pt x="0" y="499283"/>
                  <a:pt x="0" y="457198"/>
                </a:cubicBezTo>
                <a:lnTo>
                  <a:pt x="0" y="76202"/>
                </a:lnTo>
                <a:cubicBezTo>
                  <a:pt x="0" y="34145"/>
                  <a:pt x="34145" y="0"/>
                  <a:pt x="76202" y="0"/>
                </a:cubicBezTo>
                <a:close/>
              </a:path>
            </a:pathLst>
          </a:custGeom>
          <a:solidFill>
            <a:srgbClr val="4A6C8C"/>
          </a:solidFill>
          <a:ln/>
        </p:spPr>
        <p:txBody>
          <a:bodyPr/>
          <a:lstStyle/>
          <a:p>
            <a:endParaRPr lang="en-US"/>
          </a:p>
        </p:txBody>
      </p:sp>
      <p:sp>
        <p:nvSpPr>
          <p:cNvPr id="5" name="Text 2"/>
          <p:cNvSpPr/>
          <p:nvPr/>
        </p:nvSpPr>
        <p:spPr>
          <a:xfrm>
            <a:off x="685800" y="784860"/>
            <a:ext cx="2519958" cy="251460"/>
          </a:xfrm>
          <a:prstGeom prst="rect">
            <a:avLst/>
          </a:prstGeom>
          <a:noFill/>
          <a:ln/>
        </p:spPr>
        <p:txBody>
          <a:bodyPr wrap="square" lIns="0" tIns="0" rIns="0" bIns="0" rtlCol="0" anchor="ctr"/>
          <a:lstStyle/>
          <a:p>
            <a:pPr>
              <a:lnSpc>
                <a:spcPct val="110000"/>
              </a:lnSpc>
            </a:pPr>
            <a:r>
              <a:rPr lang="en-US" sz="1800" b="1" kern="0" spc="180" dirty="0">
                <a:solidFill>
                  <a:srgbClr val="E0E2E5"/>
                </a:solidFill>
                <a:latin typeface="Quattrocento Sans" pitchFamily="34" charset="0"/>
                <a:ea typeface="Quattrocento Sans" pitchFamily="34" charset="-122"/>
                <a:cs typeface="Quattrocento Sans" pitchFamily="34" charset="-120"/>
              </a:rPr>
              <a:t>TECHNICAL REPORT</a:t>
            </a:r>
            <a:endParaRPr lang="en-US" sz="1600" dirty="0"/>
          </a:p>
        </p:txBody>
      </p:sp>
      <p:sp>
        <p:nvSpPr>
          <p:cNvPr id="6" name="Text 3"/>
          <p:cNvSpPr/>
          <p:nvPr/>
        </p:nvSpPr>
        <p:spPr>
          <a:xfrm>
            <a:off x="381000" y="1485781"/>
            <a:ext cx="11887200" cy="1828800"/>
          </a:xfrm>
          <a:prstGeom prst="rect">
            <a:avLst/>
          </a:prstGeom>
          <a:noFill/>
          <a:ln/>
        </p:spPr>
        <p:txBody>
          <a:bodyPr wrap="square" lIns="0" tIns="0" rIns="0" bIns="0" rtlCol="0" anchor="ctr"/>
          <a:lstStyle/>
          <a:p>
            <a:pPr>
              <a:lnSpc>
                <a:spcPct val="80000"/>
              </a:lnSpc>
            </a:pPr>
            <a:r>
              <a:rPr lang="en-US" sz="7200" b="1" dirty="0">
                <a:solidFill>
                  <a:srgbClr val="E0E2E5"/>
                </a:solidFill>
                <a:latin typeface="Liter" pitchFamily="34" charset="0"/>
                <a:ea typeface="Liter" pitchFamily="34" charset="-122"/>
                <a:cs typeface="Liter" pitchFamily="34" charset="-120"/>
              </a:rPr>
              <a:t>Digital Image</a:t>
            </a:r>
            <a:endParaRPr lang="en-US" sz="1600" dirty="0"/>
          </a:p>
          <a:p>
            <a:pPr>
              <a:lnSpc>
                <a:spcPct val="80000"/>
              </a:lnSpc>
            </a:pPr>
            <a:r>
              <a:rPr lang="en-US" sz="7200" b="1" dirty="0">
                <a:solidFill>
                  <a:srgbClr val="E0E2E5"/>
                </a:solidFill>
                <a:latin typeface="Liter" pitchFamily="34" charset="0"/>
                <a:ea typeface="Liter" pitchFamily="34" charset="-122"/>
                <a:cs typeface="Liter" pitchFamily="34" charset="-120"/>
              </a:rPr>
              <a:t>Processing</a:t>
            </a:r>
            <a:endParaRPr lang="en-US" sz="1600" dirty="0"/>
          </a:p>
        </p:txBody>
      </p:sp>
      <p:sp>
        <p:nvSpPr>
          <p:cNvPr id="7" name="Shape 4"/>
          <p:cNvSpPr/>
          <p:nvPr/>
        </p:nvSpPr>
        <p:spPr>
          <a:xfrm>
            <a:off x="381000" y="3619381"/>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B8A890"/>
          </a:solidFill>
          <a:ln/>
        </p:spPr>
        <p:txBody>
          <a:bodyPr/>
          <a:lstStyle/>
          <a:p>
            <a:endParaRPr lang="en-US"/>
          </a:p>
        </p:txBody>
      </p:sp>
      <p:sp>
        <p:nvSpPr>
          <p:cNvPr id="8" name="Text 5"/>
          <p:cNvSpPr/>
          <p:nvPr/>
        </p:nvSpPr>
        <p:spPr>
          <a:xfrm>
            <a:off x="381000" y="3981331"/>
            <a:ext cx="11601450" cy="762000"/>
          </a:xfrm>
          <a:prstGeom prst="rect">
            <a:avLst/>
          </a:prstGeom>
          <a:noFill/>
          <a:ln/>
        </p:spPr>
        <p:txBody>
          <a:bodyPr wrap="square" lIns="0" tIns="0" rIns="0" bIns="0" rtlCol="0" anchor="ctr"/>
          <a:lstStyle/>
          <a:p>
            <a:pPr>
              <a:lnSpc>
                <a:spcPct val="90000"/>
              </a:lnSpc>
            </a:pPr>
            <a:r>
              <a:rPr lang="en-US" sz="2700" dirty="0">
                <a:solidFill>
                  <a:srgbClr val="E0E2E5">
                    <a:alpha val="90000"/>
                  </a:srgbClr>
                </a:solidFill>
                <a:latin typeface="Quattrocento Sans" pitchFamily="34" charset="0"/>
                <a:ea typeface="Quattrocento Sans" pitchFamily="34" charset="-122"/>
                <a:cs typeface="Quattrocento Sans" pitchFamily="34" charset="-120"/>
              </a:rPr>
              <a:t>Noise Reduction &amp; Morphological Operations</a:t>
            </a:r>
            <a:endParaRPr lang="en-US" sz="1600" dirty="0"/>
          </a:p>
          <a:p>
            <a:pPr>
              <a:lnSpc>
                <a:spcPct val="90000"/>
              </a:lnSpc>
            </a:pPr>
            <a:r>
              <a:rPr lang="en-US" sz="2700" dirty="0">
                <a:solidFill>
                  <a:srgbClr val="E0E2E5">
                    <a:alpha val="90000"/>
                  </a:srgbClr>
                </a:solidFill>
                <a:latin typeface="Quattrocento Sans" pitchFamily="34" charset="0"/>
                <a:ea typeface="Quattrocento Sans" pitchFamily="34" charset="-122"/>
                <a:cs typeface="Quattrocento Sans" pitchFamily="34" charset="-120"/>
              </a:rPr>
              <a:t>for Medical Image Enhancement</a:t>
            </a:r>
            <a:endParaRPr lang="en-US" sz="1600" dirty="0"/>
          </a:p>
        </p:txBody>
      </p:sp>
      <p:sp>
        <p:nvSpPr>
          <p:cNvPr id="9" name="Shape 6"/>
          <p:cNvSpPr/>
          <p:nvPr/>
        </p:nvSpPr>
        <p:spPr>
          <a:xfrm>
            <a:off x="400050" y="5200531"/>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4A6C8C">
              <a:alpha val="10196"/>
            </a:srgbClr>
          </a:solidFill>
          <a:ln/>
        </p:spPr>
        <p:txBody>
          <a:bodyPr/>
          <a:lstStyle/>
          <a:p>
            <a:endParaRPr lang="en-US"/>
          </a:p>
        </p:txBody>
      </p:sp>
      <p:sp>
        <p:nvSpPr>
          <p:cNvPr id="10" name="Shape 7"/>
          <p:cNvSpPr/>
          <p:nvPr/>
        </p:nvSpPr>
        <p:spPr>
          <a:xfrm>
            <a:off x="400050"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4A6C8C"/>
          </a:solidFill>
          <a:ln/>
        </p:spPr>
        <p:txBody>
          <a:bodyPr/>
          <a:lstStyle/>
          <a:p>
            <a:endParaRPr lang="en-US"/>
          </a:p>
        </p:txBody>
      </p:sp>
      <p:sp>
        <p:nvSpPr>
          <p:cNvPr id="11" name="Shape 8"/>
          <p:cNvSpPr/>
          <p:nvPr/>
        </p:nvSpPr>
        <p:spPr>
          <a:xfrm>
            <a:off x="647700" y="5391031"/>
            <a:ext cx="285750" cy="285750"/>
          </a:xfrm>
          <a:custGeom>
            <a:avLst/>
            <a:gdLst/>
            <a:ahLst/>
            <a:cxnLst/>
            <a:rect l="l" t="t" r="r" b="b"/>
            <a:pathLst>
              <a:path w="285750" h="285750">
                <a:moveTo>
                  <a:pt x="98227" y="0"/>
                </a:moveTo>
                <a:cubicBezTo>
                  <a:pt x="83437" y="0"/>
                  <a:pt x="71438" y="11999"/>
                  <a:pt x="71438" y="26789"/>
                </a:cubicBezTo>
                <a:lnTo>
                  <a:pt x="71438" y="142875"/>
                </a:lnTo>
                <a:cubicBezTo>
                  <a:pt x="71438" y="157665"/>
                  <a:pt x="83437" y="169664"/>
                  <a:pt x="98227" y="169664"/>
                </a:cubicBezTo>
                <a:lnTo>
                  <a:pt x="133945" y="169664"/>
                </a:lnTo>
                <a:cubicBezTo>
                  <a:pt x="148735" y="169664"/>
                  <a:pt x="160734" y="157665"/>
                  <a:pt x="160734" y="142875"/>
                </a:cubicBezTo>
                <a:lnTo>
                  <a:pt x="160734" y="107156"/>
                </a:lnTo>
                <a:lnTo>
                  <a:pt x="178594" y="107156"/>
                </a:lnTo>
                <a:cubicBezTo>
                  <a:pt x="218052" y="107156"/>
                  <a:pt x="250031" y="139136"/>
                  <a:pt x="250031" y="178594"/>
                </a:cubicBezTo>
                <a:cubicBezTo>
                  <a:pt x="250031" y="218052"/>
                  <a:pt x="218052" y="250031"/>
                  <a:pt x="178594" y="250031"/>
                </a:cubicBezTo>
                <a:lnTo>
                  <a:pt x="17859" y="250031"/>
                </a:lnTo>
                <a:cubicBezTo>
                  <a:pt x="7981" y="250031"/>
                  <a:pt x="0" y="258012"/>
                  <a:pt x="0" y="267891"/>
                </a:cubicBezTo>
                <a:cubicBezTo>
                  <a:pt x="0" y="277769"/>
                  <a:pt x="7981" y="285750"/>
                  <a:pt x="17859" y="285750"/>
                </a:cubicBezTo>
                <a:lnTo>
                  <a:pt x="267891" y="285750"/>
                </a:lnTo>
                <a:cubicBezTo>
                  <a:pt x="277769" y="285750"/>
                  <a:pt x="285750" y="277769"/>
                  <a:pt x="285750" y="267891"/>
                </a:cubicBezTo>
                <a:cubicBezTo>
                  <a:pt x="285750" y="258012"/>
                  <a:pt x="277769" y="250031"/>
                  <a:pt x="267891" y="250031"/>
                </a:cubicBezTo>
                <a:lnTo>
                  <a:pt x="258459" y="250031"/>
                </a:lnTo>
                <a:cubicBezTo>
                  <a:pt x="275425" y="231056"/>
                  <a:pt x="285750" y="206053"/>
                  <a:pt x="285750" y="178594"/>
                </a:cubicBezTo>
                <a:cubicBezTo>
                  <a:pt x="285750" y="119435"/>
                  <a:pt x="237753" y="71438"/>
                  <a:pt x="178594" y="71438"/>
                </a:cubicBezTo>
                <a:lnTo>
                  <a:pt x="160734" y="71438"/>
                </a:lnTo>
                <a:lnTo>
                  <a:pt x="160734" y="26789"/>
                </a:lnTo>
                <a:cubicBezTo>
                  <a:pt x="160734" y="11999"/>
                  <a:pt x="148735" y="0"/>
                  <a:pt x="133945" y="0"/>
                </a:cubicBezTo>
                <a:lnTo>
                  <a:pt x="98227" y="0"/>
                </a:lnTo>
                <a:close/>
                <a:moveTo>
                  <a:pt x="66973" y="196453"/>
                </a:moveTo>
                <a:cubicBezTo>
                  <a:pt x="59550" y="196453"/>
                  <a:pt x="53578" y="202425"/>
                  <a:pt x="53578" y="209848"/>
                </a:cubicBezTo>
                <a:cubicBezTo>
                  <a:pt x="53578" y="217270"/>
                  <a:pt x="59550" y="223242"/>
                  <a:pt x="66973" y="223242"/>
                </a:cubicBezTo>
                <a:lnTo>
                  <a:pt x="165199" y="223242"/>
                </a:lnTo>
                <a:cubicBezTo>
                  <a:pt x="172622" y="223242"/>
                  <a:pt x="178594" y="217270"/>
                  <a:pt x="178594" y="209848"/>
                </a:cubicBezTo>
                <a:cubicBezTo>
                  <a:pt x="178594" y="202425"/>
                  <a:pt x="172622" y="196453"/>
                  <a:pt x="165199" y="196453"/>
                </a:cubicBezTo>
                <a:lnTo>
                  <a:pt x="66973" y="196453"/>
                </a:lnTo>
                <a:close/>
              </a:path>
            </a:pathLst>
          </a:custGeom>
          <a:solidFill>
            <a:srgbClr val="4A6C8C"/>
          </a:solidFill>
          <a:ln/>
        </p:spPr>
        <p:txBody>
          <a:bodyPr/>
          <a:lstStyle/>
          <a:p>
            <a:endParaRPr lang="en-US"/>
          </a:p>
        </p:txBody>
      </p:sp>
      <p:sp>
        <p:nvSpPr>
          <p:cNvPr id="12" name="Text 9"/>
          <p:cNvSpPr/>
          <p:nvPr/>
        </p:nvSpPr>
        <p:spPr>
          <a:xfrm>
            <a:off x="609600"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Advanced Filtering</a:t>
            </a:r>
            <a:endParaRPr lang="en-US" sz="1600" dirty="0"/>
          </a:p>
        </p:txBody>
      </p:sp>
      <p:sp>
        <p:nvSpPr>
          <p:cNvPr id="13" name="Shape 10"/>
          <p:cNvSpPr/>
          <p:nvPr/>
        </p:nvSpPr>
        <p:spPr>
          <a:xfrm>
            <a:off x="3321010" y="5200531"/>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5A7D7C">
              <a:alpha val="10196"/>
            </a:srgbClr>
          </a:solidFill>
          <a:ln/>
        </p:spPr>
        <p:txBody>
          <a:bodyPr/>
          <a:lstStyle/>
          <a:p>
            <a:endParaRPr lang="en-US"/>
          </a:p>
        </p:txBody>
      </p:sp>
      <p:sp>
        <p:nvSpPr>
          <p:cNvPr id="14" name="Shape 11"/>
          <p:cNvSpPr/>
          <p:nvPr/>
        </p:nvSpPr>
        <p:spPr>
          <a:xfrm>
            <a:off x="3321010"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5A7D7C"/>
          </a:solidFill>
          <a:ln/>
        </p:spPr>
        <p:txBody>
          <a:bodyPr/>
          <a:lstStyle/>
          <a:p>
            <a:endParaRPr lang="en-US"/>
          </a:p>
        </p:txBody>
      </p:sp>
      <p:sp>
        <p:nvSpPr>
          <p:cNvPr id="15" name="Shape 12"/>
          <p:cNvSpPr/>
          <p:nvPr/>
        </p:nvSpPr>
        <p:spPr>
          <a:xfrm>
            <a:off x="3568660" y="5391031"/>
            <a:ext cx="285750" cy="285750"/>
          </a:xfrm>
          <a:custGeom>
            <a:avLst/>
            <a:gdLst/>
            <a:ahLst/>
            <a:cxnLst/>
            <a:rect l="l" t="t" r="r" b="b"/>
            <a:pathLst>
              <a:path w="285750" h="285750">
                <a:moveTo>
                  <a:pt x="17859" y="17859"/>
                </a:moveTo>
                <a:cubicBezTo>
                  <a:pt x="27738" y="17859"/>
                  <a:pt x="35719" y="25840"/>
                  <a:pt x="35719" y="35719"/>
                </a:cubicBezTo>
                <a:lnTo>
                  <a:pt x="35719" y="223242"/>
                </a:lnTo>
                <a:cubicBezTo>
                  <a:pt x="35719" y="228154"/>
                  <a:pt x="39737" y="232172"/>
                  <a:pt x="44648" y="232172"/>
                </a:cubicBezTo>
                <a:lnTo>
                  <a:pt x="267891" y="232172"/>
                </a:lnTo>
                <a:cubicBezTo>
                  <a:pt x="277769" y="232172"/>
                  <a:pt x="285750" y="240153"/>
                  <a:pt x="285750" y="250031"/>
                </a:cubicBezTo>
                <a:cubicBezTo>
                  <a:pt x="285750" y="259910"/>
                  <a:pt x="277769" y="267891"/>
                  <a:pt x="267891" y="267891"/>
                </a:cubicBezTo>
                <a:lnTo>
                  <a:pt x="44648" y="267891"/>
                </a:lnTo>
                <a:cubicBezTo>
                  <a:pt x="19980" y="267891"/>
                  <a:pt x="0" y="247910"/>
                  <a:pt x="0" y="223242"/>
                </a:cubicBezTo>
                <a:lnTo>
                  <a:pt x="0" y="35719"/>
                </a:lnTo>
                <a:cubicBezTo>
                  <a:pt x="0" y="25840"/>
                  <a:pt x="7981" y="17859"/>
                  <a:pt x="17859" y="17859"/>
                </a:cubicBezTo>
                <a:close/>
                <a:moveTo>
                  <a:pt x="71438" y="53578"/>
                </a:moveTo>
                <a:cubicBezTo>
                  <a:pt x="71438" y="43700"/>
                  <a:pt x="79418" y="35719"/>
                  <a:pt x="89297" y="35719"/>
                </a:cubicBezTo>
                <a:lnTo>
                  <a:pt x="196453" y="35719"/>
                </a:lnTo>
                <a:cubicBezTo>
                  <a:pt x="206332" y="35719"/>
                  <a:pt x="214313" y="43700"/>
                  <a:pt x="214313" y="53578"/>
                </a:cubicBezTo>
                <a:cubicBezTo>
                  <a:pt x="214313" y="63457"/>
                  <a:pt x="206332" y="71438"/>
                  <a:pt x="196453" y="71438"/>
                </a:cubicBezTo>
                <a:lnTo>
                  <a:pt x="89297" y="71438"/>
                </a:lnTo>
                <a:cubicBezTo>
                  <a:pt x="79418" y="71438"/>
                  <a:pt x="71438" y="63457"/>
                  <a:pt x="71438" y="53578"/>
                </a:cubicBezTo>
                <a:close/>
                <a:moveTo>
                  <a:pt x="89297" y="98227"/>
                </a:moveTo>
                <a:lnTo>
                  <a:pt x="160734" y="98227"/>
                </a:lnTo>
                <a:cubicBezTo>
                  <a:pt x="170613" y="98227"/>
                  <a:pt x="178594" y="106207"/>
                  <a:pt x="178594" y="116086"/>
                </a:cubicBezTo>
                <a:cubicBezTo>
                  <a:pt x="178594" y="125964"/>
                  <a:pt x="170613" y="133945"/>
                  <a:pt x="160734" y="133945"/>
                </a:cubicBezTo>
                <a:lnTo>
                  <a:pt x="89297" y="133945"/>
                </a:lnTo>
                <a:cubicBezTo>
                  <a:pt x="79418" y="133945"/>
                  <a:pt x="71438" y="125964"/>
                  <a:pt x="71438" y="116086"/>
                </a:cubicBezTo>
                <a:cubicBezTo>
                  <a:pt x="71438" y="106207"/>
                  <a:pt x="79418" y="98227"/>
                  <a:pt x="89297" y="98227"/>
                </a:cubicBezTo>
                <a:close/>
                <a:moveTo>
                  <a:pt x="89297" y="160734"/>
                </a:moveTo>
                <a:lnTo>
                  <a:pt x="232172" y="160734"/>
                </a:lnTo>
                <a:cubicBezTo>
                  <a:pt x="242050" y="160734"/>
                  <a:pt x="250031" y="168715"/>
                  <a:pt x="250031" y="178594"/>
                </a:cubicBezTo>
                <a:cubicBezTo>
                  <a:pt x="250031" y="188472"/>
                  <a:pt x="242050" y="196453"/>
                  <a:pt x="232172" y="196453"/>
                </a:cubicBezTo>
                <a:lnTo>
                  <a:pt x="89297" y="196453"/>
                </a:lnTo>
                <a:cubicBezTo>
                  <a:pt x="79418" y="196453"/>
                  <a:pt x="71438" y="188472"/>
                  <a:pt x="71438" y="178594"/>
                </a:cubicBezTo>
                <a:cubicBezTo>
                  <a:pt x="71438" y="168715"/>
                  <a:pt x="79418" y="160734"/>
                  <a:pt x="89297" y="160734"/>
                </a:cubicBezTo>
                <a:close/>
              </a:path>
            </a:pathLst>
          </a:custGeom>
          <a:solidFill>
            <a:srgbClr val="5A7D7C"/>
          </a:solidFill>
          <a:ln/>
        </p:spPr>
        <p:txBody>
          <a:bodyPr/>
          <a:lstStyle/>
          <a:p>
            <a:endParaRPr lang="en-US"/>
          </a:p>
        </p:txBody>
      </p:sp>
      <p:sp>
        <p:nvSpPr>
          <p:cNvPr id="16" name="Text 13"/>
          <p:cNvSpPr/>
          <p:nvPr/>
        </p:nvSpPr>
        <p:spPr>
          <a:xfrm>
            <a:off x="3530560"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Data Analysis</a:t>
            </a:r>
            <a:endParaRPr lang="en-US" sz="1600" dirty="0"/>
          </a:p>
        </p:txBody>
      </p:sp>
      <p:sp>
        <p:nvSpPr>
          <p:cNvPr id="17" name="Shape 14"/>
          <p:cNvSpPr/>
          <p:nvPr/>
        </p:nvSpPr>
        <p:spPr>
          <a:xfrm>
            <a:off x="6241971" y="5200531"/>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B8A890">
              <a:alpha val="10196"/>
            </a:srgbClr>
          </a:solidFill>
          <a:ln/>
        </p:spPr>
        <p:txBody>
          <a:bodyPr/>
          <a:lstStyle/>
          <a:p>
            <a:endParaRPr lang="en-US"/>
          </a:p>
        </p:txBody>
      </p:sp>
      <p:sp>
        <p:nvSpPr>
          <p:cNvPr id="18" name="Shape 15"/>
          <p:cNvSpPr/>
          <p:nvPr/>
        </p:nvSpPr>
        <p:spPr>
          <a:xfrm>
            <a:off x="6241971"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B8A890"/>
          </a:solidFill>
          <a:ln/>
        </p:spPr>
        <p:txBody>
          <a:bodyPr/>
          <a:lstStyle/>
          <a:p>
            <a:endParaRPr lang="en-US"/>
          </a:p>
        </p:txBody>
      </p:sp>
      <p:sp>
        <p:nvSpPr>
          <p:cNvPr id="19" name="Shape 16"/>
          <p:cNvSpPr/>
          <p:nvPr/>
        </p:nvSpPr>
        <p:spPr>
          <a:xfrm>
            <a:off x="6471761" y="5391031"/>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B8A890"/>
          </a:solidFill>
          <a:ln/>
        </p:spPr>
        <p:txBody>
          <a:bodyPr/>
          <a:lstStyle/>
          <a:p>
            <a:endParaRPr lang="en-US"/>
          </a:p>
        </p:txBody>
      </p:sp>
      <p:sp>
        <p:nvSpPr>
          <p:cNvPr id="20" name="Text 17"/>
          <p:cNvSpPr/>
          <p:nvPr/>
        </p:nvSpPr>
        <p:spPr>
          <a:xfrm>
            <a:off x="6451521"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MATLAB</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a:extLst>
            <a:ext uri="{FF2B5EF4-FFF2-40B4-BE49-F238E27FC236}">
              <a16:creationId xmlns:a16="http://schemas.microsoft.com/office/drawing/2014/main" id="{8E01142C-74A0-555B-DE8C-359E11493639}"/>
            </a:ext>
          </a:extLst>
        </p:cNvPr>
        <p:cNvGrpSpPr/>
        <p:nvPr/>
      </p:nvGrpSpPr>
      <p:grpSpPr>
        <a:xfrm>
          <a:off x="0" y="0"/>
          <a:ext cx="0" cy="0"/>
          <a:chOff x="0" y="0"/>
          <a:chExt cx="0" cy="0"/>
        </a:xfrm>
      </p:grpSpPr>
      <p:pic>
        <p:nvPicPr>
          <p:cNvPr id="2" name="Image 0" descr="https://kimi-web-img.moonshot.cn/img/media.istockphoto.com/6142b5356e62a21345ed08cc1ed45b39c810b21c.jpg">
            <a:extLst>
              <a:ext uri="{FF2B5EF4-FFF2-40B4-BE49-F238E27FC236}">
                <a16:creationId xmlns:a16="http://schemas.microsoft.com/office/drawing/2014/main" id="{FEED91B9-6AF8-84E4-80F1-45FE986CD38D}"/>
              </a:ext>
            </a:extLst>
          </p:cNvPr>
          <p:cNvPicPr>
            <a:picLocks noChangeAspect="1"/>
          </p:cNvPicPr>
          <p:nvPr/>
        </p:nvPicPr>
        <p:blipFill>
          <a:blip r:embed="rId3">
            <a:alphaModFix amt="30000"/>
          </a:blip>
          <a:srcRect t="7813" b="7813"/>
          <a:stretch/>
        </p:blipFill>
        <p:spPr>
          <a:xfrm>
            <a:off x="0" y="0"/>
            <a:ext cx="12192000" cy="6858000"/>
          </a:xfrm>
          <a:prstGeom prst="roundRect">
            <a:avLst>
              <a:gd name="adj" fmla="val 0"/>
            </a:avLst>
          </a:prstGeom>
        </p:spPr>
      </p:pic>
      <p:sp>
        <p:nvSpPr>
          <p:cNvPr id="3" name="Shape 0">
            <a:extLst>
              <a:ext uri="{FF2B5EF4-FFF2-40B4-BE49-F238E27FC236}">
                <a16:creationId xmlns:a16="http://schemas.microsoft.com/office/drawing/2014/main" id="{AADD7A56-D6D9-7783-CE4B-5659B525249D}"/>
              </a:ext>
            </a:extLst>
          </p:cNvPr>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4A6C8C">
                  <a:alpha val="20000"/>
                </a:srgbClr>
              </a:gs>
              <a:gs pos="100000">
                <a:srgbClr val="1A1D21">
                  <a:alpha val="95000"/>
                </a:srgbClr>
              </a:gs>
            </a:gsLst>
            <a:lin ang="2700000" scaled="1"/>
          </a:gradFill>
          <a:ln/>
        </p:spPr>
        <p:txBody>
          <a:bodyPr/>
          <a:lstStyle/>
          <a:p>
            <a:endParaRPr lang="en-US"/>
          </a:p>
        </p:txBody>
      </p:sp>
      <p:sp>
        <p:nvSpPr>
          <p:cNvPr id="4" name="Shape 1">
            <a:extLst>
              <a:ext uri="{FF2B5EF4-FFF2-40B4-BE49-F238E27FC236}">
                <a16:creationId xmlns:a16="http://schemas.microsoft.com/office/drawing/2014/main" id="{A86EC2EE-00B7-B96D-980F-C671A35DC302}"/>
              </a:ext>
            </a:extLst>
          </p:cNvPr>
          <p:cNvSpPr/>
          <p:nvPr/>
        </p:nvSpPr>
        <p:spPr>
          <a:xfrm>
            <a:off x="381000" y="647700"/>
            <a:ext cx="3019425" cy="533400"/>
          </a:xfrm>
          <a:custGeom>
            <a:avLst/>
            <a:gdLst/>
            <a:ahLst/>
            <a:cxnLst/>
            <a:rect l="l" t="t" r="r" b="b"/>
            <a:pathLst>
              <a:path w="3019425" h="533400">
                <a:moveTo>
                  <a:pt x="76202" y="0"/>
                </a:moveTo>
                <a:lnTo>
                  <a:pt x="2943223" y="0"/>
                </a:lnTo>
                <a:cubicBezTo>
                  <a:pt x="2985308" y="0"/>
                  <a:pt x="3019425" y="34117"/>
                  <a:pt x="3019425" y="76202"/>
                </a:cubicBezTo>
                <a:lnTo>
                  <a:pt x="3019425" y="457198"/>
                </a:lnTo>
                <a:cubicBezTo>
                  <a:pt x="3019425" y="499283"/>
                  <a:pt x="2985308" y="533400"/>
                  <a:pt x="2943223" y="533400"/>
                </a:cubicBezTo>
                <a:lnTo>
                  <a:pt x="76202" y="533400"/>
                </a:lnTo>
                <a:cubicBezTo>
                  <a:pt x="34117" y="533400"/>
                  <a:pt x="0" y="499283"/>
                  <a:pt x="0" y="457198"/>
                </a:cubicBezTo>
                <a:lnTo>
                  <a:pt x="0" y="76202"/>
                </a:lnTo>
                <a:cubicBezTo>
                  <a:pt x="0" y="34145"/>
                  <a:pt x="34145" y="0"/>
                  <a:pt x="76202" y="0"/>
                </a:cubicBezTo>
                <a:close/>
              </a:path>
            </a:pathLst>
          </a:custGeom>
          <a:solidFill>
            <a:srgbClr val="4A6C8C"/>
          </a:solidFill>
          <a:ln/>
        </p:spPr>
        <p:txBody>
          <a:bodyPr/>
          <a:lstStyle/>
          <a:p>
            <a:endParaRPr lang="en-US"/>
          </a:p>
        </p:txBody>
      </p:sp>
      <p:sp>
        <p:nvSpPr>
          <p:cNvPr id="5" name="Text 2">
            <a:extLst>
              <a:ext uri="{FF2B5EF4-FFF2-40B4-BE49-F238E27FC236}">
                <a16:creationId xmlns:a16="http://schemas.microsoft.com/office/drawing/2014/main" id="{42B1D1B8-F341-85F6-11D0-7B9054CB5850}"/>
              </a:ext>
            </a:extLst>
          </p:cNvPr>
          <p:cNvSpPr/>
          <p:nvPr/>
        </p:nvSpPr>
        <p:spPr>
          <a:xfrm>
            <a:off x="685800" y="784860"/>
            <a:ext cx="2519958" cy="251460"/>
          </a:xfrm>
          <a:prstGeom prst="rect">
            <a:avLst/>
          </a:prstGeom>
          <a:noFill/>
          <a:ln/>
        </p:spPr>
        <p:txBody>
          <a:bodyPr wrap="square" lIns="0" tIns="0" rIns="0" bIns="0" rtlCol="0" anchor="ctr"/>
          <a:lstStyle/>
          <a:p>
            <a:pPr>
              <a:lnSpc>
                <a:spcPct val="110000"/>
              </a:lnSpc>
            </a:pPr>
            <a:r>
              <a:rPr lang="en-US" sz="1800" b="1" kern="0" spc="180" dirty="0">
                <a:solidFill>
                  <a:srgbClr val="E0E2E5"/>
                </a:solidFill>
                <a:latin typeface="Quattrocento Sans" pitchFamily="34" charset="0"/>
                <a:ea typeface="Quattrocento Sans" pitchFamily="34" charset="-122"/>
                <a:cs typeface="Quattrocento Sans" pitchFamily="34" charset="-120"/>
              </a:rPr>
              <a:t>TECHNICAL REPORT</a:t>
            </a:r>
            <a:endParaRPr lang="en-US" sz="1600" dirty="0"/>
          </a:p>
        </p:txBody>
      </p:sp>
      <p:sp>
        <p:nvSpPr>
          <p:cNvPr id="6" name="Text 3">
            <a:extLst>
              <a:ext uri="{FF2B5EF4-FFF2-40B4-BE49-F238E27FC236}">
                <a16:creationId xmlns:a16="http://schemas.microsoft.com/office/drawing/2014/main" id="{181A1A35-B0B4-4BFA-5AE3-945C5D9ECE1E}"/>
              </a:ext>
            </a:extLst>
          </p:cNvPr>
          <p:cNvSpPr/>
          <p:nvPr/>
        </p:nvSpPr>
        <p:spPr>
          <a:xfrm>
            <a:off x="381000" y="1485781"/>
            <a:ext cx="11887200" cy="1828800"/>
          </a:xfrm>
          <a:prstGeom prst="rect">
            <a:avLst/>
          </a:prstGeom>
          <a:noFill/>
          <a:ln/>
        </p:spPr>
        <p:txBody>
          <a:bodyPr wrap="square" lIns="0" tIns="0" rIns="0" bIns="0" rtlCol="0" anchor="ctr"/>
          <a:lstStyle/>
          <a:p>
            <a:pPr>
              <a:lnSpc>
                <a:spcPct val="80000"/>
              </a:lnSpc>
            </a:pPr>
            <a:r>
              <a:rPr lang="en-US" sz="7200" b="1" dirty="0">
                <a:solidFill>
                  <a:srgbClr val="E0E2E5"/>
                </a:solidFill>
                <a:latin typeface="Liter" pitchFamily="34" charset="0"/>
                <a:ea typeface="Liter" pitchFamily="34" charset="-122"/>
                <a:cs typeface="Liter" pitchFamily="34" charset="-120"/>
              </a:rPr>
              <a:t>Project Team Information</a:t>
            </a:r>
            <a:endParaRPr lang="en-US" sz="1600" dirty="0"/>
          </a:p>
          <a:p>
            <a:pPr>
              <a:lnSpc>
                <a:spcPct val="80000"/>
              </a:lnSpc>
            </a:pPr>
            <a:r>
              <a:rPr lang="en-US" sz="4400" b="1" dirty="0">
                <a:solidFill>
                  <a:srgbClr val="E0E2E5"/>
                </a:solidFill>
                <a:latin typeface="Liter" pitchFamily="34" charset="0"/>
                <a:ea typeface="Liter" pitchFamily="34" charset="-122"/>
                <a:cs typeface="Liter" pitchFamily="34" charset="-120"/>
              </a:rPr>
              <a:t>Team Number: G17</a:t>
            </a:r>
            <a:endParaRPr lang="en-US" sz="1000" dirty="0"/>
          </a:p>
        </p:txBody>
      </p:sp>
      <p:sp>
        <p:nvSpPr>
          <p:cNvPr id="7" name="Shape 4">
            <a:extLst>
              <a:ext uri="{FF2B5EF4-FFF2-40B4-BE49-F238E27FC236}">
                <a16:creationId xmlns:a16="http://schemas.microsoft.com/office/drawing/2014/main" id="{D12CD29B-54BA-A2BA-A590-4C0D554DD923}"/>
              </a:ext>
            </a:extLst>
          </p:cNvPr>
          <p:cNvSpPr/>
          <p:nvPr/>
        </p:nvSpPr>
        <p:spPr>
          <a:xfrm>
            <a:off x="381000" y="3619381"/>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B8A890"/>
          </a:solidFill>
          <a:ln/>
        </p:spPr>
        <p:txBody>
          <a:bodyPr/>
          <a:lstStyle/>
          <a:p>
            <a:endParaRPr lang="en-US"/>
          </a:p>
        </p:txBody>
      </p:sp>
      <p:sp>
        <p:nvSpPr>
          <p:cNvPr id="8" name="Text 5">
            <a:extLst>
              <a:ext uri="{FF2B5EF4-FFF2-40B4-BE49-F238E27FC236}">
                <a16:creationId xmlns:a16="http://schemas.microsoft.com/office/drawing/2014/main" id="{AEE81ACB-074D-32E4-6A91-8E3993D028E2}"/>
              </a:ext>
            </a:extLst>
          </p:cNvPr>
          <p:cNvSpPr/>
          <p:nvPr/>
        </p:nvSpPr>
        <p:spPr>
          <a:xfrm>
            <a:off x="381000" y="3981331"/>
            <a:ext cx="7658101" cy="762000"/>
          </a:xfrm>
          <a:prstGeom prst="rect">
            <a:avLst/>
          </a:prstGeom>
          <a:noFill/>
          <a:ln/>
        </p:spPr>
        <p:txBody>
          <a:bodyPr wrap="square" lIns="0" tIns="0" rIns="0" bIns="0" rtlCol="0" anchor="ctr"/>
          <a:lstStyle/>
          <a:p>
            <a:pPr>
              <a:lnSpc>
                <a:spcPct val="90000"/>
              </a:lnSpc>
            </a:pPr>
            <a:r>
              <a:rPr lang="en-US" sz="2500" b="1" dirty="0">
                <a:solidFill>
                  <a:srgbClr val="E0E2E5">
                    <a:alpha val="90000"/>
                  </a:srgbClr>
                </a:solidFill>
                <a:latin typeface="Quattrocento Sans" pitchFamily="34" charset="0"/>
                <a:ea typeface="Quattrocento Sans" pitchFamily="34" charset="-122"/>
                <a:cs typeface="Quattrocento Sans" pitchFamily="34" charset="-120"/>
              </a:rPr>
              <a:t>Yazid Mohammad Issa Al-Haj -202402593</a:t>
            </a:r>
          </a:p>
          <a:p>
            <a:pPr>
              <a:lnSpc>
                <a:spcPct val="90000"/>
              </a:lnSpc>
            </a:pPr>
            <a:r>
              <a:rPr lang="en-US" sz="2500" b="1" dirty="0">
                <a:solidFill>
                  <a:srgbClr val="E0E2E5">
                    <a:alpha val="90000"/>
                  </a:srgbClr>
                </a:solidFill>
                <a:latin typeface="Quattrocento Sans" pitchFamily="34" charset="0"/>
                <a:ea typeface="Quattrocento Sans" pitchFamily="34" charset="-122"/>
                <a:cs typeface="Quattrocento Sans" pitchFamily="34" charset="-120"/>
              </a:rPr>
              <a:t>Mohammad Omar Kamal AbuKhmaysh - 202300700</a:t>
            </a:r>
          </a:p>
          <a:p>
            <a:pPr>
              <a:lnSpc>
                <a:spcPct val="90000"/>
              </a:lnSpc>
            </a:pPr>
            <a:r>
              <a:rPr lang="en-US" sz="2500" b="1" dirty="0">
                <a:solidFill>
                  <a:srgbClr val="E0E2E5">
                    <a:alpha val="90000"/>
                  </a:srgbClr>
                </a:solidFill>
                <a:latin typeface="Quattrocento Sans" pitchFamily="34" charset="0"/>
                <a:ea typeface="Quattrocento Sans" pitchFamily="34" charset="-122"/>
                <a:cs typeface="Quattrocento Sans" pitchFamily="34" charset="-120"/>
              </a:rPr>
              <a:t>Omar Mousa Salman Abu Anzah - 202402687</a:t>
            </a:r>
          </a:p>
          <a:p>
            <a:pPr>
              <a:lnSpc>
                <a:spcPct val="90000"/>
              </a:lnSpc>
            </a:pPr>
            <a:r>
              <a:rPr lang="en-US" sz="2500" b="1" dirty="0">
                <a:solidFill>
                  <a:srgbClr val="E0E2E5">
                    <a:alpha val="90000"/>
                  </a:srgbClr>
                </a:solidFill>
                <a:latin typeface="Quattrocento Sans" pitchFamily="34" charset="0"/>
                <a:ea typeface="Quattrocento Sans" pitchFamily="34" charset="-122"/>
                <a:cs typeface="Quattrocento Sans" pitchFamily="34" charset="-120"/>
              </a:rPr>
              <a:t>Sa’ad Mustafa Ahmad Khlaifat - 202402595</a:t>
            </a:r>
            <a:endParaRPr lang="ar-JO" sz="2500" b="1" dirty="0">
              <a:solidFill>
                <a:srgbClr val="E0E2E5">
                  <a:alpha val="90000"/>
                </a:srgbClr>
              </a:solidFill>
              <a:latin typeface="Quattrocento Sans" pitchFamily="34" charset="0"/>
              <a:ea typeface="Quattrocento Sans" pitchFamily="34" charset="-122"/>
              <a:cs typeface="Quattrocento Sans" pitchFamily="34" charset="-120"/>
            </a:endParaRPr>
          </a:p>
          <a:p>
            <a:pPr>
              <a:lnSpc>
                <a:spcPct val="90000"/>
              </a:lnSpc>
            </a:pPr>
            <a:r>
              <a:rPr lang="en-US" sz="2500" b="1" dirty="0">
                <a:solidFill>
                  <a:srgbClr val="E0E2E5">
                    <a:alpha val="90000"/>
                  </a:srgbClr>
                </a:solidFill>
                <a:latin typeface="Quattrocento Sans" pitchFamily="34" charset="0"/>
                <a:ea typeface="Quattrocento Sans" pitchFamily="34" charset="-122"/>
                <a:cs typeface="Quattrocento Sans" pitchFamily="34" charset="-120"/>
              </a:rPr>
              <a:t>Section No.1</a:t>
            </a:r>
            <a:br>
              <a:rPr lang="ar-JO" sz="2500" b="1" dirty="0">
                <a:solidFill>
                  <a:srgbClr val="E0E2E5">
                    <a:alpha val="90000"/>
                  </a:srgbClr>
                </a:solidFill>
                <a:latin typeface="Quattrocento Sans" pitchFamily="34" charset="0"/>
                <a:ea typeface="Quattrocento Sans" pitchFamily="34" charset="-122"/>
                <a:cs typeface="Quattrocento Sans" pitchFamily="34" charset="-120"/>
              </a:rPr>
            </a:br>
            <a:endParaRPr lang="en-US" sz="2500" b="1" dirty="0"/>
          </a:p>
        </p:txBody>
      </p:sp>
      <p:sp>
        <p:nvSpPr>
          <p:cNvPr id="9" name="Shape 6">
            <a:extLst>
              <a:ext uri="{FF2B5EF4-FFF2-40B4-BE49-F238E27FC236}">
                <a16:creationId xmlns:a16="http://schemas.microsoft.com/office/drawing/2014/main" id="{6933FD54-EDBC-D94E-CE25-D5227F5E624A}"/>
              </a:ext>
            </a:extLst>
          </p:cNvPr>
          <p:cNvSpPr/>
          <p:nvPr/>
        </p:nvSpPr>
        <p:spPr>
          <a:xfrm>
            <a:off x="400050" y="5415915"/>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4A6C8C">
              <a:alpha val="10196"/>
            </a:srgbClr>
          </a:solidFill>
          <a:ln/>
        </p:spPr>
        <p:txBody>
          <a:bodyPr/>
          <a:lstStyle/>
          <a:p>
            <a:endParaRPr lang="en-US"/>
          </a:p>
        </p:txBody>
      </p:sp>
      <p:sp>
        <p:nvSpPr>
          <p:cNvPr id="10" name="Shape 7">
            <a:extLst>
              <a:ext uri="{FF2B5EF4-FFF2-40B4-BE49-F238E27FC236}">
                <a16:creationId xmlns:a16="http://schemas.microsoft.com/office/drawing/2014/main" id="{FD11627D-7DFF-8A33-DB39-FC7531D80ADC}"/>
              </a:ext>
            </a:extLst>
          </p:cNvPr>
          <p:cNvSpPr/>
          <p:nvPr/>
        </p:nvSpPr>
        <p:spPr>
          <a:xfrm>
            <a:off x="400050"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4A6C8C"/>
          </a:solidFill>
          <a:ln/>
        </p:spPr>
        <p:txBody>
          <a:bodyPr/>
          <a:lstStyle/>
          <a:p>
            <a:endParaRPr lang="en-US"/>
          </a:p>
        </p:txBody>
      </p:sp>
      <p:sp>
        <p:nvSpPr>
          <p:cNvPr id="11" name="Shape 8">
            <a:extLst>
              <a:ext uri="{FF2B5EF4-FFF2-40B4-BE49-F238E27FC236}">
                <a16:creationId xmlns:a16="http://schemas.microsoft.com/office/drawing/2014/main" id="{BC5466F5-4158-3B38-9A6A-5B024EB1A0B0}"/>
              </a:ext>
            </a:extLst>
          </p:cNvPr>
          <p:cNvSpPr/>
          <p:nvPr/>
        </p:nvSpPr>
        <p:spPr>
          <a:xfrm>
            <a:off x="647700" y="5391031"/>
            <a:ext cx="285750" cy="285750"/>
          </a:xfrm>
          <a:custGeom>
            <a:avLst/>
            <a:gdLst/>
            <a:ahLst/>
            <a:cxnLst/>
            <a:rect l="l" t="t" r="r" b="b"/>
            <a:pathLst>
              <a:path w="285750" h="285750">
                <a:moveTo>
                  <a:pt x="98227" y="0"/>
                </a:moveTo>
                <a:cubicBezTo>
                  <a:pt x="83437" y="0"/>
                  <a:pt x="71438" y="11999"/>
                  <a:pt x="71438" y="26789"/>
                </a:cubicBezTo>
                <a:lnTo>
                  <a:pt x="71438" y="142875"/>
                </a:lnTo>
                <a:cubicBezTo>
                  <a:pt x="71438" y="157665"/>
                  <a:pt x="83437" y="169664"/>
                  <a:pt x="98227" y="169664"/>
                </a:cubicBezTo>
                <a:lnTo>
                  <a:pt x="133945" y="169664"/>
                </a:lnTo>
                <a:cubicBezTo>
                  <a:pt x="148735" y="169664"/>
                  <a:pt x="160734" y="157665"/>
                  <a:pt x="160734" y="142875"/>
                </a:cubicBezTo>
                <a:lnTo>
                  <a:pt x="160734" y="107156"/>
                </a:lnTo>
                <a:lnTo>
                  <a:pt x="178594" y="107156"/>
                </a:lnTo>
                <a:cubicBezTo>
                  <a:pt x="218052" y="107156"/>
                  <a:pt x="250031" y="139136"/>
                  <a:pt x="250031" y="178594"/>
                </a:cubicBezTo>
                <a:cubicBezTo>
                  <a:pt x="250031" y="218052"/>
                  <a:pt x="218052" y="250031"/>
                  <a:pt x="178594" y="250031"/>
                </a:cubicBezTo>
                <a:lnTo>
                  <a:pt x="17859" y="250031"/>
                </a:lnTo>
                <a:cubicBezTo>
                  <a:pt x="7981" y="250031"/>
                  <a:pt x="0" y="258012"/>
                  <a:pt x="0" y="267891"/>
                </a:cubicBezTo>
                <a:cubicBezTo>
                  <a:pt x="0" y="277769"/>
                  <a:pt x="7981" y="285750"/>
                  <a:pt x="17859" y="285750"/>
                </a:cubicBezTo>
                <a:lnTo>
                  <a:pt x="267891" y="285750"/>
                </a:lnTo>
                <a:cubicBezTo>
                  <a:pt x="277769" y="285750"/>
                  <a:pt x="285750" y="277769"/>
                  <a:pt x="285750" y="267891"/>
                </a:cubicBezTo>
                <a:cubicBezTo>
                  <a:pt x="285750" y="258012"/>
                  <a:pt x="277769" y="250031"/>
                  <a:pt x="267891" y="250031"/>
                </a:cubicBezTo>
                <a:lnTo>
                  <a:pt x="258459" y="250031"/>
                </a:lnTo>
                <a:cubicBezTo>
                  <a:pt x="275425" y="231056"/>
                  <a:pt x="285750" y="206053"/>
                  <a:pt x="285750" y="178594"/>
                </a:cubicBezTo>
                <a:cubicBezTo>
                  <a:pt x="285750" y="119435"/>
                  <a:pt x="237753" y="71438"/>
                  <a:pt x="178594" y="71438"/>
                </a:cubicBezTo>
                <a:lnTo>
                  <a:pt x="160734" y="71438"/>
                </a:lnTo>
                <a:lnTo>
                  <a:pt x="160734" y="26789"/>
                </a:lnTo>
                <a:cubicBezTo>
                  <a:pt x="160734" y="11999"/>
                  <a:pt x="148735" y="0"/>
                  <a:pt x="133945" y="0"/>
                </a:cubicBezTo>
                <a:lnTo>
                  <a:pt x="98227" y="0"/>
                </a:lnTo>
                <a:close/>
                <a:moveTo>
                  <a:pt x="66973" y="196453"/>
                </a:moveTo>
                <a:cubicBezTo>
                  <a:pt x="59550" y="196453"/>
                  <a:pt x="53578" y="202425"/>
                  <a:pt x="53578" y="209848"/>
                </a:cubicBezTo>
                <a:cubicBezTo>
                  <a:pt x="53578" y="217270"/>
                  <a:pt x="59550" y="223242"/>
                  <a:pt x="66973" y="223242"/>
                </a:cubicBezTo>
                <a:lnTo>
                  <a:pt x="165199" y="223242"/>
                </a:lnTo>
                <a:cubicBezTo>
                  <a:pt x="172622" y="223242"/>
                  <a:pt x="178594" y="217270"/>
                  <a:pt x="178594" y="209848"/>
                </a:cubicBezTo>
                <a:cubicBezTo>
                  <a:pt x="178594" y="202425"/>
                  <a:pt x="172622" y="196453"/>
                  <a:pt x="165199" y="196453"/>
                </a:cubicBezTo>
                <a:lnTo>
                  <a:pt x="66973" y="196453"/>
                </a:lnTo>
                <a:close/>
              </a:path>
            </a:pathLst>
          </a:custGeom>
          <a:solidFill>
            <a:srgbClr val="4A6C8C"/>
          </a:solidFill>
          <a:ln/>
        </p:spPr>
        <p:txBody>
          <a:bodyPr/>
          <a:lstStyle/>
          <a:p>
            <a:endParaRPr lang="en-US"/>
          </a:p>
        </p:txBody>
      </p:sp>
      <p:sp>
        <p:nvSpPr>
          <p:cNvPr id="12" name="Text 9">
            <a:extLst>
              <a:ext uri="{FF2B5EF4-FFF2-40B4-BE49-F238E27FC236}">
                <a16:creationId xmlns:a16="http://schemas.microsoft.com/office/drawing/2014/main" id="{E5D0A232-5E42-4849-37B6-992FB3A53EBD}"/>
              </a:ext>
            </a:extLst>
          </p:cNvPr>
          <p:cNvSpPr/>
          <p:nvPr/>
        </p:nvSpPr>
        <p:spPr>
          <a:xfrm>
            <a:off x="609600"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Advanced Filtering</a:t>
            </a:r>
            <a:endParaRPr lang="en-US" sz="1600" dirty="0"/>
          </a:p>
        </p:txBody>
      </p:sp>
      <p:sp>
        <p:nvSpPr>
          <p:cNvPr id="13" name="Shape 10">
            <a:extLst>
              <a:ext uri="{FF2B5EF4-FFF2-40B4-BE49-F238E27FC236}">
                <a16:creationId xmlns:a16="http://schemas.microsoft.com/office/drawing/2014/main" id="{F49033D0-7B85-F0BF-C962-3FBA0EBEE145}"/>
              </a:ext>
            </a:extLst>
          </p:cNvPr>
          <p:cNvSpPr/>
          <p:nvPr/>
        </p:nvSpPr>
        <p:spPr>
          <a:xfrm>
            <a:off x="3268265" y="5391031"/>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5A7D7C">
              <a:alpha val="10196"/>
            </a:srgbClr>
          </a:solidFill>
          <a:ln/>
        </p:spPr>
        <p:txBody>
          <a:bodyPr/>
          <a:lstStyle/>
          <a:p>
            <a:endParaRPr lang="en-US"/>
          </a:p>
        </p:txBody>
      </p:sp>
      <p:sp>
        <p:nvSpPr>
          <p:cNvPr id="14" name="Shape 11">
            <a:extLst>
              <a:ext uri="{FF2B5EF4-FFF2-40B4-BE49-F238E27FC236}">
                <a16:creationId xmlns:a16="http://schemas.microsoft.com/office/drawing/2014/main" id="{2F49F0BE-3536-10CC-6F04-C1602202FF1C}"/>
              </a:ext>
            </a:extLst>
          </p:cNvPr>
          <p:cNvSpPr/>
          <p:nvPr/>
        </p:nvSpPr>
        <p:spPr>
          <a:xfrm>
            <a:off x="3321010"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5A7D7C"/>
          </a:solidFill>
          <a:ln/>
        </p:spPr>
        <p:txBody>
          <a:bodyPr/>
          <a:lstStyle/>
          <a:p>
            <a:endParaRPr lang="en-US"/>
          </a:p>
        </p:txBody>
      </p:sp>
      <p:sp>
        <p:nvSpPr>
          <p:cNvPr id="15" name="Shape 12">
            <a:extLst>
              <a:ext uri="{FF2B5EF4-FFF2-40B4-BE49-F238E27FC236}">
                <a16:creationId xmlns:a16="http://schemas.microsoft.com/office/drawing/2014/main" id="{6A0478E9-15E4-EB30-FC16-2CCB14E1A0CC}"/>
              </a:ext>
            </a:extLst>
          </p:cNvPr>
          <p:cNvSpPr/>
          <p:nvPr/>
        </p:nvSpPr>
        <p:spPr>
          <a:xfrm>
            <a:off x="3568660" y="5391031"/>
            <a:ext cx="285750" cy="285750"/>
          </a:xfrm>
          <a:custGeom>
            <a:avLst/>
            <a:gdLst/>
            <a:ahLst/>
            <a:cxnLst/>
            <a:rect l="l" t="t" r="r" b="b"/>
            <a:pathLst>
              <a:path w="285750" h="285750">
                <a:moveTo>
                  <a:pt x="17859" y="17859"/>
                </a:moveTo>
                <a:cubicBezTo>
                  <a:pt x="27738" y="17859"/>
                  <a:pt x="35719" y="25840"/>
                  <a:pt x="35719" y="35719"/>
                </a:cubicBezTo>
                <a:lnTo>
                  <a:pt x="35719" y="223242"/>
                </a:lnTo>
                <a:cubicBezTo>
                  <a:pt x="35719" y="228154"/>
                  <a:pt x="39737" y="232172"/>
                  <a:pt x="44648" y="232172"/>
                </a:cubicBezTo>
                <a:lnTo>
                  <a:pt x="267891" y="232172"/>
                </a:lnTo>
                <a:cubicBezTo>
                  <a:pt x="277769" y="232172"/>
                  <a:pt x="285750" y="240153"/>
                  <a:pt x="285750" y="250031"/>
                </a:cubicBezTo>
                <a:cubicBezTo>
                  <a:pt x="285750" y="259910"/>
                  <a:pt x="277769" y="267891"/>
                  <a:pt x="267891" y="267891"/>
                </a:cubicBezTo>
                <a:lnTo>
                  <a:pt x="44648" y="267891"/>
                </a:lnTo>
                <a:cubicBezTo>
                  <a:pt x="19980" y="267891"/>
                  <a:pt x="0" y="247910"/>
                  <a:pt x="0" y="223242"/>
                </a:cubicBezTo>
                <a:lnTo>
                  <a:pt x="0" y="35719"/>
                </a:lnTo>
                <a:cubicBezTo>
                  <a:pt x="0" y="25840"/>
                  <a:pt x="7981" y="17859"/>
                  <a:pt x="17859" y="17859"/>
                </a:cubicBezTo>
                <a:close/>
                <a:moveTo>
                  <a:pt x="71438" y="53578"/>
                </a:moveTo>
                <a:cubicBezTo>
                  <a:pt x="71438" y="43700"/>
                  <a:pt x="79418" y="35719"/>
                  <a:pt x="89297" y="35719"/>
                </a:cubicBezTo>
                <a:lnTo>
                  <a:pt x="196453" y="35719"/>
                </a:lnTo>
                <a:cubicBezTo>
                  <a:pt x="206332" y="35719"/>
                  <a:pt x="214313" y="43700"/>
                  <a:pt x="214313" y="53578"/>
                </a:cubicBezTo>
                <a:cubicBezTo>
                  <a:pt x="214313" y="63457"/>
                  <a:pt x="206332" y="71438"/>
                  <a:pt x="196453" y="71438"/>
                </a:cubicBezTo>
                <a:lnTo>
                  <a:pt x="89297" y="71438"/>
                </a:lnTo>
                <a:cubicBezTo>
                  <a:pt x="79418" y="71438"/>
                  <a:pt x="71438" y="63457"/>
                  <a:pt x="71438" y="53578"/>
                </a:cubicBezTo>
                <a:close/>
                <a:moveTo>
                  <a:pt x="89297" y="98227"/>
                </a:moveTo>
                <a:lnTo>
                  <a:pt x="160734" y="98227"/>
                </a:lnTo>
                <a:cubicBezTo>
                  <a:pt x="170613" y="98227"/>
                  <a:pt x="178594" y="106207"/>
                  <a:pt x="178594" y="116086"/>
                </a:cubicBezTo>
                <a:cubicBezTo>
                  <a:pt x="178594" y="125964"/>
                  <a:pt x="170613" y="133945"/>
                  <a:pt x="160734" y="133945"/>
                </a:cubicBezTo>
                <a:lnTo>
                  <a:pt x="89297" y="133945"/>
                </a:lnTo>
                <a:cubicBezTo>
                  <a:pt x="79418" y="133945"/>
                  <a:pt x="71438" y="125964"/>
                  <a:pt x="71438" y="116086"/>
                </a:cubicBezTo>
                <a:cubicBezTo>
                  <a:pt x="71438" y="106207"/>
                  <a:pt x="79418" y="98227"/>
                  <a:pt x="89297" y="98227"/>
                </a:cubicBezTo>
                <a:close/>
                <a:moveTo>
                  <a:pt x="89297" y="160734"/>
                </a:moveTo>
                <a:lnTo>
                  <a:pt x="232172" y="160734"/>
                </a:lnTo>
                <a:cubicBezTo>
                  <a:pt x="242050" y="160734"/>
                  <a:pt x="250031" y="168715"/>
                  <a:pt x="250031" y="178594"/>
                </a:cubicBezTo>
                <a:cubicBezTo>
                  <a:pt x="250031" y="188472"/>
                  <a:pt x="242050" y="196453"/>
                  <a:pt x="232172" y="196453"/>
                </a:cubicBezTo>
                <a:lnTo>
                  <a:pt x="89297" y="196453"/>
                </a:lnTo>
                <a:cubicBezTo>
                  <a:pt x="79418" y="196453"/>
                  <a:pt x="71438" y="188472"/>
                  <a:pt x="71438" y="178594"/>
                </a:cubicBezTo>
                <a:cubicBezTo>
                  <a:pt x="71438" y="168715"/>
                  <a:pt x="79418" y="160734"/>
                  <a:pt x="89297" y="160734"/>
                </a:cubicBezTo>
                <a:close/>
              </a:path>
            </a:pathLst>
          </a:custGeom>
          <a:solidFill>
            <a:srgbClr val="5A7D7C"/>
          </a:solidFill>
          <a:ln/>
        </p:spPr>
        <p:txBody>
          <a:bodyPr/>
          <a:lstStyle/>
          <a:p>
            <a:endParaRPr lang="en-US"/>
          </a:p>
        </p:txBody>
      </p:sp>
      <p:sp>
        <p:nvSpPr>
          <p:cNvPr id="16" name="Text 13">
            <a:extLst>
              <a:ext uri="{FF2B5EF4-FFF2-40B4-BE49-F238E27FC236}">
                <a16:creationId xmlns:a16="http://schemas.microsoft.com/office/drawing/2014/main" id="{E2D3731D-9CDC-D211-24C9-A86D84FE7B3D}"/>
              </a:ext>
            </a:extLst>
          </p:cNvPr>
          <p:cNvSpPr/>
          <p:nvPr/>
        </p:nvSpPr>
        <p:spPr>
          <a:xfrm>
            <a:off x="3530560"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Data Analysis</a:t>
            </a:r>
            <a:endParaRPr lang="en-US" sz="1600" dirty="0"/>
          </a:p>
        </p:txBody>
      </p:sp>
      <p:sp>
        <p:nvSpPr>
          <p:cNvPr id="17" name="Shape 14">
            <a:extLst>
              <a:ext uri="{FF2B5EF4-FFF2-40B4-BE49-F238E27FC236}">
                <a16:creationId xmlns:a16="http://schemas.microsoft.com/office/drawing/2014/main" id="{6B7187FB-1613-AAF1-5895-B759355C5BD4}"/>
              </a:ext>
            </a:extLst>
          </p:cNvPr>
          <p:cNvSpPr/>
          <p:nvPr/>
        </p:nvSpPr>
        <p:spPr>
          <a:xfrm>
            <a:off x="6241971" y="5415915"/>
            <a:ext cx="2676525" cy="1009650"/>
          </a:xfrm>
          <a:custGeom>
            <a:avLst/>
            <a:gdLst/>
            <a:ahLst/>
            <a:cxnLst/>
            <a:rect l="l" t="t" r="r" b="b"/>
            <a:pathLst>
              <a:path w="2676525" h="1009650">
                <a:moveTo>
                  <a:pt x="38100" y="0"/>
                </a:moveTo>
                <a:lnTo>
                  <a:pt x="2600327" y="0"/>
                </a:lnTo>
                <a:cubicBezTo>
                  <a:pt x="2642410" y="0"/>
                  <a:pt x="2676525" y="34115"/>
                  <a:pt x="2676525" y="76198"/>
                </a:cubicBezTo>
                <a:lnTo>
                  <a:pt x="2676525" y="933452"/>
                </a:lnTo>
                <a:cubicBezTo>
                  <a:pt x="2676525" y="975535"/>
                  <a:pt x="2642410" y="1009650"/>
                  <a:pt x="2600327" y="1009650"/>
                </a:cubicBezTo>
                <a:lnTo>
                  <a:pt x="38100" y="1009650"/>
                </a:lnTo>
                <a:cubicBezTo>
                  <a:pt x="17058" y="1009650"/>
                  <a:pt x="0" y="992592"/>
                  <a:pt x="0" y="971550"/>
                </a:cubicBezTo>
                <a:lnTo>
                  <a:pt x="0" y="38100"/>
                </a:lnTo>
                <a:cubicBezTo>
                  <a:pt x="0" y="17072"/>
                  <a:pt x="17072" y="0"/>
                  <a:pt x="38100" y="0"/>
                </a:cubicBezTo>
                <a:close/>
              </a:path>
            </a:pathLst>
          </a:custGeom>
          <a:solidFill>
            <a:srgbClr val="B8A890">
              <a:alpha val="10196"/>
            </a:srgbClr>
          </a:solidFill>
          <a:ln/>
        </p:spPr>
        <p:txBody>
          <a:bodyPr/>
          <a:lstStyle/>
          <a:p>
            <a:endParaRPr lang="en-US"/>
          </a:p>
        </p:txBody>
      </p:sp>
      <p:sp>
        <p:nvSpPr>
          <p:cNvPr id="18" name="Shape 15">
            <a:extLst>
              <a:ext uri="{FF2B5EF4-FFF2-40B4-BE49-F238E27FC236}">
                <a16:creationId xmlns:a16="http://schemas.microsoft.com/office/drawing/2014/main" id="{71E0C170-AF2C-8BAF-276B-A53B16987C90}"/>
              </a:ext>
            </a:extLst>
          </p:cNvPr>
          <p:cNvSpPr/>
          <p:nvPr/>
        </p:nvSpPr>
        <p:spPr>
          <a:xfrm>
            <a:off x="6241971" y="5200531"/>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B8A890"/>
          </a:solidFill>
          <a:ln/>
        </p:spPr>
        <p:txBody>
          <a:bodyPr/>
          <a:lstStyle/>
          <a:p>
            <a:endParaRPr lang="en-US"/>
          </a:p>
        </p:txBody>
      </p:sp>
      <p:sp>
        <p:nvSpPr>
          <p:cNvPr id="19" name="Shape 16">
            <a:extLst>
              <a:ext uri="{FF2B5EF4-FFF2-40B4-BE49-F238E27FC236}">
                <a16:creationId xmlns:a16="http://schemas.microsoft.com/office/drawing/2014/main" id="{25ACEF3A-9294-E235-5A9C-57066D6C4247}"/>
              </a:ext>
            </a:extLst>
          </p:cNvPr>
          <p:cNvSpPr/>
          <p:nvPr/>
        </p:nvSpPr>
        <p:spPr>
          <a:xfrm>
            <a:off x="6471761" y="5391031"/>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B8A890"/>
          </a:solidFill>
          <a:ln/>
        </p:spPr>
        <p:txBody>
          <a:bodyPr/>
          <a:lstStyle/>
          <a:p>
            <a:endParaRPr lang="en-US"/>
          </a:p>
        </p:txBody>
      </p:sp>
      <p:sp>
        <p:nvSpPr>
          <p:cNvPr id="20" name="Text 17">
            <a:extLst>
              <a:ext uri="{FF2B5EF4-FFF2-40B4-BE49-F238E27FC236}">
                <a16:creationId xmlns:a16="http://schemas.microsoft.com/office/drawing/2014/main" id="{823451F7-3B27-1D7E-87CB-BAF0DE4FCAB1}"/>
              </a:ext>
            </a:extLst>
          </p:cNvPr>
          <p:cNvSpPr/>
          <p:nvPr/>
        </p:nvSpPr>
        <p:spPr>
          <a:xfrm>
            <a:off x="6451521" y="5752981"/>
            <a:ext cx="2362200" cy="266700"/>
          </a:xfrm>
          <a:prstGeom prst="rect">
            <a:avLst/>
          </a:prstGeom>
          <a:noFill/>
          <a:ln/>
        </p:spPr>
        <p:txBody>
          <a:bodyPr wrap="square" lIns="0" tIns="0" rIns="0" bIns="0" rtlCol="0" anchor="ctr"/>
          <a:lstStyle/>
          <a:p>
            <a:pPr>
              <a:lnSpc>
                <a:spcPct val="130000"/>
              </a:lnSpc>
            </a:pPr>
            <a:r>
              <a:rPr lang="en-US" sz="1350" dirty="0">
                <a:solidFill>
                  <a:srgbClr val="E0E2E5">
                    <a:alpha val="90000"/>
                  </a:srgbClr>
                </a:solidFill>
                <a:latin typeface="Quattrocento Sans" pitchFamily="34" charset="0"/>
                <a:ea typeface="Quattrocento Sans" pitchFamily="34" charset="-122"/>
                <a:cs typeface="Quattrocento Sans" pitchFamily="34" charset="-120"/>
              </a:rPr>
              <a:t>MATLAB</a:t>
            </a:r>
            <a:endParaRPr lang="en-US" sz="1600" dirty="0"/>
          </a:p>
        </p:txBody>
      </p:sp>
    </p:spTree>
    <p:extLst>
      <p:ext uri="{BB962C8B-B14F-4D97-AF65-F5344CB8AC3E}">
        <p14:creationId xmlns:p14="http://schemas.microsoft.com/office/powerpoint/2010/main" val="32960889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15725" cy="266700"/>
          </a:xfrm>
          <a:prstGeom prst="rect">
            <a:avLst/>
          </a:prstGeom>
          <a:noFill/>
          <a:ln/>
        </p:spPr>
        <p:txBody>
          <a:bodyPr wrap="square" lIns="0" tIns="0" rIns="0" bIns="0" rtlCol="0" anchor="ctr"/>
          <a:lstStyle/>
          <a:p>
            <a:pPr>
              <a:lnSpc>
                <a:spcPct val="130000"/>
              </a:lnSpc>
            </a:pPr>
            <a:r>
              <a:rPr lang="en-US" sz="1350" b="1" kern="0" spc="135" dirty="0">
                <a:solidFill>
                  <a:srgbClr val="B8A890"/>
                </a:solidFill>
                <a:latin typeface="Quattrocento Sans" pitchFamily="34" charset="0"/>
                <a:ea typeface="Quattrocento Sans" pitchFamily="34" charset="-122"/>
                <a:cs typeface="Quattrocento Sans" pitchFamily="34" charset="-120"/>
              </a:rPr>
              <a:t>PROJECT OVERVIEW</a:t>
            </a:r>
            <a:endParaRPr lang="en-US" sz="1600" dirty="0"/>
          </a:p>
        </p:txBody>
      </p:sp>
      <p:sp>
        <p:nvSpPr>
          <p:cNvPr id="3" name="Text 1"/>
          <p:cNvSpPr/>
          <p:nvPr/>
        </p:nvSpPr>
        <p:spPr>
          <a:xfrm>
            <a:off x="381000" y="770965"/>
            <a:ext cx="11658600"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Liter" pitchFamily="34" charset="0"/>
                <a:ea typeface="Liter" pitchFamily="34" charset="-122"/>
                <a:cs typeface="Liter" pitchFamily="34" charset="-120"/>
              </a:rPr>
              <a:t>Research Structure</a:t>
            </a:r>
            <a:endParaRPr lang="en-US" sz="1600" dirty="0"/>
          </a:p>
        </p:txBody>
      </p:sp>
      <p:sp>
        <p:nvSpPr>
          <p:cNvPr id="4" name="Shape 2"/>
          <p:cNvSpPr/>
          <p:nvPr/>
        </p:nvSpPr>
        <p:spPr>
          <a:xfrm>
            <a:off x="400050" y="1447800"/>
            <a:ext cx="5581650" cy="4057650"/>
          </a:xfrm>
          <a:custGeom>
            <a:avLst/>
            <a:gdLst/>
            <a:ahLst/>
            <a:cxnLst/>
            <a:rect l="l" t="t" r="r" b="b"/>
            <a:pathLst>
              <a:path w="5581650" h="4057650">
                <a:moveTo>
                  <a:pt x="38100" y="0"/>
                </a:moveTo>
                <a:lnTo>
                  <a:pt x="5467346" y="0"/>
                </a:lnTo>
                <a:cubicBezTo>
                  <a:pt x="5530474" y="0"/>
                  <a:pt x="5581650" y="51176"/>
                  <a:pt x="5581650" y="114304"/>
                </a:cubicBezTo>
                <a:lnTo>
                  <a:pt x="5581650" y="3943346"/>
                </a:lnTo>
                <a:cubicBezTo>
                  <a:pt x="5581650" y="4006474"/>
                  <a:pt x="5530474" y="4057650"/>
                  <a:pt x="5467346" y="4057650"/>
                </a:cubicBezTo>
                <a:lnTo>
                  <a:pt x="38100" y="4057650"/>
                </a:lnTo>
                <a:cubicBezTo>
                  <a:pt x="17072" y="4057650"/>
                  <a:pt x="0" y="4040578"/>
                  <a:pt x="0" y="4019550"/>
                </a:cubicBezTo>
                <a:lnTo>
                  <a:pt x="0" y="38100"/>
                </a:lnTo>
                <a:cubicBezTo>
                  <a:pt x="0" y="17072"/>
                  <a:pt x="17072" y="0"/>
                  <a:pt x="38100" y="0"/>
                </a:cubicBezTo>
                <a:close/>
              </a:path>
            </a:pathLst>
          </a:custGeom>
          <a:gradFill flip="none" rotWithShape="1">
            <a:gsLst>
              <a:gs pos="0">
                <a:srgbClr val="4A6C8C">
                  <a:alpha val="20000"/>
                </a:srgbClr>
              </a:gs>
              <a:gs pos="100000">
                <a:srgbClr val="4A6C8C">
                  <a:alpha val="5000"/>
                </a:srgbClr>
              </a:gs>
            </a:gsLst>
            <a:lin ang="2700000" scaled="1"/>
          </a:gradFill>
          <a:ln/>
        </p:spPr>
        <p:txBody>
          <a:bodyPr/>
          <a:lstStyle/>
          <a:p>
            <a:endParaRPr lang="en-US"/>
          </a:p>
        </p:txBody>
      </p:sp>
      <p:sp>
        <p:nvSpPr>
          <p:cNvPr id="5" name="Shape 3"/>
          <p:cNvSpPr/>
          <p:nvPr/>
        </p:nvSpPr>
        <p:spPr>
          <a:xfrm>
            <a:off x="400050" y="1447800"/>
            <a:ext cx="38100" cy="4057650"/>
          </a:xfrm>
          <a:custGeom>
            <a:avLst/>
            <a:gdLst/>
            <a:ahLst/>
            <a:cxnLst/>
            <a:rect l="l" t="t" r="r" b="b"/>
            <a:pathLst>
              <a:path w="38100" h="4057650">
                <a:moveTo>
                  <a:pt x="38100" y="0"/>
                </a:moveTo>
                <a:lnTo>
                  <a:pt x="38100" y="0"/>
                </a:lnTo>
                <a:lnTo>
                  <a:pt x="38100" y="4057650"/>
                </a:lnTo>
                <a:lnTo>
                  <a:pt x="38100" y="4057650"/>
                </a:lnTo>
                <a:cubicBezTo>
                  <a:pt x="17072" y="4057650"/>
                  <a:pt x="0" y="4040578"/>
                  <a:pt x="0" y="4019550"/>
                </a:cubicBezTo>
                <a:lnTo>
                  <a:pt x="0" y="38100"/>
                </a:lnTo>
                <a:cubicBezTo>
                  <a:pt x="0" y="17072"/>
                  <a:pt x="17072" y="0"/>
                  <a:pt x="38100" y="0"/>
                </a:cubicBezTo>
                <a:close/>
              </a:path>
            </a:pathLst>
          </a:custGeom>
          <a:solidFill>
            <a:srgbClr val="4A6C8C"/>
          </a:solidFill>
          <a:ln/>
        </p:spPr>
        <p:txBody>
          <a:bodyPr/>
          <a:lstStyle/>
          <a:p>
            <a:endParaRPr lang="en-US"/>
          </a:p>
        </p:txBody>
      </p:sp>
      <p:sp>
        <p:nvSpPr>
          <p:cNvPr id="6" name="Shape 4"/>
          <p:cNvSpPr/>
          <p:nvPr/>
        </p:nvSpPr>
        <p:spPr>
          <a:xfrm>
            <a:off x="723900" y="2165271"/>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4A6C8C"/>
          </a:solidFill>
          <a:ln/>
        </p:spPr>
        <p:txBody>
          <a:bodyPr/>
          <a:lstStyle/>
          <a:p>
            <a:endParaRPr lang="en-US"/>
          </a:p>
        </p:txBody>
      </p:sp>
      <p:sp>
        <p:nvSpPr>
          <p:cNvPr id="7" name="Text 5"/>
          <p:cNvSpPr/>
          <p:nvPr/>
        </p:nvSpPr>
        <p:spPr>
          <a:xfrm>
            <a:off x="638175" y="2165271"/>
            <a:ext cx="933450" cy="762000"/>
          </a:xfrm>
          <a:prstGeom prst="rect">
            <a:avLst/>
          </a:prstGeom>
          <a:noFill/>
          <a:ln/>
        </p:spPr>
        <p:txBody>
          <a:bodyPr wrap="square" lIns="0" tIns="0" rIns="0" bIns="0" rtlCol="0" anchor="ctr"/>
          <a:lstStyle/>
          <a:p>
            <a:pPr algn="ctr">
              <a:lnSpc>
                <a:spcPct val="90000"/>
              </a:lnSpc>
            </a:pPr>
            <a:r>
              <a:rPr lang="en-US" sz="2700" b="1" dirty="0">
                <a:solidFill>
                  <a:srgbClr val="FFFFFF"/>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1638300" y="2165271"/>
            <a:ext cx="4181475"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Liter" pitchFamily="34" charset="0"/>
                <a:ea typeface="Liter" pitchFamily="34" charset="-122"/>
                <a:cs typeface="Liter" pitchFamily="34" charset="-120"/>
              </a:rPr>
              <a:t>Noise Reduction Techniques</a:t>
            </a:r>
            <a:endParaRPr lang="en-US" sz="1600" dirty="0"/>
          </a:p>
        </p:txBody>
      </p:sp>
      <p:sp>
        <p:nvSpPr>
          <p:cNvPr id="9" name="Text 7"/>
          <p:cNvSpPr/>
          <p:nvPr/>
        </p:nvSpPr>
        <p:spPr>
          <a:xfrm>
            <a:off x="1638300" y="2622471"/>
            <a:ext cx="4124325" cy="838200"/>
          </a:xfrm>
          <a:prstGeom prst="rect">
            <a:avLst/>
          </a:prstGeom>
          <a:noFill/>
          <a:ln/>
        </p:spPr>
        <p:txBody>
          <a:bodyPr wrap="square" lIns="0" tIns="0" rIns="0" bIns="0" rtlCol="0" anchor="ctr"/>
          <a:lstStyle/>
          <a:p>
            <a:pPr>
              <a:lnSpc>
                <a:spcPct val="140000"/>
              </a:lnSpc>
            </a:pPr>
            <a:r>
              <a:rPr lang="en-US" sz="1350" dirty="0">
                <a:solidFill>
                  <a:srgbClr val="E0E2E5">
                    <a:alpha val="80000"/>
                  </a:srgbClr>
                </a:solidFill>
                <a:latin typeface="Quattrocento Sans" pitchFamily="34" charset="0"/>
                <a:ea typeface="Quattrocento Sans" pitchFamily="34" charset="-122"/>
                <a:cs typeface="Quattrocento Sans" pitchFamily="34" charset="-120"/>
              </a:rPr>
              <a:t>Comparative analysis of spatial domain filters for medical image denoising, focusing on Salt &amp; Pepper and Gaussian noise removal.</a:t>
            </a:r>
            <a:endParaRPr lang="en-US" sz="1600" dirty="0"/>
          </a:p>
        </p:txBody>
      </p:sp>
      <p:sp>
        <p:nvSpPr>
          <p:cNvPr id="10" name="Shape 8"/>
          <p:cNvSpPr/>
          <p:nvPr/>
        </p:nvSpPr>
        <p:spPr>
          <a:xfrm>
            <a:off x="723900" y="3763090"/>
            <a:ext cx="2400300" cy="1028700"/>
          </a:xfrm>
          <a:custGeom>
            <a:avLst/>
            <a:gdLst/>
            <a:ahLst/>
            <a:cxnLst/>
            <a:rect l="l" t="t" r="r" b="b"/>
            <a:pathLst>
              <a:path w="2400300" h="1028700">
                <a:moveTo>
                  <a:pt x="76196" y="0"/>
                </a:moveTo>
                <a:lnTo>
                  <a:pt x="2324104" y="0"/>
                </a:lnTo>
                <a:cubicBezTo>
                  <a:pt x="2366186" y="0"/>
                  <a:pt x="2400300" y="34114"/>
                  <a:pt x="2400300" y="76196"/>
                </a:cubicBezTo>
                <a:lnTo>
                  <a:pt x="2400300" y="952504"/>
                </a:lnTo>
                <a:cubicBezTo>
                  <a:pt x="2400300" y="994586"/>
                  <a:pt x="2366186" y="1028700"/>
                  <a:pt x="2324104"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en-US"/>
          </a:p>
        </p:txBody>
      </p:sp>
      <p:sp>
        <p:nvSpPr>
          <p:cNvPr id="11" name="Shape 9"/>
          <p:cNvSpPr/>
          <p:nvPr/>
        </p:nvSpPr>
        <p:spPr>
          <a:xfrm>
            <a:off x="890588" y="3915490"/>
            <a:ext cx="257175" cy="228600"/>
          </a:xfrm>
          <a:custGeom>
            <a:avLst/>
            <a:gdLst/>
            <a:ahLst/>
            <a:cxnLst/>
            <a:rect l="l" t="t" r="r" b="b"/>
            <a:pathLst>
              <a:path w="257175" h="228600">
                <a:moveTo>
                  <a:pt x="243334" y="29021"/>
                </a:moveTo>
                <a:cubicBezTo>
                  <a:pt x="247531" y="24825"/>
                  <a:pt x="247531" y="18038"/>
                  <a:pt x="243334" y="13886"/>
                </a:cubicBezTo>
                <a:cubicBezTo>
                  <a:pt x="239137" y="9733"/>
                  <a:pt x="232350" y="9689"/>
                  <a:pt x="228198" y="13886"/>
                </a:cubicBezTo>
                <a:lnTo>
                  <a:pt x="213821" y="28218"/>
                </a:lnTo>
                <a:cubicBezTo>
                  <a:pt x="201945" y="19467"/>
                  <a:pt x="187300" y="14288"/>
                  <a:pt x="171450" y="14288"/>
                </a:cubicBezTo>
                <a:cubicBezTo>
                  <a:pt x="155778" y="14288"/>
                  <a:pt x="141312" y="19333"/>
                  <a:pt x="129525" y="27861"/>
                </a:cubicBezTo>
                <a:cubicBezTo>
                  <a:pt x="122381" y="33084"/>
                  <a:pt x="126891" y="42863"/>
                  <a:pt x="135731" y="42863"/>
                </a:cubicBezTo>
                <a:lnTo>
                  <a:pt x="146447" y="42863"/>
                </a:lnTo>
                <a:cubicBezTo>
                  <a:pt x="152385" y="42863"/>
                  <a:pt x="157163" y="47640"/>
                  <a:pt x="157163" y="53578"/>
                </a:cubicBezTo>
                <a:lnTo>
                  <a:pt x="157163" y="89297"/>
                </a:lnTo>
                <a:cubicBezTo>
                  <a:pt x="157163" y="95235"/>
                  <a:pt x="161940" y="100013"/>
                  <a:pt x="167878" y="100013"/>
                </a:cubicBezTo>
                <a:lnTo>
                  <a:pt x="203597" y="100013"/>
                </a:lnTo>
                <a:cubicBezTo>
                  <a:pt x="209535" y="100013"/>
                  <a:pt x="214313" y="104790"/>
                  <a:pt x="214313" y="110728"/>
                </a:cubicBezTo>
                <a:lnTo>
                  <a:pt x="214313" y="121444"/>
                </a:lnTo>
                <a:cubicBezTo>
                  <a:pt x="214313" y="130284"/>
                  <a:pt x="224091" y="134794"/>
                  <a:pt x="229314" y="127650"/>
                </a:cubicBezTo>
                <a:cubicBezTo>
                  <a:pt x="237842" y="115863"/>
                  <a:pt x="242888" y="101397"/>
                  <a:pt x="242888" y="85725"/>
                </a:cubicBezTo>
                <a:cubicBezTo>
                  <a:pt x="242888" y="69875"/>
                  <a:pt x="237708" y="55230"/>
                  <a:pt x="228957" y="43354"/>
                </a:cubicBezTo>
                <a:lnTo>
                  <a:pt x="243334" y="29021"/>
                </a:lnTo>
                <a:close/>
                <a:moveTo>
                  <a:pt x="120551" y="60499"/>
                </a:moveTo>
                <a:lnTo>
                  <a:pt x="49292" y="162297"/>
                </a:lnTo>
                <a:cubicBezTo>
                  <a:pt x="45229" y="168057"/>
                  <a:pt x="38710" y="171450"/>
                  <a:pt x="31700" y="171450"/>
                </a:cubicBezTo>
                <a:lnTo>
                  <a:pt x="28575" y="171450"/>
                </a:lnTo>
                <a:cubicBezTo>
                  <a:pt x="16743" y="171450"/>
                  <a:pt x="7144" y="181049"/>
                  <a:pt x="7144" y="192881"/>
                </a:cubicBezTo>
                <a:cubicBezTo>
                  <a:pt x="7144" y="204713"/>
                  <a:pt x="16743" y="214313"/>
                  <a:pt x="28575" y="214313"/>
                </a:cubicBezTo>
                <a:lnTo>
                  <a:pt x="40675" y="214313"/>
                </a:lnTo>
                <a:cubicBezTo>
                  <a:pt x="70009" y="214313"/>
                  <a:pt x="98584" y="205294"/>
                  <a:pt x="122605" y="188506"/>
                </a:cubicBezTo>
                <a:lnTo>
                  <a:pt x="196676" y="136669"/>
                </a:lnTo>
                <a:cubicBezTo>
                  <a:pt x="194221" y="132115"/>
                  <a:pt x="192881" y="126891"/>
                  <a:pt x="192881" y="121444"/>
                </a:cubicBezTo>
                <a:lnTo>
                  <a:pt x="167878" y="121444"/>
                </a:lnTo>
                <a:cubicBezTo>
                  <a:pt x="150108" y="121444"/>
                  <a:pt x="135731" y="107067"/>
                  <a:pt x="135731" y="89297"/>
                </a:cubicBezTo>
                <a:lnTo>
                  <a:pt x="135731" y="64294"/>
                </a:lnTo>
                <a:cubicBezTo>
                  <a:pt x="130284" y="64294"/>
                  <a:pt x="125060" y="62954"/>
                  <a:pt x="120551" y="60499"/>
                </a:cubicBezTo>
                <a:close/>
              </a:path>
            </a:pathLst>
          </a:custGeom>
          <a:solidFill>
            <a:srgbClr val="B8A890"/>
          </a:solidFill>
          <a:ln/>
        </p:spPr>
        <p:txBody>
          <a:bodyPr/>
          <a:lstStyle/>
          <a:p>
            <a:endParaRPr lang="en-US"/>
          </a:p>
        </p:txBody>
      </p:sp>
      <p:sp>
        <p:nvSpPr>
          <p:cNvPr id="12" name="Text 10"/>
          <p:cNvSpPr/>
          <p:nvPr/>
        </p:nvSpPr>
        <p:spPr>
          <a:xfrm>
            <a:off x="876300" y="4220290"/>
            <a:ext cx="2171700" cy="228600"/>
          </a:xfrm>
          <a:prstGeom prst="rect">
            <a:avLst/>
          </a:prstGeom>
          <a:noFill/>
          <a:ln/>
        </p:spPr>
        <p:txBody>
          <a:bodyPr wrap="square" lIns="0" tIns="0" rIns="0" bIns="0" rtlCol="0" anchor="ctr"/>
          <a:lstStyle/>
          <a:p>
            <a:pPr>
              <a:lnSpc>
                <a:spcPct val="130000"/>
              </a:lnSpc>
            </a:pPr>
            <a:r>
              <a:rPr lang="en-US" sz="1200" b="1" dirty="0">
                <a:solidFill>
                  <a:srgbClr val="E0E2E5">
                    <a:alpha val="90000"/>
                  </a:srgbClr>
                </a:solidFill>
                <a:latin typeface="Quattrocento Sans" pitchFamily="34" charset="0"/>
                <a:ea typeface="Quattrocento Sans" pitchFamily="34" charset="-122"/>
                <a:cs typeface="Quattrocento Sans" pitchFamily="34" charset="-120"/>
              </a:rPr>
              <a:t>Salt &amp; Pepper</a:t>
            </a:r>
            <a:endParaRPr lang="en-US" sz="1600" dirty="0"/>
          </a:p>
        </p:txBody>
      </p:sp>
      <p:sp>
        <p:nvSpPr>
          <p:cNvPr id="13" name="Text 11"/>
          <p:cNvSpPr/>
          <p:nvPr/>
        </p:nvSpPr>
        <p:spPr>
          <a:xfrm>
            <a:off x="876300" y="4448890"/>
            <a:ext cx="2162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Median Filter</a:t>
            </a:r>
            <a:endParaRPr lang="en-US" sz="1600" dirty="0"/>
          </a:p>
        </p:txBody>
      </p:sp>
      <p:sp>
        <p:nvSpPr>
          <p:cNvPr id="14" name="Shape 12"/>
          <p:cNvSpPr/>
          <p:nvPr/>
        </p:nvSpPr>
        <p:spPr>
          <a:xfrm>
            <a:off x="3276600" y="3763090"/>
            <a:ext cx="2400300" cy="1028700"/>
          </a:xfrm>
          <a:custGeom>
            <a:avLst/>
            <a:gdLst/>
            <a:ahLst/>
            <a:cxnLst/>
            <a:rect l="l" t="t" r="r" b="b"/>
            <a:pathLst>
              <a:path w="2400300" h="1028700">
                <a:moveTo>
                  <a:pt x="76196" y="0"/>
                </a:moveTo>
                <a:lnTo>
                  <a:pt x="2324104" y="0"/>
                </a:lnTo>
                <a:cubicBezTo>
                  <a:pt x="2366186" y="0"/>
                  <a:pt x="2400300" y="34114"/>
                  <a:pt x="2400300" y="76196"/>
                </a:cubicBezTo>
                <a:lnTo>
                  <a:pt x="2400300" y="952504"/>
                </a:lnTo>
                <a:cubicBezTo>
                  <a:pt x="2400300" y="994586"/>
                  <a:pt x="2366186" y="1028700"/>
                  <a:pt x="2324104"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en-US"/>
          </a:p>
        </p:txBody>
      </p:sp>
      <p:sp>
        <p:nvSpPr>
          <p:cNvPr id="15" name="Shape 13"/>
          <p:cNvSpPr/>
          <p:nvPr/>
        </p:nvSpPr>
        <p:spPr>
          <a:xfrm>
            <a:off x="3457575" y="3915490"/>
            <a:ext cx="228600" cy="228600"/>
          </a:xfrm>
          <a:custGeom>
            <a:avLst/>
            <a:gdLst/>
            <a:ahLst/>
            <a:cxnLst/>
            <a:rect l="l" t="t" r="r" b="b"/>
            <a:pathLst>
              <a:path w="228600" h="228600">
                <a:moveTo>
                  <a:pt x="28575" y="42863"/>
                </a:moveTo>
                <a:cubicBezTo>
                  <a:pt x="28575" y="34960"/>
                  <a:pt x="34960" y="28575"/>
                  <a:pt x="42863" y="28575"/>
                </a:cubicBezTo>
                <a:lnTo>
                  <a:pt x="114300" y="28575"/>
                </a:lnTo>
                <a:cubicBezTo>
                  <a:pt x="122203" y="28575"/>
                  <a:pt x="128588" y="34960"/>
                  <a:pt x="128588" y="42863"/>
                </a:cubicBezTo>
                <a:lnTo>
                  <a:pt x="128588" y="171450"/>
                </a:lnTo>
                <a:lnTo>
                  <a:pt x="171450" y="171450"/>
                </a:lnTo>
                <a:lnTo>
                  <a:pt x="171450" y="114300"/>
                </a:lnTo>
                <a:cubicBezTo>
                  <a:pt x="171450" y="106397"/>
                  <a:pt x="177835" y="100013"/>
                  <a:pt x="185738" y="100013"/>
                </a:cubicBezTo>
                <a:lnTo>
                  <a:pt x="214313" y="100013"/>
                </a:lnTo>
                <a:cubicBezTo>
                  <a:pt x="222215" y="100013"/>
                  <a:pt x="228600" y="106397"/>
                  <a:pt x="228600" y="114300"/>
                </a:cubicBezTo>
                <a:cubicBezTo>
                  <a:pt x="228600" y="122203"/>
                  <a:pt x="222215" y="128588"/>
                  <a:pt x="214313" y="128588"/>
                </a:cubicBezTo>
                <a:lnTo>
                  <a:pt x="200025" y="128588"/>
                </a:lnTo>
                <a:lnTo>
                  <a:pt x="200025" y="185738"/>
                </a:lnTo>
                <a:cubicBezTo>
                  <a:pt x="200025" y="193640"/>
                  <a:pt x="193640" y="200025"/>
                  <a:pt x="185738" y="200025"/>
                </a:cubicBezTo>
                <a:lnTo>
                  <a:pt x="114300" y="200025"/>
                </a:lnTo>
                <a:cubicBezTo>
                  <a:pt x="106397" y="200025"/>
                  <a:pt x="100013" y="193640"/>
                  <a:pt x="100013" y="185738"/>
                </a:cubicBezTo>
                <a:lnTo>
                  <a:pt x="100013" y="57150"/>
                </a:lnTo>
                <a:lnTo>
                  <a:pt x="57150" y="57150"/>
                </a:lnTo>
                <a:lnTo>
                  <a:pt x="57150" y="114300"/>
                </a:lnTo>
                <a:cubicBezTo>
                  <a:pt x="57150" y="122203"/>
                  <a:pt x="50765" y="128588"/>
                  <a:pt x="42863" y="128588"/>
                </a:cubicBezTo>
                <a:lnTo>
                  <a:pt x="14288" y="128588"/>
                </a:lnTo>
                <a:cubicBezTo>
                  <a:pt x="6385" y="128588"/>
                  <a:pt x="0" y="122203"/>
                  <a:pt x="0" y="114300"/>
                </a:cubicBezTo>
                <a:cubicBezTo>
                  <a:pt x="0" y="106397"/>
                  <a:pt x="6385" y="100013"/>
                  <a:pt x="14288" y="100013"/>
                </a:cubicBezTo>
                <a:lnTo>
                  <a:pt x="28575" y="100013"/>
                </a:lnTo>
                <a:lnTo>
                  <a:pt x="28575" y="42863"/>
                </a:lnTo>
                <a:close/>
              </a:path>
            </a:pathLst>
          </a:custGeom>
          <a:solidFill>
            <a:srgbClr val="B8A890"/>
          </a:solidFill>
          <a:ln/>
        </p:spPr>
        <p:txBody>
          <a:bodyPr/>
          <a:lstStyle/>
          <a:p>
            <a:endParaRPr lang="en-US"/>
          </a:p>
        </p:txBody>
      </p:sp>
      <p:sp>
        <p:nvSpPr>
          <p:cNvPr id="16" name="Text 14"/>
          <p:cNvSpPr/>
          <p:nvPr/>
        </p:nvSpPr>
        <p:spPr>
          <a:xfrm>
            <a:off x="3429000" y="4220290"/>
            <a:ext cx="2171700" cy="228600"/>
          </a:xfrm>
          <a:prstGeom prst="rect">
            <a:avLst/>
          </a:prstGeom>
          <a:noFill/>
          <a:ln/>
        </p:spPr>
        <p:txBody>
          <a:bodyPr wrap="square" lIns="0" tIns="0" rIns="0" bIns="0" rtlCol="0" anchor="ctr"/>
          <a:lstStyle/>
          <a:p>
            <a:pPr>
              <a:lnSpc>
                <a:spcPct val="130000"/>
              </a:lnSpc>
            </a:pPr>
            <a:r>
              <a:rPr lang="en-US" sz="1200" b="1" dirty="0">
                <a:solidFill>
                  <a:srgbClr val="E0E2E5">
                    <a:alpha val="90000"/>
                  </a:srgbClr>
                </a:solidFill>
                <a:latin typeface="Quattrocento Sans" pitchFamily="34" charset="0"/>
                <a:ea typeface="Quattrocento Sans" pitchFamily="34" charset="-122"/>
                <a:cs typeface="Quattrocento Sans" pitchFamily="34" charset="-120"/>
              </a:rPr>
              <a:t>Gaussian</a:t>
            </a:r>
            <a:endParaRPr lang="en-US" sz="1600" dirty="0"/>
          </a:p>
        </p:txBody>
      </p:sp>
      <p:sp>
        <p:nvSpPr>
          <p:cNvPr id="17" name="Text 15"/>
          <p:cNvSpPr/>
          <p:nvPr/>
        </p:nvSpPr>
        <p:spPr>
          <a:xfrm>
            <a:off x="3429000" y="4448890"/>
            <a:ext cx="2162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Mean Filter</a:t>
            </a:r>
            <a:endParaRPr lang="en-US" sz="1600" dirty="0"/>
          </a:p>
        </p:txBody>
      </p:sp>
      <p:sp>
        <p:nvSpPr>
          <p:cNvPr id="18" name="Shape 16"/>
          <p:cNvSpPr/>
          <p:nvPr/>
        </p:nvSpPr>
        <p:spPr>
          <a:xfrm>
            <a:off x="6229350" y="1447800"/>
            <a:ext cx="5581650" cy="4057650"/>
          </a:xfrm>
          <a:custGeom>
            <a:avLst/>
            <a:gdLst/>
            <a:ahLst/>
            <a:cxnLst/>
            <a:rect l="l" t="t" r="r" b="b"/>
            <a:pathLst>
              <a:path w="5581650" h="4057650">
                <a:moveTo>
                  <a:pt x="38100" y="0"/>
                </a:moveTo>
                <a:lnTo>
                  <a:pt x="5467346" y="0"/>
                </a:lnTo>
                <a:cubicBezTo>
                  <a:pt x="5530474" y="0"/>
                  <a:pt x="5581650" y="51176"/>
                  <a:pt x="5581650" y="114304"/>
                </a:cubicBezTo>
                <a:lnTo>
                  <a:pt x="5581650" y="3943346"/>
                </a:lnTo>
                <a:cubicBezTo>
                  <a:pt x="5581650" y="4006474"/>
                  <a:pt x="5530474" y="4057650"/>
                  <a:pt x="5467346" y="4057650"/>
                </a:cubicBezTo>
                <a:lnTo>
                  <a:pt x="38100" y="4057650"/>
                </a:lnTo>
                <a:cubicBezTo>
                  <a:pt x="17072" y="4057650"/>
                  <a:pt x="0" y="4040578"/>
                  <a:pt x="0" y="4019550"/>
                </a:cubicBezTo>
                <a:lnTo>
                  <a:pt x="0" y="38100"/>
                </a:lnTo>
                <a:cubicBezTo>
                  <a:pt x="0" y="17072"/>
                  <a:pt x="17072" y="0"/>
                  <a:pt x="38100" y="0"/>
                </a:cubicBezTo>
                <a:close/>
              </a:path>
            </a:pathLst>
          </a:custGeom>
          <a:gradFill flip="none" rotWithShape="1">
            <a:gsLst>
              <a:gs pos="0">
                <a:srgbClr val="5A7D7C">
                  <a:alpha val="20000"/>
                </a:srgbClr>
              </a:gs>
              <a:gs pos="100000">
                <a:srgbClr val="5A7D7C">
                  <a:alpha val="5000"/>
                </a:srgbClr>
              </a:gs>
            </a:gsLst>
            <a:lin ang="2700000" scaled="1"/>
          </a:gradFill>
          <a:ln/>
        </p:spPr>
        <p:txBody>
          <a:bodyPr/>
          <a:lstStyle/>
          <a:p>
            <a:endParaRPr lang="en-US"/>
          </a:p>
        </p:txBody>
      </p:sp>
      <p:sp>
        <p:nvSpPr>
          <p:cNvPr id="19" name="Shape 17"/>
          <p:cNvSpPr/>
          <p:nvPr/>
        </p:nvSpPr>
        <p:spPr>
          <a:xfrm>
            <a:off x="6229350" y="1447800"/>
            <a:ext cx="38100" cy="4057650"/>
          </a:xfrm>
          <a:custGeom>
            <a:avLst/>
            <a:gdLst/>
            <a:ahLst/>
            <a:cxnLst/>
            <a:rect l="l" t="t" r="r" b="b"/>
            <a:pathLst>
              <a:path w="38100" h="4057650">
                <a:moveTo>
                  <a:pt x="38100" y="0"/>
                </a:moveTo>
                <a:lnTo>
                  <a:pt x="38100" y="0"/>
                </a:lnTo>
                <a:lnTo>
                  <a:pt x="38100" y="4057650"/>
                </a:lnTo>
                <a:lnTo>
                  <a:pt x="38100" y="4057650"/>
                </a:lnTo>
                <a:cubicBezTo>
                  <a:pt x="17072" y="4057650"/>
                  <a:pt x="0" y="4040578"/>
                  <a:pt x="0" y="4019550"/>
                </a:cubicBezTo>
                <a:lnTo>
                  <a:pt x="0" y="38100"/>
                </a:lnTo>
                <a:cubicBezTo>
                  <a:pt x="0" y="17072"/>
                  <a:pt x="17072" y="0"/>
                  <a:pt x="38100" y="0"/>
                </a:cubicBezTo>
                <a:close/>
              </a:path>
            </a:pathLst>
          </a:custGeom>
          <a:solidFill>
            <a:srgbClr val="5A7D7C"/>
          </a:solidFill>
          <a:ln/>
        </p:spPr>
        <p:txBody>
          <a:bodyPr/>
          <a:lstStyle/>
          <a:p>
            <a:endParaRPr lang="en-US"/>
          </a:p>
        </p:txBody>
      </p:sp>
      <p:sp>
        <p:nvSpPr>
          <p:cNvPr id="20" name="Shape 18"/>
          <p:cNvSpPr/>
          <p:nvPr/>
        </p:nvSpPr>
        <p:spPr>
          <a:xfrm>
            <a:off x="6553200" y="2165271"/>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A7D7C"/>
          </a:solidFill>
          <a:ln/>
        </p:spPr>
        <p:txBody>
          <a:bodyPr/>
          <a:lstStyle/>
          <a:p>
            <a:endParaRPr lang="en-US"/>
          </a:p>
        </p:txBody>
      </p:sp>
      <p:sp>
        <p:nvSpPr>
          <p:cNvPr id="21" name="Text 19"/>
          <p:cNvSpPr/>
          <p:nvPr/>
        </p:nvSpPr>
        <p:spPr>
          <a:xfrm>
            <a:off x="6467475" y="2165271"/>
            <a:ext cx="933450" cy="762000"/>
          </a:xfrm>
          <a:prstGeom prst="rect">
            <a:avLst/>
          </a:prstGeom>
          <a:noFill/>
          <a:ln/>
        </p:spPr>
        <p:txBody>
          <a:bodyPr wrap="square" lIns="0" tIns="0" rIns="0" bIns="0" rtlCol="0" anchor="ctr"/>
          <a:lstStyle/>
          <a:p>
            <a:pPr algn="ctr">
              <a:lnSpc>
                <a:spcPct val="90000"/>
              </a:lnSpc>
            </a:pPr>
            <a:r>
              <a:rPr lang="en-US" sz="2700" b="1" dirty="0">
                <a:solidFill>
                  <a:srgbClr val="FFFFFF"/>
                </a:solidFill>
                <a:latin typeface="Quattrocento Sans" pitchFamily="34" charset="0"/>
                <a:ea typeface="Quattrocento Sans" pitchFamily="34" charset="-122"/>
                <a:cs typeface="Quattrocento Sans" pitchFamily="34" charset="-120"/>
              </a:rPr>
              <a:t>02</a:t>
            </a:r>
            <a:endParaRPr lang="en-US" sz="1600" dirty="0"/>
          </a:p>
        </p:txBody>
      </p:sp>
      <p:sp>
        <p:nvSpPr>
          <p:cNvPr id="22" name="Text 20"/>
          <p:cNvSpPr/>
          <p:nvPr/>
        </p:nvSpPr>
        <p:spPr>
          <a:xfrm>
            <a:off x="7467600" y="2165271"/>
            <a:ext cx="4181475" cy="342900"/>
          </a:xfrm>
          <a:prstGeom prst="rect">
            <a:avLst/>
          </a:prstGeom>
          <a:noFill/>
          <a:ln/>
        </p:spPr>
        <p:txBody>
          <a:bodyPr wrap="square" lIns="0" tIns="0" rIns="0" bIns="0" rtlCol="0" anchor="ctr"/>
          <a:lstStyle/>
          <a:p>
            <a:pPr>
              <a:lnSpc>
                <a:spcPct val="100000"/>
              </a:lnSpc>
            </a:pPr>
            <a:r>
              <a:rPr lang="en-US" sz="2250" b="1" dirty="0">
                <a:solidFill>
                  <a:srgbClr val="E0E2E5"/>
                </a:solidFill>
                <a:latin typeface="Liter" pitchFamily="34" charset="0"/>
                <a:ea typeface="Liter" pitchFamily="34" charset="-122"/>
                <a:cs typeface="Liter" pitchFamily="34" charset="-120"/>
              </a:rPr>
              <a:t>Morphological Operations</a:t>
            </a:r>
            <a:endParaRPr lang="en-US" sz="1600" dirty="0"/>
          </a:p>
        </p:txBody>
      </p:sp>
      <p:sp>
        <p:nvSpPr>
          <p:cNvPr id="23" name="Text 21"/>
          <p:cNvSpPr/>
          <p:nvPr/>
        </p:nvSpPr>
        <p:spPr>
          <a:xfrm>
            <a:off x="7467600" y="2622471"/>
            <a:ext cx="4124325" cy="838200"/>
          </a:xfrm>
          <a:prstGeom prst="rect">
            <a:avLst/>
          </a:prstGeom>
          <a:noFill/>
          <a:ln/>
        </p:spPr>
        <p:txBody>
          <a:bodyPr wrap="square" lIns="0" tIns="0" rIns="0" bIns="0" rtlCol="0" anchor="ctr"/>
          <a:lstStyle/>
          <a:p>
            <a:pPr>
              <a:lnSpc>
                <a:spcPct val="140000"/>
              </a:lnSpc>
            </a:pPr>
            <a:r>
              <a:rPr lang="en-US" sz="1350" dirty="0">
                <a:solidFill>
                  <a:srgbClr val="E0E2E5">
                    <a:alpha val="80000"/>
                  </a:srgbClr>
                </a:solidFill>
                <a:latin typeface="Quattrocento Sans" pitchFamily="34" charset="0"/>
                <a:ea typeface="Quattrocento Sans" pitchFamily="34" charset="-122"/>
                <a:cs typeface="Quattrocento Sans" pitchFamily="34" charset="-120"/>
              </a:rPr>
              <a:t>Advanced morphological operations for precise object boundary detection and enhancement in digital images.</a:t>
            </a:r>
            <a:endParaRPr lang="en-US" sz="1600" dirty="0"/>
          </a:p>
        </p:txBody>
      </p:sp>
      <p:sp>
        <p:nvSpPr>
          <p:cNvPr id="24" name="Shape 22"/>
          <p:cNvSpPr/>
          <p:nvPr/>
        </p:nvSpPr>
        <p:spPr>
          <a:xfrm>
            <a:off x="6553200" y="3763090"/>
            <a:ext cx="2400300" cy="1028700"/>
          </a:xfrm>
          <a:custGeom>
            <a:avLst/>
            <a:gdLst/>
            <a:ahLst/>
            <a:cxnLst/>
            <a:rect l="l" t="t" r="r" b="b"/>
            <a:pathLst>
              <a:path w="2400300" h="1028700">
                <a:moveTo>
                  <a:pt x="76196" y="0"/>
                </a:moveTo>
                <a:lnTo>
                  <a:pt x="2324104" y="0"/>
                </a:lnTo>
                <a:cubicBezTo>
                  <a:pt x="2366186" y="0"/>
                  <a:pt x="2400300" y="34114"/>
                  <a:pt x="2400300" y="76196"/>
                </a:cubicBezTo>
                <a:lnTo>
                  <a:pt x="2400300" y="952504"/>
                </a:lnTo>
                <a:cubicBezTo>
                  <a:pt x="2400300" y="994586"/>
                  <a:pt x="2366186" y="1028700"/>
                  <a:pt x="2324104"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en-US"/>
          </a:p>
        </p:txBody>
      </p:sp>
      <p:sp>
        <p:nvSpPr>
          <p:cNvPr id="25" name="Shape 23"/>
          <p:cNvSpPr/>
          <p:nvPr/>
        </p:nvSpPr>
        <p:spPr>
          <a:xfrm>
            <a:off x="6734175" y="3915490"/>
            <a:ext cx="228600" cy="228600"/>
          </a:xfrm>
          <a:custGeom>
            <a:avLst/>
            <a:gdLst/>
            <a:ahLst/>
            <a:cxnLst/>
            <a:rect l="l" t="t" r="r" b="b"/>
            <a:pathLst>
              <a:path w="228600" h="228600">
                <a:moveTo>
                  <a:pt x="203597" y="100013"/>
                </a:moveTo>
                <a:lnTo>
                  <a:pt x="139303" y="100013"/>
                </a:lnTo>
                <a:cubicBezTo>
                  <a:pt x="133365" y="100013"/>
                  <a:pt x="128588" y="95235"/>
                  <a:pt x="128588" y="89297"/>
                </a:cubicBezTo>
                <a:lnTo>
                  <a:pt x="128588" y="25003"/>
                </a:lnTo>
                <a:cubicBezTo>
                  <a:pt x="128588" y="20672"/>
                  <a:pt x="131177" y="16743"/>
                  <a:pt x="135195" y="15091"/>
                </a:cubicBezTo>
                <a:cubicBezTo>
                  <a:pt x="139214" y="13439"/>
                  <a:pt x="143813" y="14377"/>
                  <a:pt x="146893" y="17413"/>
                </a:cubicBezTo>
                <a:lnTo>
                  <a:pt x="164753" y="35272"/>
                </a:lnTo>
                <a:lnTo>
                  <a:pt x="197525" y="2500"/>
                </a:lnTo>
                <a:cubicBezTo>
                  <a:pt x="199132" y="893"/>
                  <a:pt x="201320" y="0"/>
                  <a:pt x="203597" y="0"/>
                </a:cubicBezTo>
                <a:cubicBezTo>
                  <a:pt x="205874" y="0"/>
                  <a:pt x="208062" y="893"/>
                  <a:pt x="209714" y="2545"/>
                </a:cubicBezTo>
                <a:lnTo>
                  <a:pt x="226100" y="18931"/>
                </a:lnTo>
                <a:cubicBezTo>
                  <a:pt x="227707" y="20538"/>
                  <a:pt x="228600" y="22726"/>
                  <a:pt x="228600" y="25003"/>
                </a:cubicBezTo>
                <a:cubicBezTo>
                  <a:pt x="228600" y="27280"/>
                  <a:pt x="227707" y="29468"/>
                  <a:pt x="226055" y="31120"/>
                </a:cubicBezTo>
                <a:lnTo>
                  <a:pt x="193328" y="63847"/>
                </a:lnTo>
                <a:lnTo>
                  <a:pt x="211187" y="81707"/>
                </a:lnTo>
                <a:cubicBezTo>
                  <a:pt x="214268" y="84787"/>
                  <a:pt x="215161" y="89386"/>
                  <a:pt x="213509" y="93405"/>
                </a:cubicBezTo>
                <a:cubicBezTo>
                  <a:pt x="211857" y="97423"/>
                  <a:pt x="207928" y="100013"/>
                  <a:pt x="203597" y="100013"/>
                </a:cubicBezTo>
                <a:close/>
                <a:moveTo>
                  <a:pt x="203597" y="128588"/>
                </a:moveTo>
                <a:cubicBezTo>
                  <a:pt x="207928" y="128588"/>
                  <a:pt x="211857" y="131177"/>
                  <a:pt x="213509" y="135195"/>
                </a:cubicBezTo>
                <a:cubicBezTo>
                  <a:pt x="215161" y="139214"/>
                  <a:pt x="214268" y="143813"/>
                  <a:pt x="211187" y="146893"/>
                </a:cubicBezTo>
                <a:lnTo>
                  <a:pt x="193328" y="164753"/>
                </a:lnTo>
                <a:lnTo>
                  <a:pt x="226100" y="197525"/>
                </a:lnTo>
                <a:cubicBezTo>
                  <a:pt x="227707" y="199132"/>
                  <a:pt x="228645" y="201320"/>
                  <a:pt x="228645" y="203642"/>
                </a:cubicBezTo>
                <a:cubicBezTo>
                  <a:pt x="228645" y="205963"/>
                  <a:pt x="227752" y="208106"/>
                  <a:pt x="226100" y="209758"/>
                </a:cubicBezTo>
                <a:lnTo>
                  <a:pt x="209714" y="226144"/>
                </a:lnTo>
                <a:cubicBezTo>
                  <a:pt x="208062" y="227707"/>
                  <a:pt x="205874" y="228600"/>
                  <a:pt x="203597" y="228600"/>
                </a:cubicBezTo>
                <a:cubicBezTo>
                  <a:pt x="201320" y="228600"/>
                  <a:pt x="199132" y="227707"/>
                  <a:pt x="197480" y="226055"/>
                </a:cubicBezTo>
                <a:lnTo>
                  <a:pt x="164753" y="193328"/>
                </a:lnTo>
                <a:lnTo>
                  <a:pt x="146893" y="211187"/>
                </a:lnTo>
                <a:cubicBezTo>
                  <a:pt x="143813" y="214268"/>
                  <a:pt x="139214" y="215161"/>
                  <a:pt x="135195" y="213509"/>
                </a:cubicBezTo>
                <a:cubicBezTo>
                  <a:pt x="131177" y="211857"/>
                  <a:pt x="128588" y="207928"/>
                  <a:pt x="128588" y="203597"/>
                </a:cubicBezTo>
                <a:lnTo>
                  <a:pt x="128588" y="139303"/>
                </a:lnTo>
                <a:cubicBezTo>
                  <a:pt x="128588" y="133365"/>
                  <a:pt x="133365" y="128588"/>
                  <a:pt x="139303" y="128588"/>
                </a:cubicBezTo>
                <a:lnTo>
                  <a:pt x="203597" y="128588"/>
                </a:lnTo>
                <a:close/>
                <a:moveTo>
                  <a:pt x="89297" y="128588"/>
                </a:moveTo>
                <a:cubicBezTo>
                  <a:pt x="95235" y="128588"/>
                  <a:pt x="100013" y="133365"/>
                  <a:pt x="100013" y="139303"/>
                </a:cubicBezTo>
                <a:lnTo>
                  <a:pt x="100013" y="203597"/>
                </a:lnTo>
                <a:cubicBezTo>
                  <a:pt x="100013" y="207928"/>
                  <a:pt x="97423" y="211857"/>
                  <a:pt x="93405" y="213509"/>
                </a:cubicBezTo>
                <a:cubicBezTo>
                  <a:pt x="89386" y="215161"/>
                  <a:pt x="84787" y="214268"/>
                  <a:pt x="81707" y="211187"/>
                </a:cubicBezTo>
                <a:lnTo>
                  <a:pt x="63847" y="193328"/>
                </a:lnTo>
                <a:lnTo>
                  <a:pt x="31075" y="226100"/>
                </a:lnTo>
                <a:cubicBezTo>
                  <a:pt x="29468" y="227707"/>
                  <a:pt x="27280" y="228600"/>
                  <a:pt x="25003" y="228600"/>
                </a:cubicBezTo>
                <a:cubicBezTo>
                  <a:pt x="22726" y="228600"/>
                  <a:pt x="20538" y="227707"/>
                  <a:pt x="18886" y="226055"/>
                </a:cubicBezTo>
                <a:lnTo>
                  <a:pt x="2545" y="209714"/>
                </a:lnTo>
                <a:cubicBezTo>
                  <a:pt x="893" y="208062"/>
                  <a:pt x="0" y="205874"/>
                  <a:pt x="0" y="203597"/>
                </a:cubicBezTo>
                <a:cubicBezTo>
                  <a:pt x="0" y="201320"/>
                  <a:pt x="893" y="199132"/>
                  <a:pt x="2545" y="197480"/>
                </a:cubicBezTo>
                <a:lnTo>
                  <a:pt x="35272" y="164753"/>
                </a:lnTo>
                <a:lnTo>
                  <a:pt x="17413" y="146893"/>
                </a:lnTo>
                <a:cubicBezTo>
                  <a:pt x="14332" y="143813"/>
                  <a:pt x="13439" y="139214"/>
                  <a:pt x="15091" y="135195"/>
                </a:cubicBezTo>
                <a:cubicBezTo>
                  <a:pt x="16743" y="131177"/>
                  <a:pt x="20672" y="128588"/>
                  <a:pt x="25003" y="128588"/>
                </a:cubicBezTo>
                <a:lnTo>
                  <a:pt x="89297" y="128588"/>
                </a:lnTo>
                <a:close/>
                <a:moveTo>
                  <a:pt x="25003" y="100013"/>
                </a:moveTo>
                <a:cubicBezTo>
                  <a:pt x="20672" y="100013"/>
                  <a:pt x="16743" y="97423"/>
                  <a:pt x="15091" y="93405"/>
                </a:cubicBezTo>
                <a:cubicBezTo>
                  <a:pt x="13439" y="89386"/>
                  <a:pt x="14377" y="84787"/>
                  <a:pt x="17413" y="81707"/>
                </a:cubicBezTo>
                <a:lnTo>
                  <a:pt x="35272" y="63847"/>
                </a:lnTo>
                <a:lnTo>
                  <a:pt x="2545" y="31120"/>
                </a:lnTo>
                <a:cubicBezTo>
                  <a:pt x="893" y="29468"/>
                  <a:pt x="0" y="27280"/>
                  <a:pt x="0" y="25003"/>
                </a:cubicBezTo>
                <a:cubicBezTo>
                  <a:pt x="0" y="22726"/>
                  <a:pt x="893" y="20538"/>
                  <a:pt x="2545" y="18886"/>
                </a:cubicBezTo>
                <a:lnTo>
                  <a:pt x="18886" y="2545"/>
                </a:lnTo>
                <a:cubicBezTo>
                  <a:pt x="20538" y="893"/>
                  <a:pt x="22726" y="0"/>
                  <a:pt x="25003" y="0"/>
                </a:cubicBezTo>
                <a:cubicBezTo>
                  <a:pt x="27280" y="0"/>
                  <a:pt x="29468" y="893"/>
                  <a:pt x="31120" y="2545"/>
                </a:cubicBezTo>
                <a:lnTo>
                  <a:pt x="63847" y="35272"/>
                </a:lnTo>
                <a:lnTo>
                  <a:pt x="81707" y="17413"/>
                </a:lnTo>
                <a:cubicBezTo>
                  <a:pt x="84787" y="14332"/>
                  <a:pt x="89386" y="13439"/>
                  <a:pt x="93405" y="15091"/>
                </a:cubicBezTo>
                <a:cubicBezTo>
                  <a:pt x="97423" y="16743"/>
                  <a:pt x="100013" y="20672"/>
                  <a:pt x="100013" y="25003"/>
                </a:cubicBezTo>
                <a:lnTo>
                  <a:pt x="100013" y="89297"/>
                </a:lnTo>
                <a:cubicBezTo>
                  <a:pt x="100013" y="95235"/>
                  <a:pt x="95235" y="100013"/>
                  <a:pt x="89297" y="100013"/>
                </a:cubicBezTo>
                <a:lnTo>
                  <a:pt x="25003" y="100013"/>
                </a:lnTo>
                <a:close/>
              </a:path>
            </a:pathLst>
          </a:custGeom>
          <a:solidFill>
            <a:srgbClr val="B8A890"/>
          </a:solidFill>
          <a:ln/>
        </p:spPr>
        <p:txBody>
          <a:bodyPr/>
          <a:lstStyle/>
          <a:p>
            <a:endParaRPr lang="en-US"/>
          </a:p>
        </p:txBody>
      </p:sp>
      <p:sp>
        <p:nvSpPr>
          <p:cNvPr id="26" name="Text 24"/>
          <p:cNvSpPr/>
          <p:nvPr/>
        </p:nvSpPr>
        <p:spPr>
          <a:xfrm>
            <a:off x="6705600" y="4220290"/>
            <a:ext cx="2171700" cy="228600"/>
          </a:xfrm>
          <a:prstGeom prst="rect">
            <a:avLst/>
          </a:prstGeom>
          <a:noFill/>
          <a:ln/>
        </p:spPr>
        <p:txBody>
          <a:bodyPr wrap="square" lIns="0" tIns="0" rIns="0" bIns="0" rtlCol="0" anchor="ctr"/>
          <a:lstStyle/>
          <a:p>
            <a:pPr>
              <a:lnSpc>
                <a:spcPct val="130000"/>
              </a:lnSpc>
            </a:pPr>
            <a:r>
              <a:rPr lang="en-US" sz="1200" b="1" dirty="0">
                <a:solidFill>
                  <a:srgbClr val="E0E2E5">
                    <a:alpha val="90000"/>
                  </a:srgbClr>
                </a:solidFill>
                <a:latin typeface="Quattrocento Sans" pitchFamily="34" charset="0"/>
                <a:ea typeface="Quattrocento Sans" pitchFamily="34" charset="-122"/>
                <a:cs typeface="Quattrocento Sans" pitchFamily="34" charset="-120"/>
              </a:rPr>
              <a:t>Erosion</a:t>
            </a:r>
            <a:endParaRPr lang="en-US" sz="1600" dirty="0"/>
          </a:p>
        </p:txBody>
      </p:sp>
      <p:sp>
        <p:nvSpPr>
          <p:cNvPr id="27" name="Text 25"/>
          <p:cNvSpPr/>
          <p:nvPr/>
        </p:nvSpPr>
        <p:spPr>
          <a:xfrm>
            <a:off x="6705600" y="4448890"/>
            <a:ext cx="2162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Shape Refinement</a:t>
            </a:r>
            <a:endParaRPr lang="en-US" sz="1600" dirty="0"/>
          </a:p>
        </p:txBody>
      </p:sp>
      <p:sp>
        <p:nvSpPr>
          <p:cNvPr id="28" name="Shape 26"/>
          <p:cNvSpPr/>
          <p:nvPr/>
        </p:nvSpPr>
        <p:spPr>
          <a:xfrm>
            <a:off x="9105900" y="3763090"/>
            <a:ext cx="2400300" cy="1028700"/>
          </a:xfrm>
          <a:custGeom>
            <a:avLst/>
            <a:gdLst/>
            <a:ahLst/>
            <a:cxnLst/>
            <a:rect l="l" t="t" r="r" b="b"/>
            <a:pathLst>
              <a:path w="2400300" h="1028700">
                <a:moveTo>
                  <a:pt x="76196" y="0"/>
                </a:moveTo>
                <a:lnTo>
                  <a:pt x="2324104" y="0"/>
                </a:lnTo>
                <a:cubicBezTo>
                  <a:pt x="2366186" y="0"/>
                  <a:pt x="2400300" y="34114"/>
                  <a:pt x="2400300" y="76196"/>
                </a:cubicBezTo>
                <a:lnTo>
                  <a:pt x="2400300" y="952504"/>
                </a:lnTo>
                <a:cubicBezTo>
                  <a:pt x="2400300" y="994586"/>
                  <a:pt x="2366186" y="1028700"/>
                  <a:pt x="2324104"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en-US"/>
          </a:p>
        </p:txBody>
      </p:sp>
      <p:sp>
        <p:nvSpPr>
          <p:cNvPr id="29" name="Shape 27"/>
          <p:cNvSpPr/>
          <p:nvPr/>
        </p:nvSpPr>
        <p:spPr>
          <a:xfrm>
            <a:off x="9301163" y="3915490"/>
            <a:ext cx="200025" cy="228600"/>
          </a:xfrm>
          <a:custGeom>
            <a:avLst/>
            <a:gdLst/>
            <a:ahLst/>
            <a:cxnLst/>
            <a:rect l="l" t="t" r="r" b="b"/>
            <a:pathLst>
              <a:path w="200025" h="228600">
                <a:moveTo>
                  <a:pt x="75009" y="14288"/>
                </a:moveTo>
                <a:lnTo>
                  <a:pt x="10716" y="14288"/>
                </a:lnTo>
                <a:cubicBezTo>
                  <a:pt x="4777" y="14288"/>
                  <a:pt x="0" y="19065"/>
                  <a:pt x="0" y="25003"/>
                </a:cubicBezTo>
                <a:lnTo>
                  <a:pt x="0" y="89297"/>
                </a:lnTo>
                <a:cubicBezTo>
                  <a:pt x="0" y="93628"/>
                  <a:pt x="2590" y="97557"/>
                  <a:pt x="6608" y="99209"/>
                </a:cubicBezTo>
                <a:cubicBezTo>
                  <a:pt x="10626" y="100861"/>
                  <a:pt x="15225" y="99923"/>
                  <a:pt x="18306" y="96887"/>
                </a:cubicBezTo>
                <a:lnTo>
                  <a:pt x="36165" y="79028"/>
                </a:lnTo>
                <a:lnTo>
                  <a:pt x="71438" y="114300"/>
                </a:lnTo>
                <a:lnTo>
                  <a:pt x="36165" y="149572"/>
                </a:lnTo>
                <a:lnTo>
                  <a:pt x="18306" y="131713"/>
                </a:lnTo>
                <a:cubicBezTo>
                  <a:pt x="15225" y="128632"/>
                  <a:pt x="10626" y="127739"/>
                  <a:pt x="6608" y="129391"/>
                </a:cubicBezTo>
                <a:cubicBezTo>
                  <a:pt x="2590" y="131043"/>
                  <a:pt x="0" y="134972"/>
                  <a:pt x="0" y="139303"/>
                </a:cubicBezTo>
                <a:lnTo>
                  <a:pt x="0" y="203597"/>
                </a:lnTo>
                <a:cubicBezTo>
                  <a:pt x="0" y="209535"/>
                  <a:pt x="4777" y="214313"/>
                  <a:pt x="10716" y="214313"/>
                </a:cubicBezTo>
                <a:lnTo>
                  <a:pt x="75009" y="214313"/>
                </a:lnTo>
                <a:cubicBezTo>
                  <a:pt x="79340" y="214313"/>
                  <a:pt x="83269" y="211723"/>
                  <a:pt x="84921" y="207705"/>
                </a:cubicBezTo>
                <a:cubicBezTo>
                  <a:pt x="86573" y="203686"/>
                  <a:pt x="85680" y="199087"/>
                  <a:pt x="82600" y="196007"/>
                </a:cubicBezTo>
                <a:lnTo>
                  <a:pt x="64740" y="178147"/>
                </a:lnTo>
                <a:lnTo>
                  <a:pt x="100013" y="142875"/>
                </a:lnTo>
                <a:lnTo>
                  <a:pt x="135285" y="178147"/>
                </a:lnTo>
                <a:lnTo>
                  <a:pt x="117425" y="196007"/>
                </a:lnTo>
                <a:cubicBezTo>
                  <a:pt x="114345" y="199087"/>
                  <a:pt x="113452" y="203686"/>
                  <a:pt x="115104" y="207705"/>
                </a:cubicBezTo>
                <a:cubicBezTo>
                  <a:pt x="116756" y="211723"/>
                  <a:pt x="120685" y="214313"/>
                  <a:pt x="125016" y="214313"/>
                </a:cubicBezTo>
                <a:lnTo>
                  <a:pt x="189309" y="214313"/>
                </a:lnTo>
                <a:cubicBezTo>
                  <a:pt x="195248" y="214313"/>
                  <a:pt x="200025" y="209535"/>
                  <a:pt x="200025" y="203597"/>
                </a:cubicBezTo>
                <a:lnTo>
                  <a:pt x="200025" y="139303"/>
                </a:lnTo>
                <a:cubicBezTo>
                  <a:pt x="200025" y="134972"/>
                  <a:pt x="197435" y="131043"/>
                  <a:pt x="193417" y="129391"/>
                </a:cubicBezTo>
                <a:cubicBezTo>
                  <a:pt x="189399" y="127739"/>
                  <a:pt x="184800" y="128632"/>
                  <a:pt x="181719" y="131713"/>
                </a:cubicBezTo>
                <a:lnTo>
                  <a:pt x="163860" y="149572"/>
                </a:lnTo>
                <a:lnTo>
                  <a:pt x="128588" y="114300"/>
                </a:lnTo>
                <a:lnTo>
                  <a:pt x="163860" y="79028"/>
                </a:lnTo>
                <a:lnTo>
                  <a:pt x="181719" y="96887"/>
                </a:lnTo>
                <a:cubicBezTo>
                  <a:pt x="184800" y="99968"/>
                  <a:pt x="189399" y="100861"/>
                  <a:pt x="193417" y="99209"/>
                </a:cubicBezTo>
                <a:cubicBezTo>
                  <a:pt x="197435" y="97557"/>
                  <a:pt x="200025" y="93628"/>
                  <a:pt x="200025" y="89297"/>
                </a:cubicBezTo>
                <a:lnTo>
                  <a:pt x="200025" y="25003"/>
                </a:lnTo>
                <a:cubicBezTo>
                  <a:pt x="200025" y="19065"/>
                  <a:pt x="195248" y="14288"/>
                  <a:pt x="189309" y="14288"/>
                </a:cubicBezTo>
                <a:lnTo>
                  <a:pt x="125016" y="14288"/>
                </a:lnTo>
                <a:cubicBezTo>
                  <a:pt x="120685" y="14288"/>
                  <a:pt x="116756" y="16877"/>
                  <a:pt x="115104" y="20895"/>
                </a:cubicBezTo>
                <a:cubicBezTo>
                  <a:pt x="113452" y="24914"/>
                  <a:pt x="114389" y="29513"/>
                  <a:pt x="117425" y="32593"/>
                </a:cubicBezTo>
                <a:lnTo>
                  <a:pt x="135285" y="50453"/>
                </a:lnTo>
                <a:lnTo>
                  <a:pt x="100013" y="85725"/>
                </a:lnTo>
                <a:lnTo>
                  <a:pt x="64740" y="50453"/>
                </a:lnTo>
                <a:lnTo>
                  <a:pt x="82600" y="32593"/>
                </a:lnTo>
                <a:cubicBezTo>
                  <a:pt x="85680" y="29513"/>
                  <a:pt x="86573" y="24914"/>
                  <a:pt x="84921" y="20895"/>
                </a:cubicBezTo>
                <a:cubicBezTo>
                  <a:pt x="83269" y="16877"/>
                  <a:pt x="79340" y="14288"/>
                  <a:pt x="75009" y="14288"/>
                </a:cubicBezTo>
                <a:close/>
              </a:path>
            </a:pathLst>
          </a:custGeom>
          <a:solidFill>
            <a:srgbClr val="B8A890"/>
          </a:solidFill>
          <a:ln/>
        </p:spPr>
        <p:txBody>
          <a:bodyPr/>
          <a:lstStyle/>
          <a:p>
            <a:endParaRPr lang="en-US"/>
          </a:p>
        </p:txBody>
      </p:sp>
      <p:sp>
        <p:nvSpPr>
          <p:cNvPr id="30" name="Text 28"/>
          <p:cNvSpPr/>
          <p:nvPr/>
        </p:nvSpPr>
        <p:spPr>
          <a:xfrm>
            <a:off x="9258300" y="4220290"/>
            <a:ext cx="2171700" cy="228600"/>
          </a:xfrm>
          <a:prstGeom prst="rect">
            <a:avLst/>
          </a:prstGeom>
          <a:noFill/>
          <a:ln/>
        </p:spPr>
        <p:txBody>
          <a:bodyPr wrap="square" lIns="0" tIns="0" rIns="0" bIns="0" rtlCol="0" anchor="ctr"/>
          <a:lstStyle/>
          <a:p>
            <a:pPr>
              <a:lnSpc>
                <a:spcPct val="130000"/>
              </a:lnSpc>
            </a:pPr>
            <a:r>
              <a:rPr lang="en-US" sz="1200" b="1" dirty="0">
                <a:solidFill>
                  <a:srgbClr val="E0E2E5">
                    <a:alpha val="90000"/>
                  </a:srgbClr>
                </a:solidFill>
                <a:latin typeface="Quattrocento Sans" pitchFamily="34" charset="0"/>
                <a:ea typeface="Quattrocento Sans" pitchFamily="34" charset="-122"/>
                <a:cs typeface="Quattrocento Sans" pitchFamily="34" charset="-120"/>
              </a:rPr>
              <a:t>Dilation</a:t>
            </a:r>
            <a:endParaRPr lang="en-US" sz="1600" dirty="0"/>
          </a:p>
        </p:txBody>
      </p:sp>
      <p:sp>
        <p:nvSpPr>
          <p:cNvPr id="31" name="Text 29"/>
          <p:cNvSpPr/>
          <p:nvPr/>
        </p:nvSpPr>
        <p:spPr>
          <a:xfrm>
            <a:off x="9258300" y="4448890"/>
            <a:ext cx="2162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Quattrocento Sans" pitchFamily="34" charset="0"/>
                <a:ea typeface="Quattrocento Sans" pitchFamily="34" charset="-122"/>
                <a:cs typeface="Quattrocento Sans" pitchFamily="34" charset="-120"/>
              </a:rPr>
              <a:t>Boundary Enhancement</a:t>
            </a:r>
            <a:endParaRPr lang="en-US" sz="1600" dirty="0"/>
          </a:p>
        </p:txBody>
      </p:sp>
      <p:sp>
        <p:nvSpPr>
          <p:cNvPr id="32" name="Shape 30"/>
          <p:cNvSpPr/>
          <p:nvPr/>
        </p:nvSpPr>
        <p:spPr>
          <a:xfrm>
            <a:off x="384810" y="5513070"/>
            <a:ext cx="3703320" cy="960120"/>
          </a:xfrm>
          <a:custGeom>
            <a:avLst/>
            <a:gdLst/>
            <a:ahLst/>
            <a:cxnLst/>
            <a:rect l="l" t="t" r="r" b="b"/>
            <a:pathLst>
              <a:path w="3703320" h="960120">
                <a:moveTo>
                  <a:pt x="76205" y="0"/>
                </a:moveTo>
                <a:lnTo>
                  <a:pt x="3627115" y="0"/>
                </a:lnTo>
                <a:cubicBezTo>
                  <a:pt x="3669202" y="0"/>
                  <a:pt x="3703320" y="34118"/>
                  <a:pt x="3703320" y="76205"/>
                </a:cubicBezTo>
                <a:lnTo>
                  <a:pt x="3703320" y="883915"/>
                </a:lnTo>
                <a:cubicBezTo>
                  <a:pt x="3703320" y="926002"/>
                  <a:pt x="3669202" y="960120"/>
                  <a:pt x="3627115" y="960120"/>
                </a:cubicBezTo>
                <a:lnTo>
                  <a:pt x="76205" y="960120"/>
                </a:lnTo>
                <a:cubicBezTo>
                  <a:pt x="34118" y="960120"/>
                  <a:pt x="0" y="926002"/>
                  <a:pt x="0" y="883915"/>
                </a:cubicBezTo>
                <a:lnTo>
                  <a:pt x="0" y="76205"/>
                </a:lnTo>
                <a:cubicBezTo>
                  <a:pt x="0" y="34118"/>
                  <a:pt x="34118" y="0"/>
                  <a:pt x="76205" y="0"/>
                </a:cubicBezTo>
                <a:close/>
              </a:path>
            </a:pathLst>
          </a:custGeom>
          <a:solidFill>
            <a:srgbClr val="4A6C8C">
              <a:alpha val="10196"/>
            </a:srgbClr>
          </a:solidFill>
          <a:ln w="10160">
            <a:solidFill>
              <a:srgbClr val="4A6C8C">
                <a:alpha val="30196"/>
              </a:srgbClr>
            </a:solidFill>
            <a:prstDash val="solid"/>
          </a:ln>
        </p:spPr>
        <p:txBody>
          <a:bodyPr/>
          <a:lstStyle/>
          <a:p>
            <a:endParaRPr lang="en-US"/>
          </a:p>
        </p:txBody>
      </p:sp>
      <p:sp>
        <p:nvSpPr>
          <p:cNvPr id="33" name="Text 31"/>
          <p:cNvSpPr/>
          <p:nvPr/>
        </p:nvSpPr>
        <p:spPr>
          <a:xfrm>
            <a:off x="455295" y="5669281"/>
            <a:ext cx="3562350" cy="381000"/>
          </a:xfrm>
          <a:prstGeom prst="rect">
            <a:avLst/>
          </a:prstGeom>
          <a:noFill/>
          <a:ln/>
        </p:spPr>
        <p:txBody>
          <a:bodyPr wrap="square" lIns="0" tIns="0" rIns="0" bIns="0" rtlCol="0" anchor="ctr"/>
          <a:lstStyle/>
          <a:p>
            <a:pPr algn="ctr">
              <a:lnSpc>
                <a:spcPct val="90000"/>
              </a:lnSpc>
            </a:pPr>
            <a:r>
              <a:rPr lang="en-US" sz="2700" b="1" dirty="0">
                <a:solidFill>
                  <a:srgbClr val="4A6C8C"/>
                </a:solidFill>
                <a:latin typeface="Quattrocento Sans" pitchFamily="34" charset="0"/>
                <a:ea typeface="Quattrocento Sans" pitchFamily="34" charset="-122"/>
                <a:cs typeface="Quattrocento Sans" pitchFamily="34" charset="-120"/>
              </a:rPr>
              <a:t>8</a:t>
            </a:r>
            <a:endParaRPr lang="en-US" sz="1600" dirty="0"/>
          </a:p>
        </p:txBody>
      </p:sp>
      <p:sp>
        <p:nvSpPr>
          <p:cNvPr id="34" name="Text 32"/>
          <p:cNvSpPr/>
          <p:nvPr/>
        </p:nvSpPr>
        <p:spPr>
          <a:xfrm>
            <a:off x="502920" y="6088381"/>
            <a:ext cx="3467100" cy="228600"/>
          </a:xfrm>
          <a:prstGeom prst="rect">
            <a:avLst/>
          </a:prstGeom>
          <a:noFill/>
          <a:ln/>
        </p:spPr>
        <p:txBody>
          <a:bodyPr wrap="square" lIns="0" tIns="0" rIns="0" bIns="0" rtlCol="0" anchor="ctr"/>
          <a:lstStyle/>
          <a:p>
            <a:pPr algn="ctr">
              <a:lnSpc>
                <a:spcPct val="13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Filter Types</a:t>
            </a:r>
            <a:endParaRPr lang="en-US" sz="1600" dirty="0"/>
          </a:p>
        </p:txBody>
      </p:sp>
      <p:sp>
        <p:nvSpPr>
          <p:cNvPr id="35" name="Shape 33"/>
          <p:cNvSpPr/>
          <p:nvPr/>
        </p:nvSpPr>
        <p:spPr>
          <a:xfrm>
            <a:off x="4245531" y="5513070"/>
            <a:ext cx="3703320" cy="960120"/>
          </a:xfrm>
          <a:custGeom>
            <a:avLst/>
            <a:gdLst/>
            <a:ahLst/>
            <a:cxnLst/>
            <a:rect l="l" t="t" r="r" b="b"/>
            <a:pathLst>
              <a:path w="3703320" h="960120">
                <a:moveTo>
                  <a:pt x="76205" y="0"/>
                </a:moveTo>
                <a:lnTo>
                  <a:pt x="3627115" y="0"/>
                </a:lnTo>
                <a:cubicBezTo>
                  <a:pt x="3669202" y="0"/>
                  <a:pt x="3703320" y="34118"/>
                  <a:pt x="3703320" y="76205"/>
                </a:cubicBezTo>
                <a:lnTo>
                  <a:pt x="3703320" y="883915"/>
                </a:lnTo>
                <a:cubicBezTo>
                  <a:pt x="3703320" y="926002"/>
                  <a:pt x="3669202" y="960120"/>
                  <a:pt x="3627115" y="960120"/>
                </a:cubicBezTo>
                <a:lnTo>
                  <a:pt x="76205" y="960120"/>
                </a:lnTo>
                <a:cubicBezTo>
                  <a:pt x="34118" y="960120"/>
                  <a:pt x="0" y="926002"/>
                  <a:pt x="0" y="883915"/>
                </a:cubicBezTo>
                <a:lnTo>
                  <a:pt x="0" y="76205"/>
                </a:lnTo>
                <a:cubicBezTo>
                  <a:pt x="0" y="34118"/>
                  <a:pt x="34118" y="0"/>
                  <a:pt x="76205" y="0"/>
                </a:cubicBezTo>
                <a:close/>
              </a:path>
            </a:pathLst>
          </a:custGeom>
          <a:solidFill>
            <a:srgbClr val="5A7D7C">
              <a:alpha val="10196"/>
            </a:srgbClr>
          </a:solidFill>
          <a:ln w="10160">
            <a:solidFill>
              <a:srgbClr val="5A7D7C">
                <a:alpha val="30196"/>
              </a:srgbClr>
            </a:solidFill>
            <a:prstDash val="solid"/>
          </a:ln>
        </p:spPr>
        <p:txBody>
          <a:bodyPr/>
          <a:lstStyle/>
          <a:p>
            <a:endParaRPr lang="en-US"/>
          </a:p>
        </p:txBody>
      </p:sp>
      <p:sp>
        <p:nvSpPr>
          <p:cNvPr id="36" name="Text 34"/>
          <p:cNvSpPr/>
          <p:nvPr/>
        </p:nvSpPr>
        <p:spPr>
          <a:xfrm>
            <a:off x="4316016" y="5669281"/>
            <a:ext cx="3562350" cy="381000"/>
          </a:xfrm>
          <a:prstGeom prst="rect">
            <a:avLst/>
          </a:prstGeom>
          <a:noFill/>
          <a:ln/>
        </p:spPr>
        <p:txBody>
          <a:bodyPr wrap="square" lIns="0" tIns="0" rIns="0" bIns="0" rtlCol="0" anchor="ctr"/>
          <a:lstStyle/>
          <a:p>
            <a:pPr algn="ctr">
              <a:lnSpc>
                <a:spcPct val="90000"/>
              </a:lnSpc>
            </a:pPr>
            <a:r>
              <a:rPr lang="en-US" sz="2700" b="1" dirty="0">
                <a:solidFill>
                  <a:srgbClr val="5A7D7C"/>
                </a:solidFill>
                <a:latin typeface="Quattrocento Sans" pitchFamily="34" charset="0"/>
                <a:ea typeface="Quattrocento Sans" pitchFamily="34" charset="-122"/>
                <a:cs typeface="Quattrocento Sans" pitchFamily="34" charset="-120"/>
              </a:rPr>
              <a:t>2</a:t>
            </a:r>
            <a:endParaRPr lang="en-US" sz="1600" dirty="0"/>
          </a:p>
        </p:txBody>
      </p:sp>
      <p:sp>
        <p:nvSpPr>
          <p:cNvPr id="37" name="Text 35"/>
          <p:cNvSpPr/>
          <p:nvPr/>
        </p:nvSpPr>
        <p:spPr>
          <a:xfrm>
            <a:off x="4363641" y="6088381"/>
            <a:ext cx="3467100" cy="228600"/>
          </a:xfrm>
          <a:prstGeom prst="rect">
            <a:avLst/>
          </a:prstGeom>
          <a:noFill/>
          <a:ln/>
        </p:spPr>
        <p:txBody>
          <a:bodyPr wrap="square" lIns="0" tIns="0" rIns="0" bIns="0" rtlCol="0" anchor="ctr"/>
          <a:lstStyle/>
          <a:p>
            <a:pPr algn="ctr">
              <a:lnSpc>
                <a:spcPct val="13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Noise Categories</a:t>
            </a:r>
            <a:endParaRPr lang="en-US" sz="1600" dirty="0"/>
          </a:p>
        </p:txBody>
      </p:sp>
      <p:sp>
        <p:nvSpPr>
          <p:cNvPr id="38" name="Shape 36"/>
          <p:cNvSpPr/>
          <p:nvPr/>
        </p:nvSpPr>
        <p:spPr>
          <a:xfrm>
            <a:off x="8106371" y="5513070"/>
            <a:ext cx="3703320" cy="960120"/>
          </a:xfrm>
          <a:custGeom>
            <a:avLst/>
            <a:gdLst/>
            <a:ahLst/>
            <a:cxnLst/>
            <a:rect l="l" t="t" r="r" b="b"/>
            <a:pathLst>
              <a:path w="3703320" h="960120">
                <a:moveTo>
                  <a:pt x="76205" y="0"/>
                </a:moveTo>
                <a:lnTo>
                  <a:pt x="3627115" y="0"/>
                </a:lnTo>
                <a:cubicBezTo>
                  <a:pt x="3669202" y="0"/>
                  <a:pt x="3703320" y="34118"/>
                  <a:pt x="3703320" y="76205"/>
                </a:cubicBezTo>
                <a:lnTo>
                  <a:pt x="3703320" y="883915"/>
                </a:lnTo>
                <a:cubicBezTo>
                  <a:pt x="3703320" y="926002"/>
                  <a:pt x="3669202" y="960120"/>
                  <a:pt x="3627115" y="960120"/>
                </a:cubicBezTo>
                <a:lnTo>
                  <a:pt x="76205" y="960120"/>
                </a:lnTo>
                <a:cubicBezTo>
                  <a:pt x="34118" y="960120"/>
                  <a:pt x="0" y="926002"/>
                  <a:pt x="0" y="883915"/>
                </a:cubicBezTo>
                <a:lnTo>
                  <a:pt x="0" y="76205"/>
                </a:lnTo>
                <a:cubicBezTo>
                  <a:pt x="0" y="34118"/>
                  <a:pt x="34118" y="0"/>
                  <a:pt x="76205" y="0"/>
                </a:cubicBezTo>
                <a:close/>
              </a:path>
            </a:pathLst>
          </a:custGeom>
          <a:solidFill>
            <a:srgbClr val="B8A890">
              <a:alpha val="10196"/>
            </a:srgbClr>
          </a:solidFill>
          <a:ln w="10160">
            <a:solidFill>
              <a:srgbClr val="B8A890">
                <a:alpha val="30196"/>
              </a:srgbClr>
            </a:solidFill>
            <a:prstDash val="solid"/>
          </a:ln>
        </p:spPr>
        <p:txBody>
          <a:bodyPr/>
          <a:lstStyle/>
          <a:p>
            <a:endParaRPr lang="en-US"/>
          </a:p>
        </p:txBody>
      </p:sp>
      <p:sp>
        <p:nvSpPr>
          <p:cNvPr id="39" name="Text 37"/>
          <p:cNvSpPr/>
          <p:nvPr/>
        </p:nvSpPr>
        <p:spPr>
          <a:xfrm>
            <a:off x="8176856" y="5669281"/>
            <a:ext cx="3562350" cy="381000"/>
          </a:xfrm>
          <a:prstGeom prst="rect">
            <a:avLst/>
          </a:prstGeom>
          <a:noFill/>
          <a:ln/>
        </p:spPr>
        <p:txBody>
          <a:bodyPr wrap="square" lIns="0" tIns="0" rIns="0" bIns="0" rtlCol="0" anchor="ctr"/>
          <a:lstStyle/>
          <a:p>
            <a:pPr algn="ctr">
              <a:lnSpc>
                <a:spcPct val="90000"/>
              </a:lnSpc>
            </a:pPr>
            <a:r>
              <a:rPr lang="en-US" sz="2700" b="1" dirty="0">
                <a:solidFill>
                  <a:srgbClr val="B8A890"/>
                </a:solidFill>
                <a:latin typeface="Quattrocento Sans" pitchFamily="34" charset="0"/>
                <a:ea typeface="Quattrocento Sans" pitchFamily="34" charset="-122"/>
                <a:cs typeface="Quattrocento Sans" pitchFamily="34" charset="-120"/>
              </a:rPr>
              <a:t>5</a:t>
            </a:r>
            <a:endParaRPr lang="en-US" sz="1600" dirty="0"/>
          </a:p>
        </p:txBody>
      </p:sp>
      <p:sp>
        <p:nvSpPr>
          <p:cNvPr id="40" name="Text 38"/>
          <p:cNvSpPr/>
          <p:nvPr/>
        </p:nvSpPr>
        <p:spPr>
          <a:xfrm>
            <a:off x="8224481" y="6088381"/>
            <a:ext cx="3467100" cy="228600"/>
          </a:xfrm>
          <a:prstGeom prst="rect">
            <a:avLst/>
          </a:prstGeom>
          <a:noFill/>
          <a:ln/>
        </p:spPr>
        <p:txBody>
          <a:bodyPr wrap="square" lIns="0" tIns="0" rIns="0" bIns="0" rtlCol="0" anchor="ctr"/>
          <a:lstStyle/>
          <a:p>
            <a:pPr algn="ctr">
              <a:lnSpc>
                <a:spcPct val="13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Morphological Ops</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mg2023.cnblogs.com/2591b1afb547886ee14614991f270d62f8ceddaf.jpg"/>
          <p:cNvPicPr>
            <a:picLocks noChangeAspect="1"/>
          </p:cNvPicPr>
          <p:nvPr/>
        </p:nvPicPr>
        <p:blipFill>
          <a:blip r:embed="rId3">
            <a:alphaModFix amt="20000"/>
          </a:blip>
          <a:srcRect l="6076" r="6076"/>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8000"/>
                </a:srgbClr>
              </a:gs>
              <a:gs pos="50000">
                <a:srgbClr val="4A6C8C">
                  <a:alpha val="30000"/>
                </a:srgbClr>
              </a:gs>
              <a:gs pos="100000">
                <a:srgbClr val="1A1D21">
                  <a:alpha val="95000"/>
                </a:srgbClr>
              </a:gs>
            </a:gsLst>
            <a:lin ang="0" scaled="1"/>
          </a:gradFill>
          <a:ln/>
        </p:spPr>
        <p:txBody>
          <a:bodyPr/>
          <a:lstStyle/>
          <a:p>
            <a:endParaRPr lang="en-US"/>
          </a:p>
        </p:txBody>
      </p:sp>
      <p:sp>
        <p:nvSpPr>
          <p:cNvPr id="4" name="Shape 1"/>
          <p:cNvSpPr/>
          <p:nvPr/>
        </p:nvSpPr>
        <p:spPr>
          <a:xfrm>
            <a:off x="381000" y="1269206"/>
            <a:ext cx="1809750" cy="571500"/>
          </a:xfrm>
          <a:custGeom>
            <a:avLst/>
            <a:gdLst/>
            <a:ahLst/>
            <a:cxnLst/>
            <a:rect l="l" t="t" r="r" b="b"/>
            <a:pathLst>
              <a:path w="1809750" h="571500">
                <a:moveTo>
                  <a:pt x="76198" y="0"/>
                </a:moveTo>
                <a:lnTo>
                  <a:pt x="1733552" y="0"/>
                </a:lnTo>
                <a:cubicBezTo>
                  <a:pt x="1775635" y="0"/>
                  <a:pt x="1809750" y="34115"/>
                  <a:pt x="1809750" y="76198"/>
                </a:cubicBezTo>
                <a:lnTo>
                  <a:pt x="1809750" y="495302"/>
                </a:lnTo>
                <a:cubicBezTo>
                  <a:pt x="1809750" y="537385"/>
                  <a:pt x="1775635" y="571500"/>
                  <a:pt x="1733552" y="571500"/>
                </a:cubicBezTo>
                <a:lnTo>
                  <a:pt x="76198" y="571500"/>
                </a:lnTo>
                <a:cubicBezTo>
                  <a:pt x="34115" y="571500"/>
                  <a:pt x="0" y="537385"/>
                  <a:pt x="0" y="495302"/>
                </a:cubicBezTo>
                <a:lnTo>
                  <a:pt x="0" y="76198"/>
                </a:lnTo>
                <a:cubicBezTo>
                  <a:pt x="0" y="34115"/>
                  <a:pt x="34115" y="0"/>
                  <a:pt x="76198" y="0"/>
                </a:cubicBezTo>
                <a:close/>
              </a:path>
            </a:pathLst>
          </a:custGeom>
          <a:solidFill>
            <a:srgbClr val="4A6C8C"/>
          </a:solidFill>
          <a:ln/>
        </p:spPr>
        <p:txBody>
          <a:bodyPr/>
          <a:lstStyle/>
          <a:p>
            <a:endParaRPr lang="en-US"/>
          </a:p>
        </p:txBody>
      </p:sp>
      <p:sp>
        <p:nvSpPr>
          <p:cNvPr id="5" name="Text 2"/>
          <p:cNvSpPr/>
          <p:nvPr/>
        </p:nvSpPr>
        <p:spPr>
          <a:xfrm>
            <a:off x="685800" y="1391127"/>
            <a:ext cx="1345883" cy="320040"/>
          </a:xfrm>
          <a:prstGeom prst="rect">
            <a:avLst/>
          </a:prstGeom>
          <a:noFill/>
          <a:ln/>
        </p:spPr>
        <p:txBody>
          <a:bodyPr wrap="square" lIns="0" tIns="0" rIns="0" bIns="0" rtlCol="0" anchor="ctr"/>
          <a:lstStyle/>
          <a:p>
            <a:pPr>
              <a:lnSpc>
                <a:spcPct val="100000"/>
              </a:lnSpc>
            </a:pPr>
            <a:r>
              <a:rPr lang="en-US" sz="2250" b="1" kern="0" spc="225" dirty="0">
                <a:solidFill>
                  <a:srgbClr val="E0E2E5"/>
                </a:solidFill>
                <a:latin typeface="Quattrocento Sans" pitchFamily="34" charset="0"/>
                <a:ea typeface="Quattrocento Sans" pitchFamily="34" charset="-122"/>
                <a:cs typeface="Quattrocento Sans" pitchFamily="34" charset="-120"/>
              </a:rPr>
              <a:t>PART 01</a:t>
            </a:r>
            <a:endParaRPr lang="en-US" sz="1600" dirty="0"/>
          </a:p>
        </p:txBody>
      </p:sp>
      <p:sp>
        <p:nvSpPr>
          <p:cNvPr id="6" name="Text 3"/>
          <p:cNvSpPr/>
          <p:nvPr/>
        </p:nvSpPr>
        <p:spPr>
          <a:xfrm>
            <a:off x="381000" y="2145506"/>
            <a:ext cx="11887200" cy="1828800"/>
          </a:xfrm>
          <a:prstGeom prst="rect">
            <a:avLst/>
          </a:prstGeom>
          <a:noFill/>
          <a:ln/>
        </p:spPr>
        <p:txBody>
          <a:bodyPr wrap="square" lIns="0" tIns="0" rIns="0" bIns="0" rtlCol="0" anchor="ctr"/>
          <a:lstStyle/>
          <a:p>
            <a:pPr>
              <a:lnSpc>
                <a:spcPct val="80000"/>
              </a:lnSpc>
            </a:pPr>
            <a:r>
              <a:rPr lang="en-US" sz="7200" b="1" dirty="0">
                <a:solidFill>
                  <a:srgbClr val="E0E2E5"/>
                </a:solidFill>
                <a:latin typeface="Liter" pitchFamily="34" charset="0"/>
                <a:ea typeface="Liter" pitchFamily="34" charset="-122"/>
                <a:cs typeface="Liter" pitchFamily="34" charset="-120"/>
              </a:rPr>
              <a:t>Noise Reduction</a:t>
            </a:r>
            <a:endParaRPr lang="en-US" sz="1600" dirty="0"/>
          </a:p>
          <a:p>
            <a:pPr>
              <a:lnSpc>
                <a:spcPct val="80000"/>
              </a:lnSpc>
            </a:pPr>
            <a:r>
              <a:rPr lang="en-US" sz="7200" b="1" dirty="0">
                <a:solidFill>
                  <a:srgbClr val="E0E2E5"/>
                </a:solidFill>
                <a:latin typeface="Liter" pitchFamily="34" charset="0"/>
                <a:ea typeface="Liter" pitchFamily="34" charset="-122"/>
                <a:cs typeface="Liter" pitchFamily="34" charset="-120"/>
              </a:rPr>
              <a:t>Techniques</a:t>
            </a:r>
            <a:endParaRPr lang="en-US" sz="1600" dirty="0"/>
          </a:p>
        </p:txBody>
      </p:sp>
      <p:sp>
        <p:nvSpPr>
          <p:cNvPr id="7" name="Shape 4"/>
          <p:cNvSpPr/>
          <p:nvPr/>
        </p:nvSpPr>
        <p:spPr>
          <a:xfrm>
            <a:off x="381000" y="4279106"/>
            <a:ext cx="1524000" cy="76200"/>
          </a:xfrm>
          <a:custGeom>
            <a:avLst/>
            <a:gdLst/>
            <a:ahLst/>
            <a:cxnLst/>
            <a:rect l="l" t="t" r="r" b="b"/>
            <a:pathLst>
              <a:path w="1524000" h="76200">
                <a:moveTo>
                  <a:pt x="0" y="0"/>
                </a:moveTo>
                <a:lnTo>
                  <a:pt x="1524000" y="0"/>
                </a:lnTo>
                <a:lnTo>
                  <a:pt x="1524000" y="76200"/>
                </a:lnTo>
                <a:lnTo>
                  <a:pt x="0" y="76200"/>
                </a:lnTo>
                <a:lnTo>
                  <a:pt x="0" y="0"/>
                </a:lnTo>
                <a:close/>
              </a:path>
            </a:pathLst>
          </a:custGeom>
          <a:solidFill>
            <a:srgbClr val="B8A890"/>
          </a:solidFill>
          <a:ln/>
        </p:spPr>
        <p:txBody>
          <a:bodyPr/>
          <a:lstStyle/>
          <a:p>
            <a:endParaRPr lang="en-US"/>
          </a:p>
        </p:txBody>
      </p:sp>
      <p:sp>
        <p:nvSpPr>
          <p:cNvPr id="8" name="Text 5"/>
          <p:cNvSpPr/>
          <p:nvPr/>
        </p:nvSpPr>
        <p:spPr>
          <a:xfrm>
            <a:off x="381000" y="4660106"/>
            <a:ext cx="7458075" cy="933450"/>
          </a:xfrm>
          <a:prstGeom prst="rect">
            <a:avLst/>
          </a:prstGeom>
          <a:noFill/>
          <a:ln/>
        </p:spPr>
        <p:txBody>
          <a:bodyPr wrap="square" lIns="0" tIns="0" rIns="0" bIns="0" rtlCol="0" anchor="ctr"/>
          <a:lstStyle/>
          <a:p>
            <a:pPr>
              <a:lnSpc>
                <a:spcPct val="140000"/>
              </a:lnSpc>
            </a:pPr>
            <a:r>
              <a:rPr lang="en-US" sz="2250" dirty="0">
                <a:solidFill>
                  <a:srgbClr val="E0E2E5">
                    <a:alpha val="90000"/>
                  </a:srgbClr>
                </a:solidFill>
                <a:latin typeface="Quattrocento Sans" pitchFamily="34" charset="0"/>
                <a:ea typeface="Quattrocento Sans" pitchFamily="34" charset="-122"/>
                <a:cs typeface="Quattrocento Sans" pitchFamily="34" charset="-120"/>
              </a:rPr>
              <a:t>Comparative Analysis of Spatial Domain Filters</a:t>
            </a:r>
            <a:endParaRPr lang="en-US" sz="1600" dirty="0"/>
          </a:p>
          <a:p>
            <a:pPr>
              <a:lnSpc>
                <a:spcPct val="140000"/>
              </a:lnSpc>
            </a:pPr>
            <a:r>
              <a:rPr lang="en-US" sz="2250" dirty="0">
                <a:solidFill>
                  <a:srgbClr val="E0E2E5">
                    <a:alpha val="90000"/>
                  </a:srgbClr>
                </a:solidFill>
                <a:latin typeface="Quattrocento Sans" pitchFamily="34" charset="0"/>
                <a:ea typeface="Quattrocento Sans" pitchFamily="34" charset="-122"/>
                <a:cs typeface="Quattrocento Sans" pitchFamily="34" charset="-120"/>
              </a:rPr>
              <a:t>for Medical Image Denoising</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B8A890"/>
                </a:solidFill>
                <a:latin typeface="Quattrocento Sans" pitchFamily="34" charset="0"/>
                <a:ea typeface="Quattrocento Sans" pitchFamily="34" charset="-122"/>
                <a:cs typeface="Quattrocento Sans" pitchFamily="34" charset="-120"/>
              </a:rPr>
              <a:t>NOISE REDUCTION PROJECT</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Liter" pitchFamily="34" charset="0"/>
                <a:ea typeface="Liter" pitchFamily="34" charset="-122"/>
                <a:cs typeface="Liter" pitchFamily="34" charset="-120"/>
              </a:rPr>
              <a:t>Project Essence &amp; Objectives</a:t>
            </a:r>
            <a:endParaRPr lang="en-US" sz="1600" dirty="0"/>
          </a:p>
        </p:txBody>
      </p:sp>
      <p:sp>
        <p:nvSpPr>
          <p:cNvPr id="4" name="Shape 2"/>
          <p:cNvSpPr/>
          <p:nvPr/>
        </p:nvSpPr>
        <p:spPr>
          <a:xfrm>
            <a:off x="400050" y="1371600"/>
            <a:ext cx="5581650" cy="1771650"/>
          </a:xfrm>
          <a:custGeom>
            <a:avLst/>
            <a:gdLst/>
            <a:ahLst/>
            <a:cxnLst/>
            <a:rect l="l" t="t" r="r" b="b"/>
            <a:pathLst>
              <a:path w="5581650" h="1771650">
                <a:moveTo>
                  <a:pt x="38100" y="0"/>
                </a:moveTo>
                <a:lnTo>
                  <a:pt x="5467343" y="0"/>
                </a:lnTo>
                <a:cubicBezTo>
                  <a:pt x="5530431" y="0"/>
                  <a:pt x="5581650" y="51219"/>
                  <a:pt x="5581650" y="114307"/>
                </a:cubicBezTo>
                <a:lnTo>
                  <a:pt x="5581650" y="1657343"/>
                </a:lnTo>
                <a:cubicBezTo>
                  <a:pt x="5581650" y="1720431"/>
                  <a:pt x="5530431" y="1771650"/>
                  <a:pt x="5467343" y="1771650"/>
                </a:cubicBezTo>
                <a:lnTo>
                  <a:pt x="38100" y="1771650"/>
                </a:lnTo>
                <a:cubicBezTo>
                  <a:pt x="17072" y="1771650"/>
                  <a:pt x="0" y="1754578"/>
                  <a:pt x="0" y="1733550"/>
                </a:cubicBezTo>
                <a:lnTo>
                  <a:pt x="0" y="38100"/>
                </a:lnTo>
                <a:cubicBezTo>
                  <a:pt x="0" y="17072"/>
                  <a:pt x="17072" y="0"/>
                  <a:pt x="38100" y="0"/>
                </a:cubicBezTo>
                <a:close/>
              </a:path>
            </a:pathLst>
          </a:custGeom>
          <a:solidFill>
            <a:srgbClr val="4A6C8C">
              <a:alpha val="10196"/>
            </a:srgbClr>
          </a:solidFill>
          <a:ln/>
        </p:spPr>
        <p:txBody>
          <a:bodyPr/>
          <a:lstStyle/>
          <a:p>
            <a:endParaRPr lang="en-US"/>
          </a:p>
        </p:txBody>
      </p:sp>
      <p:sp>
        <p:nvSpPr>
          <p:cNvPr id="5" name="Shape 3"/>
          <p:cNvSpPr/>
          <p:nvPr/>
        </p:nvSpPr>
        <p:spPr>
          <a:xfrm>
            <a:off x="400050" y="1371600"/>
            <a:ext cx="38100" cy="1771650"/>
          </a:xfrm>
          <a:custGeom>
            <a:avLst/>
            <a:gdLst/>
            <a:ahLst/>
            <a:cxnLst/>
            <a:rect l="l" t="t" r="r" b="b"/>
            <a:pathLst>
              <a:path w="38100" h="1771650">
                <a:moveTo>
                  <a:pt x="38100" y="0"/>
                </a:moveTo>
                <a:lnTo>
                  <a:pt x="38100" y="0"/>
                </a:lnTo>
                <a:lnTo>
                  <a:pt x="38100" y="1771650"/>
                </a:lnTo>
                <a:lnTo>
                  <a:pt x="38100" y="1771650"/>
                </a:lnTo>
                <a:cubicBezTo>
                  <a:pt x="17072" y="1771650"/>
                  <a:pt x="0" y="1754578"/>
                  <a:pt x="0" y="1733550"/>
                </a:cubicBezTo>
                <a:lnTo>
                  <a:pt x="0" y="38100"/>
                </a:lnTo>
                <a:cubicBezTo>
                  <a:pt x="0" y="17072"/>
                  <a:pt x="17072" y="0"/>
                  <a:pt x="38100" y="0"/>
                </a:cubicBezTo>
                <a:close/>
              </a:path>
            </a:pathLst>
          </a:custGeom>
          <a:solidFill>
            <a:srgbClr val="4A6C8C"/>
          </a:solidFill>
          <a:ln/>
        </p:spPr>
        <p:txBody>
          <a:bodyPr/>
          <a:lstStyle/>
          <a:p>
            <a:endParaRPr lang="en-US"/>
          </a:p>
        </p:txBody>
      </p:sp>
      <p:sp>
        <p:nvSpPr>
          <p:cNvPr id="6" name="Shape 4"/>
          <p:cNvSpPr/>
          <p:nvPr/>
        </p:nvSpPr>
        <p:spPr>
          <a:xfrm>
            <a:off x="647700" y="16002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6C8C"/>
          </a:solidFill>
          <a:ln/>
        </p:spPr>
        <p:txBody>
          <a:bodyPr/>
          <a:lstStyle/>
          <a:p>
            <a:endParaRPr lang="en-US"/>
          </a:p>
        </p:txBody>
      </p:sp>
      <p:sp>
        <p:nvSpPr>
          <p:cNvPr id="7" name="Shape 5"/>
          <p:cNvSpPr/>
          <p:nvPr/>
        </p:nvSpPr>
        <p:spPr>
          <a:xfrm>
            <a:off x="781050" y="1733550"/>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E0E2E5"/>
          </a:solidFill>
          <a:ln/>
        </p:spPr>
        <p:txBody>
          <a:bodyPr/>
          <a:lstStyle/>
          <a:p>
            <a:endParaRPr lang="en-US"/>
          </a:p>
        </p:txBody>
      </p:sp>
      <p:sp>
        <p:nvSpPr>
          <p:cNvPr id="8" name="Text 6"/>
          <p:cNvSpPr/>
          <p:nvPr/>
        </p:nvSpPr>
        <p:spPr>
          <a:xfrm>
            <a:off x="1219200" y="1676400"/>
            <a:ext cx="149542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Main Purpose</a:t>
            </a:r>
            <a:endParaRPr lang="en-US" sz="1600" dirty="0"/>
          </a:p>
        </p:txBody>
      </p:sp>
      <p:sp>
        <p:nvSpPr>
          <p:cNvPr id="9" name="Text 7"/>
          <p:cNvSpPr/>
          <p:nvPr/>
        </p:nvSpPr>
        <p:spPr>
          <a:xfrm>
            <a:off x="647700" y="2171700"/>
            <a:ext cx="5181600" cy="742950"/>
          </a:xfrm>
          <a:prstGeom prst="rect">
            <a:avLst/>
          </a:prstGeom>
          <a:noFill/>
          <a:ln/>
        </p:spPr>
        <p:txBody>
          <a:bodyPr wrap="square" lIns="0" tIns="0" rIns="0" bIns="0" rtlCol="0" anchor="ctr"/>
          <a:lstStyle/>
          <a:p>
            <a:pPr>
              <a:lnSpc>
                <a:spcPct val="140000"/>
              </a:lnSpc>
            </a:pPr>
            <a:r>
              <a:rPr lang="en-US" sz="1200" dirty="0">
                <a:solidFill>
                  <a:srgbClr val="E0E2E5">
                    <a:alpha val="90000"/>
                  </a:srgbClr>
                </a:solidFill>
                <a:latin typeface="Quattrocento Sans" pitchFamily="34" charset="0"/>
                <a:ea typeface="Quattrocento Sans" pitchFamily="34" charset="-122"/>
                <a:cs typeface="Quattrocento Sans" pitchFamily="34" charset="-120"/>
              </a:rPr>
              <a:t>Apply Digital Image Processing techniques using MATLAB to improve medical images by reducing noise and enhancing image quality, enabling better diagnostic capabilities and clinical analysis.</a:t>
            </a:r>
            <a:endParaRPr lang="en-US" sz="1600" dirty="0"/>
          </a:p>
        </p:txBody>
      </p:sp>
      <p:sp>
        <p:nvSpPr>
          <p:cNvPr id="10" name="Shape 8"/>
          <p:cNvSpPr/>
          <p:nvPr/>
        </p:nvSpPr>
        <p:spPr>
          <a:xfrm>
            <a:off x="400050" y="3295650"/>
            <a:ext cx="5581650" cy="1771650"/>
          </a:xfrm>
          <a:custGeom>
            <a:avLst/>
            <a:gdLst/>
            <a:ahLst/>
            <a:cxnLst/>
            <a:rect l="l" t="t" r="r" b="b"/>
            <a:pathLst>
              <a:path w="5581650" h="1771650">
                <a:moveTo>
                  <a:pt x="38100" y="0"/>
                </a:moveTo>
                <a:lnTo>
                  <a:pt x="5467343" y="0"/>
                </a:lnTo>
                <a:cubicBezTo>
                  <a:pt x="5530431" y="0"/>
                  <a:pt x="5581650" y="51219"/>
                  <a:pt x="5581650" y="114307"/>
                </a:cubicBezTo>
                <a:lnTo>
                  <a:pt x="5581650" y="1657343"/>
                </a:lnTo>
                <a:cubicBezTo>
                  <a:pt x="5581650" y="1720431"/>
                  <a:pt x="5530431" y="1771650"/>
                  <a:pt x="5467343" y="1771650"/>
                </a:cubicBezTo>
                <a:lnTo>
                  <a:pt x="38100" y="1771650"/>
                </a:lnTo>
                <a:cubicBezTo>
                  <a:pt x="17072" y="1771650"/>
                  <a:pt x="0" y="1754578"/>
                  <a:pt x="0" y="1733550"/>
                </a:cubicBezTo>
                <a:lnTo>
                  <a:pt x="0" y="38100"/>
                </a:lnTo>
                <a:cubicBezTo>
                  <a:pt x="0" y="17072"/>
                  <a:pt x="17072" y="0"/>
                  <a:pt x="38100" y="0"/>
                </a:cubicBezTo>
                <a:close/>
              </a:path>
            </a:pathLst>
          </a:custGeom>
          <a:solidFill>
            <a:srgbClr val="5A7D7C">
              <a:alpha val="10196"/>
            </a:srgbClr>
          </a:solidFill>
          <a:ln/>
        </p:spPr>
        <p:txBody>
          <a:bodyPr/>
          <a:lstStyle/>
          <a:p>
            <a:endParaRPr lang="en-US"/>
          </a:p>
        </p:txBody>
      </p:sp>
      <p:sp>
        <p:nvSpPr>
          <p:cNvPr id="11" name="Shape 9"/>
          <p:cNvSpPr/>
          <p:nvPr/>
        </p:nvSpPr>
        <p:spPr>
          <a:xfrm>
            <a:off x="400050" y="3295650"/>
            <a:ext cx="38100" cy="1771650"/>
          </a:xfrm>
          <a:custGeom>
            <a:avLst/>
            <a:gdLst/>
            <a:ahLst/>
            <a:cxnLst/>
            <a:rect l="l" t="t" r="r" b="b"/>
            <a:pathLst>
              <a:path w="38100" h="1771650">
                <a:moveTo>
                  <a:pt x="38100" y="0"/>
                </a:moveTo>
                <a:lnTo>
                  <a:pt x="38100" y="0"/>
                </a:lnTo>
                <a:lnTo>
                  <a:pt x="38100" y="1771650"/>
                </a:lnTo>
                <a:lnTo>
                  <a:pt x="38100" y="1771650"/>
                </a:lnTo>
                <a:cubicBezTo>
                  <a:pt x="17072" y="1771650"/>
                  <a:pt x="0" y="1754578"/>
                  <a:pt x="0" y="1733550"/>
                </a:cubicBezTo>
                <a:lnTo>
                  <a:pt x="0" y="38100"/>
                </a:lnTo>
                <a:cubicBezTo>
                  <a:pt x="0" y="17072"/>
                  <a:pt x="17072" y="0"/>
                  <a:pt x="38100" y="0"/>
                </a:cubicBezTo>
                <a:close/>
              </a:path>
            </a:pathLst>
          </a:custGeom>
          <a:solidFill>
            <a:srgbClr val="5A7D7C"/>
          </a:solidFill>
          <a:ln/>
        </p:spPr>
        <p:txBody>
          <a:bodyPr/>
          <a:lstStyle/>
          <a:p>
            <a:endParaRPr lang="en-US"/>
          </a:p>
        </p:txBody>
      </p:sp>
      <p:sp>
        <p:nvSpPr>
          <p:cNvPr id="12" name="Shape 10"/>
          <p:cNvSpPr/>
          <p:nvPr/>
        </p:nvSpPr>
        <p:spPr>
          <a:xfrm>
            <a:off x="647700" y="35242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A7D7C"/>
          </a:solidFill>
          <a:ln/>
        </p:spPr>
        <p:txBody>
          <a:bodyPr/>
          <a:lstStyle/>
          <a:p>
            <a:endParaRPr lang="en-US"/>
          </a:p>
        </p:txBody>
      </p:sp>
      <p:sp>
        <p:nvSpPr>
          <p:cNvPr id="13" name="Shape 11"/>
          <p:cNvSpPr/>
          <p:nvPr/>
        </p:nvSpPr>
        <p:spPr>
          <a:xfrm>
            <a:off x="757238" y="365760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E0E2E5"/>
          </a:solidFill>
          <a:ln/>
        </p:spPr>
        <p:txBody>
          <a:bodyPr/>
          <a:lstStyle/>
          <a:p>
            <a:endParaRPr lang="en-US"/>
          </a:p>
        </p:txBody>
      </p:sp>
      <p:sp>
        <p:nvSpPr>
          <p:cNvPr id="14" name="Text 12"/>
          <p:cNvSpPr/>
          <p:nvPr/>
        </p:nvSpPr>
        <p:spPr>
          <a:xfrm>
            <a:off x="1219200" y="3600450"/>
            <a:ext cx="174307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Research Scope</a:t>
            </a:r>
            <a:endParaRPr lang="en-US" sz="1600" dirty="0"/>
          </a:p>
        </p:txBody>
      </p:sp>
      <p:sp>
        <p:nvSpPr>
          <p:cNvPr id="15" name="Text 13"/>
          <p:cNvSpPr/>
          <p:nvPr/>
        </p:nvSpPr>
        <p:spPr>
          <a:xfrm>
            <a:off x="647700" y="4095750"/>
            <a:ext cx="5181600" cy="742950"/>
          </a:xfrm>
          <a:prstGeom prst="rect">
            <a:avLst/>
          </a:prstGeom>
          <a:noFill/>
          <a:ln/>
        </p:spPr>
        <p:txBody>
          <a:bodyPr wrap="square" lIns="0" tIns="0" rIns="0" bIns="0" rtlCol="0" anchor="ctr"/>
          <a:lstStyle/>
          <a:p>
            <a:pPr>
              <a:lnSpc>
                <a:spcPct val="140000"/>
              </a:lnSpc>
            </a:pPr>
            <a:r>
              <a:rPr lang="en-US" sz="1200" dirty="0">
                <a:solidFill>
                  <a:srgbClr val="E0E2E5">
                    <a:alpha val="90000"/>
                  </a:srgbClr>
                </a:solidFill>
                <a:latin typeface="Quattrocento Sans" pitchFamily="34" charset="0"/>
                <a:ea typeface="Quattrocento Sans" pitchFamily="34" charset="-122"/>
                <a:cs typeface="Quattrocento Sans" pitchFamily="34" charset="-120"/>
              </a:rPr>
              <a:t>Comprehensive evaluation of spatial domain filtering techniques for two major noise categories affecting medical imaging systems and diagnostic quality.</a:t>
            </a:r>
            <a:endParaRPr lang="en-US" sz="1600" dirty="0"/>
          </a:p>
        </p:txBody>
      </p:sp>
      <p:sp>
        <p:nvSpPr>
          <p:cNvPr id="16" name="Shape 14"/>
          <p:cNvSpPr/>
          <p:nvPr/>
        </p:nvSpPr>
        <p:spPr>
          <a:xfrm>
            <a:off x="384810" y="5223510"/>
            <a:ext cx="5589270" cy="1226820"/>
          </a:xfrm>
          <a:custGeom>
            <a:avLst/>
            <a:gdLst/>
            <a:ahLst/>
            <a:cxnLst/>
            <a:rect l="l" t="t" r="r" b="b"/>
            <a:pathLst>
              <a:path w="5589270" h="1226820">
                <a:moveTo>
                  <a:pt x="114303" y="0"/>
                </a:moveTo>
                <a:lnTo>
                  <a:pt x="5474967" y="0"/>
                </a:lnTo>
                <a:cubicBezTo>
                  <a:pt x="5538095" y="0"/>
                  <a:pt x="5589270" y="51175"/>
                  <a:pt x="5589270" y="114303"/>
                </a:cubicBezTo>
                <a:lnTo>
                  <a:pt x="5589270" y="1112517"/>
                </a:lnTo>
                <a:cubicBezTo>
                  <a:pt x="5589270" y="1175603"/>
                  <a:pt x="5538053" y="1226820"/>
                  <a:pt x="5474967" y="1226820"/>
                </a:cubicBezTo>
                <a:lnTo>
                  <a:pt x="114303" y="1226820"/>
                </a:lnTo>
                <a:cubicBezTo>
                  <a:pt x="51175" y="1226820"/>
                  <a:pt x="0" y="1175645"/>
                  <a:pt x="0" y="1112517"/>
                </a:cubicBezTo>
                <a:lnTo>
                  <a:pt x="0" y="114303"/>
                </a:lnTo>
                <a:cubicBezTo>
                  <a:pt x="0" y="51217"/>
                  <a:pt x="51217" y="0"/>
                  <a:pt x="114303" y="0"/>
                </a:cubicBezTo>
                <a:close/>
              </a:path>
            </a:pathLst>
          </a:custGeom>
          <a:solidFill>
            <a:srgbClr val="B8A890">
              <a:alpha val="5098"/>
            </a:srgbClr>
          </a:solidFill>
          <a:ln w="10160">
            <a:solidFill>
              <a:srgbClr val="B8A890">
                <a:alpha val="30196"/>
              </a:srgbClr>
            </a:solidFill>
            <a:prstDash val="solid"/>
          </a:ln>
        </p:spPr>
        <p:txBody>
          <a:bodyPr/>
          <a:lstStyle/>
          <a:p>
            <a:endParaRPr lang="en-US"/>
          </a:p>
        </p:txBody>
      </p:sp>
      <p:sp>
        <p:nvSpPr>
          <p:cNvPr id="17" name="Text 15"/>
          <p:cNvSpPr/>
          <p:nvPr/>
        </p:nvSpPr>
        <p:spPr>
          <a:xfrm>
            <a:off x="579120" y="5417820"/>
            <a:ext cx="5286375" cy="838200"/>
          </a:xfrm>
          <a:prstGeom prst="rect">
            <a:avLst/>
          </a:prstGeom>
          <a:noFill/>
          <a:ln/>
        </p:spPr>
        <p:txBody>
          <a:bodyPr wrap="square" lIns="0" tIns="0" rIns="0" bIns="0" rtlCol="0" anchor="ctr"/>
          <a:lstStyle/>
          <a:p>
            <a:pPr>
              <a:lnSpc>
                <a:spcPct val="140000"/>
              </a:lnSpc>
            </a:pPr>
            <a:r>
              <a:rPr lang="en-US" sz="1350" b="1" dirty="0">
                <a:solidFill>
                  <a:srgbClr val="B8A890"/>
                </a:solidFill>
                <a:latin typeface="Quattrocento Sans" pitchFamily="34" charset="0"/>
                <a:ea typeface="Quattrocento Sans" pitchFamily="34" charset="-122"/>
                <a:cs typeface="Quattrocento Sans" pitchFamily="34" charset="-120"/>
              </a:rPr>
              <a:t>Critical Insight:</a:t>
            </a:r>
            <a:r>
              <a:rPr lang="en-US" sz="1350" dirty="0">
                <a:solidFill>
                  <a:srgbClr val="E0E2E5">
                    <a:alpha val="90000"/>
                  </a:srgbClr>
                </a:solidFill>
                <a:latin typeface="Quattrocento Sans" pitchFamily="34" charset="0"/>
                <a:ea typeface="Quattrocento Sans" pitchFamily="34" charset="-122"/>
                <a:cs typeface="Quattrocento Sans" pitchFamily="34" charset="-120"/>
              </a:rPr>
              <a:t> Different noise types require tailored filtering approaches - optimal filter selection directly impacts diagnostic accuracy in medical imaging applications.</a:t>
            </a:r>
            <a:endParaRPr lang="en-US" sz="1600" dirty="0"/>
          </a:p>
        </p:txBody>
      </p:sp>
      <p:sp>
        <p:nvSpPr>
          <p:cNvPr id="18" name="Shape 16"/>
          <p:cNvSpPr/>
          <p:nvPr/>
        </p:nvSpPr>
        <p:spPr>
          <a:xfrm>
            <a:off x="6214110" y="1375410"/>
            <a:ext cx="5589270" cy="5074920"/>
          </a:xfrm>
          <a:custGeom>
            <a:avLst/>
            <a:gdLst/>
            <a:ahLst/>
            <a:cxnLst/>
            <a:rect l="l" t="t" r="r" b="b"/>
            <a:pathLst>
              <a:path w="5589270" h="5074920">
                <a:moveTo>
                  <a:pt x="114287" y="0"/>
                </a:moveTo>
                <a:lnTo>
                  <a:pt x="5474983" y="0"/>
                </a:lnTo>
                <a:cubicBezTo>
                  <a:pt x="5538102" y="0"/>
                  <a:pt x="5589270" y="51168"/>
                  <a:pt x="5589270" y="114287"/>
                </a:cubicBezTo>
                <a:lnTo>
                  <a:pt x="5589270" y="4960633"/>
                </a:lnTo>
                <a:cubicBezTo>
                  <a:pt x="5589270" y="5023752"/>
                  <a:pt x="5538102" y="5074920"/>
                  <a:pt x="5474983" y="5074920"/>
                </a:cubicBezTo>
                <a:lnTo>
                  <a:pt x="114287" y="5074920"/>
                </a:lnTo>
                <a:cubicBezTo>
                  <a:pt x="51168" y="5074920"/>
                  <a:pt x="0" y="5023752"/>
                  <a:pt x="0" y="4960633"/>
                </a:cubicBezTo>
                <a:lnTo>
                  <a:pt x="0" y="114287"/>
                </a:lnTo>
                <a:cubicBezTo>
                  <a:pt x="0" y="51168"/>
                  <a:pt x="51168" y="0"/>
                  <a:pt x="114287"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19" name="Shape 17"/>
          <p:cNvSpPr/>
          <p:nvPr/>
        </p:nvSpPr>
        <p:spPr>
          <a:xfrm>
            <a:off x="6470332" y="1664852"/>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B8A890"/>
          </a:solidFill>
          <a:ln/>
        </p:spPr>
        <p:txBody>
          <a:bodyPr/>
          <a:lstStyle/>
          <a:p>
            <a:endParaRPr lang="en-US"/>
          </a:p>
        </p:txBody>
      </p:sp>
      <p:sp>
        <p:nvSpPr>
          <p:cNvPr id="20" name="Text 18"/>
          <p:cNvSpPr/>
          <p:nvPr/>
        </p:nvSpPr>
        <p:spPr>
          <a:xfrm>
            <a:off x="6684645" y="1607820"/>
            <a:ext cx="500062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Research Objectives</a:t>
            </a:r>
            <a:endParaRPr lang="en-US" sz="1600" dirty="0"/>
          </a:p>
        </p:txBody>
      </p:sp>
      <p:sp>
        <p:nvSpPr>
          <p:cNvPr id="21" name="Shape 19"/>
          <p:cNvSpPr/>
          <p:nvPr/>
        </p:nvSpPr>
        <p:spPr>
          <a:xfrm>
            <a:off x="6446520" y="210300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solidFill>
          <a:ln/>
        </p:spPr>
        <p:txBody>
          <a:bodyPr/>
          <a:lstStyle/>
          <a:p>
            <a:endParaRPr lang="en-US"/>
          </a:p>
        </p:txBody>
      </p:sp>
      <p:sp>
        <p:nvSpPr>
          <p:cNvPr id="22" name="Text 20"/>
          <p:cNvSpPr/>
          <p:nvPr/>
        </p:nvSpPr>
        <p:spPr>
          <a:xfrm>
            <a:off x="6408420" y="2103002"/>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3" name="Text 21"/>
          <p:cNvSpPr/>
          <p:nvPr/>
        </p:nvSpPr>
        <p:spPr>
          <a:xfrm>
            <a:off x="6903720" y="2103002"/>
            <a:ext cx="47529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Understand DIP Applications</a:t>
            </a:r>
            <a:endParaRPr lang="en-US" sz="1600" dirty="0"/>
          </a:p>
        </p:txBody>
      </p:sp>
      <p:sp>
        <p:nvSpPr>
          <p:cNvPr id="24" name="Text 22"/>
          <p:cNvSpPr/>
          <p:nvPr/>
        </p:nvSpPr>
        <p:spPr>
          <a:xfrm>
            <a:off x="6903720" y="2407802"/>
            <a:ext cx="4743450" cy="419100"/>
          </a:xfrm>
          <a:prstGeom prst="rect">
            <a:avLst/>
          </a:prstGeom>
          <a:noFill/>
          <a:ln/>
        </p:spPr>
        <p:txBody>
          <a:bodyPr wrap="square" lIns="0" tIns="0" rIns="0" bIns="0" rtlCol="0" anchor="ctr"/>
          <a:lstStyle/>
          <a:p>
            <a:pPr>
              <a:lnSpc>
                <a:spcPct val="11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Comprehend how digital image processing techniques are systematically applied to medical imaging challenges.</a:t>
            </a:r>
            <a:endParaRPr lang="en-US" sz="1600" dirty="0"/>
          </a:p>
        </p:txBody>
      </p:sp>
      <p:sp>
        <p:nvSpPr>
          <p:cNvPr id="25" name="Shape 23"/>
          <p:cNvSpPr/>
          <p:nvPr/>
        </p:nvSpPr>
        <p:spPr>
          <a:xfrm>
            <a:off x="6446520" y="297930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5A7D7C"/>
          </a:solidFill>
          <a:ln/>
        </p:spPr>
        <p:txBody>
          <a:bodyPr/>
          <a:lstStyle/>
          <a:p>
            <a:endParaRPr lang="en-US"/>
          </a:p>
        </p:txBody>
      </p:sp>
      <p:sp>
        <p:nvSpPr>
          <p:cNvPr id="26" name="Text 24"/>
          <p:cNvSpPr/>
          <p:nvPr/>
        </p:nvSpPr>
        <p:spPr>
          <a:xfrm>
            <a:off x="6408420" y="2979302"/>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7" name="Text 25"/>
          <p:cNvSpPr/>
          <p:nvPr/>
        </p:nvSpPr>
        <p:spPr>
          <a:xfrm>
            <a:off x="6903720" y="2979302"/>
            <a:ext cx="47529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Study Noise Effects</a:t>
            </a:r>
            <a:endParaRPr lang="en-US" sz="1600" dirty="0"/>
          </a:p>
        </p:txBody>
      </p:sp>
      <p:sp>
        <p:nvSpPr>
          <p:cNvPr id="28" name="Text 26"/>
          <p:cNvSpPr/>
          <p:nvPr/>
        </p:nvSpPr>
        <p:spPr>
          <a:xfrm>
            <a:off x="6903720" y="3284102"/>
            <a:ext cx="4743450" cy="419100"/>
          </a:xfrm>
          <a:prstGeom prst="rect">
            <a:avLst/>
          </a:prstGeom>
          <a:noFill/>
          <a:ln/>
        </p:spPr>
        <p:txBody>
          <a:bodyPr wrap="square" lIns="0" tIns="0" rIns="0" bIns="0" rtlCol="0" anchor="ctr"/>
          <a:lstStyle/>
          <a:p>
            <a:pPr>
              <a:lnSpc>
                <a:spcPct val="11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Investigate the impact of Salt &amp; Pepper and Gaussian noise on image quality and diagnostic information.</a:t>
            </a:r>
            <a:endParaRPr lang="en-US" sz="1600" dirty="0"/>
          </a:p>
        </p:txBody>
      </p:sp>
      <p:sp>
        <p:nvSpPr>
          <p:cNvPr id="29" name="Shape 27"/>
          <p:cNvSpPr/>
          <p:nvPr/>
        </p:nvSpPr>
        <p:spPr>
          <a:xfrm>
            <a:off x="6446520" y="385560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B8A890"/>
          </a:solidFill>
          <a:ln/>
        </p:spPr>
        <p:txBody>
          <a:bodyPr/>
          <a:lstStyle/>
          <a:p>
            <a:endParaRPr lang="en-US"/>
          </a:p>
        </p:txBody>
      </p:sp>
      <p:sp>
        <p:nvSpPr>
          <p:cNvPr id="30" name="Text 28"/>
          <p:cNvSpPr/>
          <p:nvPr/>
        </p:nvSpPr>
        <p:spPr>
          <a:xfrm>
            <a:off x="6408420" y="3855602"/>
            <a:ext cx="381000" cy="304800"/>
          </a:xfrm>
          <a:prstGeom prst="rect">
            <a:avLst/>
          </a:prstGeom>
          <a:noFill/>
          <a:ln/>
        </p:spPr>
        <p:txBody>
          <a:bodyPr wrap="square" lIns="0" tIns="0" rIns="0" bIns="0" rtlCol="0" anchor="ctr"/>
          <a:lstStyle/>
          <a:p>
            <a:pPr algn="ctr">
              <a:lnSpc>
                <a:spcPct val="130000"/>
              </a:lnSpc>
            </a:pPr>
            <a:r>
              <a:rPr lang="en-US" sz="1200"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31" name="Text 29"/>
          <p:cNvSpPr/>
          <p:nvPr/>
        </p:nvSpPr>
        <p:spPr>
          <a:xfrm>
            <a:off x="6903720" y="3855602"/>
            <a:ext cx="47529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Evaluate Spatial Filters</a:t>
            </a:r>
            <a:endParaRPr lang="en-US" sz="1600" dirty="0"/>
          </a:p>
        </p:txBody>
      </p:sp>
      <p:sp>
        <p:nvSpPr>
          <p:cNvPr id="32" name="Text 30"/>
          <p:cNvSpPr/>
          <p:nvPr/>
        </p:nvSpPr>
        <p:spPr>
          <a:xfrm>
            <a:off x="6903720" y="4160402"/>
            <a:ext cx="4743450" cy="419100"/>
          </a:xfrm>
          <a:prstGeom prst="rect">
            <a:avLst/>
          </a:prstGeom>
          <a:noFill/>
          <a:ln/>
        </p:spPr>
        <p:txBody>
          <a:bodyPr wrap="square" lIns="0" tIns="0" rIns="0" bIns="0" rtlCol="0" anchor="ctr"/>
          <a:lstStyle/>
          <a:p>
            <a:pPr>
              <a:lnSpc>
                <a:spcPct val="11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Assess and compare multiple spatial domain filtering techniques for effective noise reduction.</a:t>
            </a:r>
            <a:endParaRPr lang="en-US" sz="1600" dirty="0"/>
          </a:p>
        </p:txBody>
      </p:sp>
      <p:sp>
        <p:nvSpPr>
          <p:cNvPr id="33" name="Shape 31"/>
          <p:cNvSpPr/>
          <p:nvPr/>
        </p:nvSpPr>
        <p:spPr>
          <a:xfrm>
            <a:off x="6446520" y="4731902"/>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solidFill>
          <a:ln/>
        </p:spPr>
        <p:txBody>
          <a:bodyPr/>
          <a:lstStyle/>
          <a:p>
            <a:endParaRPr lang="en-US"/>
          </a:p>
        </p:txBody>
      </p:sp>
      <p:sp>
        <p:nvSpPr>
          <p:cNvPr id="34" name="Text 32"/>
          <p:cNvSpPr/>
          <p:nvPr/>
        </p:nvSpPr>
        <p:spPr>
          <a:xfrm>
            <a:off x="6408420" y="4731902"/>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5" name="Text 33"/>
          <p:cNvSpPr/>
          <p:nvPr/>
        </p:nvSpPr>
        <p:spPr>
          <a:xfrm>
            <a:off x="6903720" y="4731902"/>
            <a:ext cx="47529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Liter" pitchFamily="34" charset="0"/>
                <a:ea typeface="Liter" pitchFamily="34" charset="-122"/>
                <a:cs typeface="Liter" pitchFamily="34" charset="-120"/>
              </a:rPr>
              <a:t>Analyze via Visual &amp; Histogram</a:t>
            </a:r>
            <a:endParaRPr lang="en-US" sz="1600" dirty="0"/>
          </a:p>
        </p:txBody>
      </p:sp>
      <p:sp>
        <p:nvSpPr>
          <p:cNvPr id="36" name="Text 34"/>
          <p:cNvSpPr/>
          <p:nvPr/>
        </p:nvSpPr>
        <p:spPr>
          <a:xfrm>
            <a:off x="6903720" y="5036702"/>
            <a:ext cx="4743450" cy="419100"/>
          </a:xfrm>
          <a:prstGeom prst="rect">
            <a:avLst/>
          </a:prstGeom>
          <a:noFill/>
          <a:ln/>
        </p:spPr>
        <p:txBody>
          <a:bodyPr wrap="square" lIns="0" tIns="0" rIns="0" bIns="0" rtlCol="0" anchor="ctr"/>
          <a:lstStyle/>
          <a:p>
            <a:pPr>
              <a:lnSpc>
                <a:spcPct val="110000"/>
              </a:lnSpc>
            </a:pPr>
            <a:r>
              <a:rPr lang="en-US" sz="1200" dirty="0">
                <a:solidFill>
                  <a:srgbClr val="E0E2E5">
                    <a:alpha val="80000"/>
                  </a:srgbClr>
                </a:solidFill>
                <a:latin typeface="Quattrocento Sans" pitchFamily="34" charset="0"/>
                <a:ea typeface="Quattrocento Sans" pitchFamily="34" charset="-122"/>
                <a:cs typeface="Quattrocento Sans" pitchFamily="34" charset="-120"/>
              </a:rPr>
              <a:t>Use qualitative visual comparison and quantitative histogram analysis for performance evaluation.</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B8A890"/>
                </a:solidFill>
                <a:latin typeface="Quattrocento Sans" pitchFamily="34" charset="0"/>
                <a:ea typeface="Quattrocento Sans" pitchFamily="34" charset="-122"/>
                <a:cs typeface="Quattrocento Sans" pitchFamily="34" charset="-120"/>
              </a:rPr>
              <a:t>METHODOLOGY</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Liter" pitchFamily="34" charset="0"/>
                <a:ea typeface="Liter" pitchFamily="34" charset="-122"/>
                <a:cs typeface="Liter" pitchFamily="34" charset="-120"/>
              </a:rPr>
              <a:t>Processing Pipeline &amp; Experimental Design</a:t>
            </a:r>
            <a:endParaRPr lang="en-US" sz="1600" dirty="0"/>
          </a:p>
        </p:txBody>
      </p:sp>
      <p:sp>
        <p:nvSpPr>
          <p:cNvPr id="4" name="Shape 2"/>
          <p:cNvSpPr/>
          <p:nvPr/>
        </p:nvSpPr>
        <p:spPr>
          <a:xfrm>
            <a:off x="400050" y="1371600"/>
            <a:ext cx="3667125" cy="1743075"/>
          </a:xfrm>
          <a:custGeom>
            <a:avLst/>
            <a:gdLst/>
            <a:ahLst/>
            <a:cxnLst/>
            <a:rect l="l" t="t" r="r" b="b"/>
            <a:pathLst>
              <a:path w="3667125" h="1743075">
                <a:moveTo>
                  <a:pt x="38100" y="0"/>
                </a:moveTo>
                <a:lnTo>
                  <a:pt x="3552832" y="0"/>
                </a:lnTo>
                <a:cubicBezTo>
                  <a:pt x="3615912" y="0"/>
                  <a:pt x="3667125" y="51213"/>
                  <a:pt x="3667125" y="114293"/>
                </a:cubicBezTo>
                <a:lnTo>
                  <a:pt x="3667125" y="1628782"/>
                </a:lnTo>
                <a:cubicBezTo>
                  <a:pt x="3667125" y="1691862"/>
                  <a:pt x="3615912" y="1743075"/>
                  <a:pt x="3552832" y="1743075"/>
                </a:cubicBezTo>
                <a:lnTo>
                  <a:pt x="38100" y="1743075"/>
                </a:lnTo>
                <a:cubicBezTo>
                  <a:pt x="17072" y="1743075"/>
                  <a:pt x="0" y="1726003"/>
                  <a:pt x="0" y="1704975"/>
                </a:cubicBezTo>
                <a:lnTo>
                  <a:pt x="0" y="38100"/>
                </a:lnTo>
                <a:cubicBezTo>
                  <a:pt x="0" y="17072"/>
                  <a:pt x="17072" y="0"/>
                  <a:pt x="38100" y="0"/>
                </a:cubicBezTo>
                <a:close/>
              </a:path>
            </a:pathLst>
          </a:custGeom>
          <a:solidFill>
            <a:srgbClr val="4A6C8C">
              <a:alpha val="10196"/>
            </a:srgbClr>
          </a:solidFill>
          <a:ln/>
        </p:spPr>
        <p:txBody>
          <a:bodyPr/>
          <a:lstStyle/>
          <a:p>
            <a:endParaRPr lang="en-US"/>
          </a:p>
        </p:txBody>
      </p:sp>
      <p:sp>
        <p:nvSpPr>
          <p:cNvPr id="5" name="Shape 3"/>
          <p:cNvSpPr/>
          <p:nvPr/>
        </p:nvSpPr>
        <p:spPr>
          <a:xfrm>
            <a:off x="400050" y="1371600"/>
            <a:ext cx="38100" cy="1743075"/>
          </a:xfrm>
          <a:custGeom>
            <a:avLst/>
            <a:gdLst/>
            <a:ahLst/>
            <a:cxnLst/>
            <a:rect l="l" t="t" r="r" b="b"/>
            <a:pathLst>
              <a:path w="38100" h="1743075">
                <a:moveTo>
                  <a:pt x="38100" y="0"/>
                </a:moveTo>
                <a:lnTo>
                  <a:pt x="38100" y="0"/>
                </a:lnTo>
                <a:lnTo>
                  <a:pt x="38100" y="1743075"/>
                </a:lnTo>
                <a:lnTo>
                  <a:pt x="38100" y="1743075"/>
                </a:lnTo>
                <a:cubicBezTo>
                  <a:pt x="17072" y="1743075"/>
                  <a:pt x="0" y="1726003"/>
                  <a:pt x="0" y="1704975"/>
                </a:cubicBezTo>
                <a:lnTo>
                  <a:pt x="0" y="38100"/>
                </a:lnTo>
                <a:cubicBezTo>
                  <a:pt x="0" y="17072"/>
                  <a:pt x="17072" y="0"/>
                  <a:pt x="38100" y="0"/>
                </a:cubicBezTo>
                <a:close/>
              </a:path>
            </a:pathLst>
          </a:custGeom>
          <a:solidFill>
            <a:srgbClr val="4A6C8C"/>
          </a:solidFill>
          <a:ln/>
        </p:spPr>
        <p:txBody>
          <a:bodyPr/>
          <a:lstStyle/>
          <a:p>
            <a:endParaRPr lang="en-US"/>
          </a:p>
        </p:txBody>
      </p:sp>
      <p:sp>
        <p:nvSpPr>
          <p:cNvPr id="6" name="Shape 4"/>
          <p:cNvSpPr/>
          <p:nvPr/>
        </p:nvSpPr>
        <p:spPr>
          <a:xfrm>
            <a:off x="1974771" y="15621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6C8C"/>
          </a:solidFill>
          <a:ln/>
        </p:spPr>
        <p:txBody>
          <a:bodyPr/>
          <a:lstStyle/>
          <a:p>
            <a:endParaRPr lang="en-US"/>
          </a:p>
        </p:txBody>
      </p:sp>
      <p:sp>
        <p:nvSpPr>
          <p:cNvPr id="7" name="Shape 5"/>
          <p:cNvSpPr/>
          <p:nvPr/>
        </p:nvSpPr>
        <p:spPr>
          <a:xfrm>
            <a:off x="2141458" y="1714500"/>
            <a:ext cx="200025" cy="228600"/>
          </a:xfrm>
          <a:custGeom>
            <a:avLst/>
            <a:gdLst/>
            <a:ahLst/>
            <a:cxnLst/>
            <a:rect l="l" t="t" r="r" b="b"/>
            <a:pathLst>
              <a:path w="200025" h="228600">
                <a:moveTo>
                  <a:pt x="28575" y="14288"/>
                </a:moveTo>
                <a:cubicBezTo>
                  <a:pt x="12814" y="14288"/>
                  <a:pt x="0" y="27102"/>
                  <a:pt x="0" y="42863"/>
                </a:cubicBezTo>
                <a:lnTo>
                  <a:pt x="0" y="185738"/>
                </a:lnTo>
                <a:cubicBezTo>
                  <a:pt x="0" y="201498"/>
                  <a:pt x="12814" y="214313"/>
                  <a:pt x="28575" y="214313"/>
                </a:cubicBezTo>
                <a:lnTo>
                  <a:pt x="171450" y="214313"/>
                </a:lnTo>
                <a:cubicBezTo>
                  <a:pt x="187211" y="214313"/>
                  <a:pt x="200025" y="201498"/>
                  <a:pt x="200025" y="185738"/>
                </a:cubicBezTo>
                <a:lnTo>
                  <a:pt x="200025" y="42863"/>
                </a:lnTo>
                <a:cubicBezTo>
                  <a:pt x="200025" y="27102"/>
                  <a:pt x="187211" y="14288"/>
                  <a:pt x="171450" y="14288"/>
                </a:cubicBezTo>
                <a:lnTo>
                  <a:pt x="28575" y="14288"/>
                </a:lnTo>
                <a:close/>
                <a:moveTo>
                  <a:pt x="57150" y="50006"/>
                </a:moveTo>
                <a:cubicBezTo>
                  <a:pt x="68978" y="50006"/>
                  <a:pt x="78581" y="59609"/>
                  <a:pt x="78581" y="71438"/>
                </a:cubicBezTo>
                <a:cubicBezTo>
                  <a:pt x="78581" y="83266"/>
                  <a:pt x="68978" y="92869"/>
                  <a:pt x="57150" y="92869"/>
                </a:cubicBezTo>
                <a:cubicBezTo>
                  <a:pt x="45322" y="92869"/>
                  <a:pt x="35719" y="83266"/>
                  <a:pt x="35719" y="71438"/>
                </a:cubicBezTo>
                <a:cubicBezTo>
                  <a:pt x="35719" y="59609"/>
                  <a:pt x="45322" y="50006"/>
                  <a:pt x="57150" y="50006"/>
                </a:cubicBezTo>
                <a:close/>
                <a:moveTo>
                  <a:pt x="121444" y="100013"/>
                </a:moveTo>
                <a:cubicBezTo>
                  <a:pt x="125194" y="100013"/>
                  <a:pt x="128632" y="101977"/>
                  <a:pt x="130597" y="105147"/>
                </a:cubicBezTo>
                <a:lnTo>
                  <a:pt x="169887" y="169441"/>
                </a:lnTo>
                <a:cubicBezTo>
                  <a:pt x="171896" y="172745"/>
                  <a:pt x="171986" y="176897"/>
                  <a:pt x="170111" y="180290"/>
                </a:cubicBezTo>
                <a:cubicBezTo>
                  <a:pt x="168235" y="183684"/>
                  <a:pt x="164619" y="185738"/>
                  <a:pt x="160734" y="185738"/>
                </a:cubicBezTo>
                <a:lnTo>
                  <a:pt x="39291" y="185738"/>
                </a:lnTo>
                <a:cubicBezTo>
                  <a:pt x="35317" y="185738"/>
                  <a:pt x="31611" y="183505"/>
                  <a:pt x="29781" y="179978"/>
                </a:cubicBezTo>
                <a:cubicBezTo>
                  <a:pt x="27950" y="176451"/>
                  <a:pt x="28218" y="172164"/>
                  <a:pt x="30495" y="168905"/>
                </a:cubicBezTo>
                <a:lnTo>
                  <a:pt x="55498" y="133186"/>
                </a:lnTo>
                <a:cubicBezTo>
                  <a:pt x="57507" y="130329"/>
                  <a:pt x="60767" y="128632"/>
                  <a:pt x="64294" y="128632"/>
                </a:cubicBezTo>
                <a:cubicBezTo>
                  <a:pt x="67821" y="128632"/>
                  <a:pt x="71080" y="130329"/>
                  <a:pt x="73089" y="133186"/>
                </a:cubicBezTo>
                <a:lnTo>
                  <a:pt x="84877" y="150063"/>
                </a:lnTo>
                <a:lnTo>
                  <a:pt x="112291" y="105192"/>
                </a:lnTo>
                <a:cubicBezTo>
                  <a:pt x="114255" y="102022"/>
                  <a:pt x="117693" y="100057"/>
                  <a:pt x="121444" y="100057"/>
                </a:cubicBezTo>
                <a:close/>
              </a:path>
            </a:pathLst>
          </a:custGeom>
          <a:solidFill>
            <a:srgbClr val="E0E2E5"/>
          </a:solidFill>
          <a:ln/>
        </p:spPr>
        <p:txBody>
          <a:bodyPr/>
          <a:lstStyle/>
          <a:p>
            <a:endParaRPr lang="en-US"/>
          </a:p>
        </p:txBody>
      </p:sp>
      <p:sp>
        <p:nvSpPr>
          <p:cNvPr id="8" name="Text 6"/>
          <p:cNvSpPr/>
          <p:nvPr/>
        </p:nvSpPr>
        <p:spPr>
          <a:xfrm>
            <a:off x="561975" y="220980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Liter" pitchFamily="34" charset="0"/>
                <a:ea typeface="Liter" pitchFamily="34" charset="-122"/>
                <a:cs typeface="Liter" pitchFamily="34" charset="-120"/>
              </a:rPr>
              <a:t>Grayscale Conversion</a:t>
            </a:r>
            <a:endParaRPr lang="en-US" sz="1600" dirty="0"/>
          </a:p>
        </p:txBody>
      </p:sp>
      <p:sp>
        <p:nvSpPr>
          <p:cNvPr id="9" name="Text 7"/>
          <p:cNvSpPr/>
          <p:nvPr/>
        </p:nvSpPr>
        <p:spPr>
          <a:xfrm>
            <a:off x="576263" y="2552700"/>
            <a:ext cx="3333750" cy="371475"/>
          </a:xfrm>
          <a:prstGeom prst="rect">
            <a:avLst/>
          </a:prstGeom>
          <a:noFill/>
          <a:ln/>
        </p:spPr>
        <p:txBody>
          <a:bodyPr wrap="square" lIns="0" tIns="0" rIns="0" bIns="0" rtlCol="0" anchor="ctr"/>
          <a:lstStyle/>
          <a:p>
            <a:pPr algn="ctr">
              <a:lnSpc>
                <a:spcPct val="11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Original image converted to grayscale to simplify processing and reduce computational complexity.</a:t>
            </a:r>
            <a:endParaRPr lang="en-US" sz="1600" dirty="0"/>
          </a:p>
        </p:txBody>
      </p:sp>
      <p:sp>
        <p:nvSpPr>
          <p:cNvPr id="10" name="Shape 8"/>
          <p:cNvSpPr/>
          <p:nvPr/>
        </p:nvSpPr>
        <p:spPr>
          <a:xfrm>
            <a:off x="4273510" y="1371600"/>
            <a:ext cx="3667125" cy="1743075"/>
          </a:xfrm>
          <a:custGeom>
            <a:avLst/>
            <a:gdLst/>
            <a:ahLst/>
            <a:cxnLst/>
            <a:rect l="l" t="t" r="r" b="b"/>
            <a:pathLst>
              <a:path w="3667125" h="1743075">
                <a:moveTo>
                  <a:pt x="38100" y="0"/>
                </a:moveTo>
                <a:lnTo>
                  <a:pt x="3552832" y="0"/>
                </a:lnTo>
                <a:cubicBezTo>
                  <a:pt x="3615912" y="0"/>
                  <a:pt x="3667125" y="51213"/>
                  <a:pt x="3667125" y="114293"/>
                </a:cubicBezTo>
                <a:lnTo>
                  <a:pt x="3667125" y="1628782"/>
                </a:lnTo>
                <a:cubicBezTo>
                  <a:pt x="3667125" y="1691862"/>
                  <a:pt x="3615912" y="1743075"/>
                  <a:pt x="3552832" y="1743075"/>
                </a:cubicBezTo>
                <a:lnTo>
                  <a:pt x="38100" y="1743075"/>
                </a:lnTo>
                <a:cubicBezTo>
                  <a:pt x="17072" y="1743075"/>
                  <a:pt x="0" y="1726003"/>
                  <a:pt x="0" y="1704975"/>
                </a:cubicBezTo>
                <a:lnTo>
                  <a:pt x="0" y="38100"/>
                </a:lnTo>
                <a:cubicBezTo>
                  <a:pt x="0" y="17072"/>
                  <a:pt x="17072" y="0"/>
                  <a:pt x="38100" y="0"/>
                </a:cubicBezTo>
                <a:close/>
              </a:path>
            </a:pathLst>
          </a:custGeom>
          <a:solidFill>
            <a:srgbClr val="5A7D7C">
              <a:alpha val="10196"/>
            </a:srgbClr>
          </a:solidFill>
          <a:ln/>
        </p:spPr>
        <p:txBody>
          <a:bodyPr/>
          <a:lstStyle/>
          <a:p>
            <a:endParaRPr lang="en-US"/>
          </a:p>
        </p:txBody>
      </p:sp>
      <p:sp>
        <p:nvSpPr>
          <p:cNvPr id="11" name="Shape 9"/>
          <p:cNvSpPr/>
          <p:nvPr/>
        </p:nvSpPr>
        <p:spPr>
          <a:xfrm>
            <a:off x="4273510" y="1371600"/>
            <a:ext cx="38100" cy="1743075"/>
          </a:xfrm>
          <a:custGeom>
            <a:avLst/>
            <a:gdLst/>
            <a:ahLst/>
            <a:cxnLst/>
            <a:rect l="l" t="t" r="r" b="b"/>
            <a:pathLst>
              <a:path w="38100" h="1743075">
                <a:moveTo>
                  <a:pt x="38100" y="0"/>
                </a:moveTo>
                <a:lnTo>
                  <a:pt x="38100" y="0"/>
                </a:lnTo>
                <a:lnTo>
                  <a:pt x="38100" y="1743075"/>
                </a:lnTo>
                <a:lnTo>
                  <a:pt x="38100" y="1743075"/>
                </a:lnTo>
                <a:cubicBezTo>
                  <a:pt x="17072" y="1743075"/>
                  <a:pt x="0" y="1726003"/>
                  <a:pt x="0" y="1704975"/>
                </a:cubicBezTo>
                <a:lnTo>
                  <a:pt x="0" y="38100"/>
                </a:lnTo>
                <a:cubicBezTo>
                  <a:pt x="0" y="17072"/>
                  <a:pt x="17072" y="0"/>
                  <a:pt x="38100" y="0"/>
                </a:cubicBezTo>
                <a:close/>
              </a:path>
            </a:pathLst>
          </a:custGeom>
          <a:solidFill>
            <a:srgbClr val="5A7D7C"/>
          </a:solidFill>
          <a:ln/>
        </p:spPr>
        <p:txBody>
          <a:bodyPr/>
          <a:lstStyle/>
          <a:p>
            <a:endParaRPr lang="en-US"/>
          </a:p>
        </p:txBody>
      </p:sp>
      <p:sp>
        <p:nvSpPr>
          <p:cNvPr id="12" name="Shape 10"/>
          <p:cNvSpPr/>
          <p:nvPr/>
        </p:nvSpPr>
        <p:spPr>
          <a:xfrm>
            <a:off x="5848231" y="15621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A7D7C"/>
          </a:solidFill>
          <a:ln/>
        </p:spPr>
        <p:txBody>
          <a:bodyPr/>
          <a:lstStyle/>
          <a:p>
            <a:endParaRPr lang="en-US"/>
          </a:p>
        </p:txBody>
      </p:sp>
      <p:sp>
        <p:nvSpPr>
          <p:cNvPr id="13" name="Shape 11"/>
          <p:cNvSpPr/>
          <p:nvPr/>
        </p:nvSpPr>
        <p:spPr>
          <a:xfrm>
            <a:off x="6000631" y="1714500"/>
            <a:ext cx="228600" cy="228600"/>
          </a:xfrm>
          <a:custGeom>
            <a:avLst/>
            <a:gdLst/>
            <a:ahLst/>
            <a:cxnLst/>
            <a:rect l="l" t="t" r="r" b="b"/>
            <a:pathLst>
              <a:path w="228600" h="228600">
                <a:moveTo>
                  <a:pt x="180290" y="15359"/>
                </a:moveTo>
                <a:cubicBezTo>
                  <a:pt x="185648" y="13127"/>
                  <a:pt x="191765" y="14377"/>
                  <a:pt x="195873" y="18440"/>
                </a:cubicBezTo>
                <a:lnTo>
                  <a:pt x="224448" y="47015"/>
                </a:lnTo>
                <a:cubicBezTo>
                  <a:pt x="227127" y="49694"/>
                  <a:pt x="228645" y="53310"/>
                  <a:pt x="228645" y="57105"/>
                </a:cubicBezTo>
                <a:cubicBezTo>
                  <a:pt x="228645" y="60900"/>
                  <a:pt x="227127" y="64517"/>
                  <a:pt x="224448" y="67196"/>
                </a:cubicBezTo>
                <a:lnTo>
                  <a:pt x="195873" y="95771"/>
                </a:lnTo>
                <a:cubicBezTo>
                  <a:pt x="191765" y="99879"/>
                  <a:pt x="185648" y="101084"/>
                  <a:pt x="180290" y="98852"/>
                </a:cubicBezTo>
                <a:cubicBezTo>
                  <a:pt x="174933" y="96619"/>
                  <a:pt x="171450" y="91485"/>
                  <a:pt x="171450" y="85725"/>
                </a:cubicBezTo>
                <a:lnTo>
                  <a:pt x="171450" y="71438"/>
                </a:lnTo>
                <a:lnTo>
                  <a:pt x="157163" y="71438"/>
                </a:lnTo>
                <a:cubicBezTo>
                  <a:pt x="152653" y="71438"/>
                  <a:pt x="148411" y="73536"/>
                  <a:pt x="145733" y="77153"/>
                </a:cubicBezTo>
                <a:lnTo>
                  <a:pt x="131266" y="96441"/>
                </a:lnTo>
                <a:lnTo>
                  <a:pt x="113407" y="72643"/>
                </a:lnTo>
                <a:lnTo>
                  <a:pt x="122873" y="60007"/>
                </a:lnTo>
                <a:cubicBezTo>
                  <a:pt x="130954" y="49203"/>
                  <a:pt x="143679" y="42863"/>
                  <a:pt x="157163" y="42863"/>
                </a:cubicBezTo>
                <a:lnTo>
                  <a:pt x="171450" y="42863"/>
                </a:lnTo>
                <a:lnTo>
                  <a:pt x="171450" y="28575"/>
                </a:lnTo>
                <a:cubicBezTo>
                  <a:pt x="171450" y="22815"/>
                  <a:pt x="174933" y="17591"/>
                  <a:pt x="180290" y="15359"/>
                </a:cubicBezTo>
                <a:close/>
                <a:moveTo>
                  <a:pt x="68759" y="132159"/>
                </a:moveTo>
                <a:lnTo>
                  <a:pt x="86618" y="155957"/>
                </a:lnTo>
                <a:lnTo>
                  <a:pt x="77153" y="168593"/>
                </a:lnTo>
                <a:cubicBezTo>
                  <a:pt x="69071" y="179397"/>
                  <a:pt x="56346" y="185738"/>
                  <a:pt x="42863" y="185738"/>
                </a:cubicBezTo>
                <a:lnTo>
                  <a:pt x="14288" y="185738"/>
                </a:lnTo>
                <a:cubicBezTo>
                  <a:pt x="6385" y="185738"/>
                  <a:pt x="0" y="179353"/>
                  <a:pt x="0" y="171450"/>
                </a:cubicBezTo>
                <a:cubicBezTo>
                  <a:pt x="0" y="163547"/>
                  <a:pt x="6385" y="157163"/>
                  <a:pt x="14288" y="157163"/>
                </a:cubicBezTo>
                <a:lnTo>
                  <a:pt x="42863" y="157163"/>
                </a:lnTo>
                <a:cubicBezTo>
                  <a:pt x="47372" y="157163"/>
                  <a:pt x="51614" y="155064"/>
                  <a:pt x="54293" y="151448"/>
                </a:cubicBezTo>
                <a:lnTo>
                  <a:pt x="68759" y="132159"/>
                </a:lnTo>
                <a:close/>
                <a:moveTo>
                  <a:pt x="195828" y="210116"/>
                </a:moveTo>
                <a:cubicBezTo>
                  <a:pt x="191720" y="214223"/>
                  <a:pt x="185604" y="215429"/>
                  <a:pt x="180246" y="213196"/>
                </a:cubicBezTo>
                <a:cubicBezTo>
                  <a:pt x="174888" y="210964"/>
                  <a:pt x="171450" y="205785"/>
                  <a:pt x="171450" y="200025"/>
                </a:cubicBezTo>
                <a:lnTo>
                  <a:pt x="171450" y="185738"/>
                </a:lnTo>
                <a:lnTo>
                  <a:pt x="157163" y="185738"/>
                </a:lnTo>
                <a:cubicBezTo>
                  <a:pt x="143679" y="185738"/>
                  <a:pt x="130954" y="179397"/>
                  <a:pt x="122873" y="168593"/>
                </a:cubicBezTo>
                <a:lnTo>
                  <a:pt x="54293" y="77153"/>
                </a:lnTo>
                <a:cubicBezTo>
                  <a:pt x="51614" y="73536"/>
                  <a:pt x="47372" y="71438"/>
                  <a:pt x="42863" y="71438"/>
                </a:cubicBezTo>
                <a:lnTo>
                  <a:pt x="14288" y="71438"/>
                </a:lnTo>
                <a:cubicBezTo>
                  <a:pt x="6385" y="71438"/>
                  <a:pt x="0" y="65053"/>
                  <a:pt x="0" y="57150"/>
                </a:cubicBezTo>
                <a:cubicBezTo>
                  <a:pt x="0" y="49247"/>
                  <a:pt x="6385" y="42863"/>
                  <a:pt x="14288" y="42863"/>
                </a:cubicBezTo>
                <a:lnTo>
                  <a:pt x="42863" y="42863"/>
                </a:lnTo>
                <a:cubicBezTo>
                  <a:pt x="56346" y="42863"/>
                  <a:pt x="69071" y="49203"/>
                  <a:pt x="77153" y="60008"/>
                </a:cubicBezTo>
                <a:lnTo>
                  <a:pt x="145733" y="151448"/>
                </a:lnTo>
                <a:cubicBezTo>
                  <a:pt x="148411" y="155064"/>
                  <a:pt x="152653" y="157163"/>
                  <a:pt x="157163" y="157163"/>
                </a:cubicBezTo>
                <a:lnTo>
                  <a:pt x="171450" y="157163"/>
                </a:lnTo>
                <a:lnTo>
                  <a:pt x="171450" y="142875"/>
                </a:lnTo>
                <a:cubicBezTo>
                  <a:pt x="171450" y="137115"/>
                  <a:pt x="174933" y="131891"/>
                  <a:pt x="180290" y="129659"/>
                </a:cubicBezTo>
                <a:cubicBezTo>
                  <a:pt x="185648" y="127427"/>
                  <a:pt x="191765" y="128677"/>
                  <a:pt x="195873" y="132740"/>
                </a:cubicBezTo>
                <a:lnTo>
                  <a:pt x="224448" y="161315"/>
                </a:lnTo>
                <a:cubicBezTo>
                  <a:pt x="227127" y="163994"/>
                  <a:pt x="228645" y="167610"/>
                  <a:pt x="228645" y="171405"/>
                </a:cubicBezTo>
                <a:cubicBezTo>
                  <a:pt x="228645" y="175200"/>
                  <a:pt x="227127" y="178817"/>
                  <a:pt x="224448" y="181496"/>
                </a:cubicBezTo>
                <a:lnTo>
                  <a:pt x="195873" y="210071"/>
                </a:lnTo>
                <a:close/>
              </a:path>
            </a:pathLst>
          </a:custGeom>
          <a:solidFill>
            <a:srgbClr val="E0E2E5"/>
          </a:solidFill>
          <a:ln/>
        </p:spPr>
        <p:txBody>
          <a:bodyPr/>
          <a:lstStyle/>
          <a:p>
            <a:endParaRPr lang="en-US"/>
          </a:p>
        </p:txBody>
      </p:sp>
      <p:sp>
        <p:nvSpPr>
          <p:cNvPr id="14" name="Text 12"/>
          <p:cNvSpPr/>
          <p:nvPr/>
        </p:nvSpPr>
        <p:spPr>
          <a:xfrm>
            <a:off x="4435435" y="220980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Liter" pitchFamily="34" charset="0"/>
                <a:ea typeface="Liter" pitchFamily="34" charset="-122"/>
                <a:cs typeface="Liter" pitchFamily="34" charset="-120"/>
              </a:rPr>
              <a:t>Noise Injection</a:t>
            </a:r>
            <a:endParaRPr lang="en-US" sz="1600" dirty="0"/>
          </a:p>
        </p:txBody>
      </p:sp>
      <p:sp>
        <p:nvSpPr>
          <p:cNvPr id="15" name="Text 13"/>
          <p:cNvSpPr/>
          <p:nvPr/>
        </p:nvSpPr>
        <p:spPr>
          <a:xfrm>
            <a:off x="4449723" y="2552700"/>
            <a:ext cx="3333750" cy="371475"/>
          </a:xfrm>
          <a:prstGeom prst="rect">
            <a:avLst/>
          </a:prstGeom>
          <a:noFill/>
          <a:ln/>
        </p:spPr>
        <p:txBody>
          <a:bodyPr wrap="square" lIns="0" tIns="0" rIns="0" bIns="0" rtlCol="0" anchor="ctr"/>
          <a:lstStyle/>
          <a:p>
            <a:pPr algn="ctr">
              <a:lnSpc>
                <a:spcPct val="11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Two major noise types added to simulate real-world medical imaging degradation.</a:t>
            </a:r>
            <a:endParaRPr lang="en-US" sz="1600" dirty="0"/>
          </a:p>
        </p:txBody>
      </p:sp>
      <p:sp>
        <p:nvSpPr>
          <p:cNvPr id="16" name="Shape 14"/>
          <p:cNvSpPr/>
          <p:nvPr/>
        </p:nvSpPr>
        <p:spPr>
          <a:xfrm>
            <a:off x="8146971" y="1371600"/>
            <a:ext cx="3667125" cy="1743075"/>
          </a:xfrm>
          <a:custGeom>
            <a:avLst/>
            <a:gdLst/>
            <a:ahLst/>
            <a:cxnLst/>
            <a:rect l="l" t="t" r="r" b="b"/>
            <a:pathLst>
              <a:path w="3667125" h="1743075">
                <a:moveTo>
                  <a:pt x="38100" y="0"/>
                </a:moveTo>
                <a:lnTo>
                  <a:pt x="3552832" y="0"/>
                </a:lnTo>
                <a:cubicBezTo>
                  <a:pt x="3615912" y="0"/>
                  <a:pt x="3667125" y="51213"/>
                  <a:pt x="3667125" y="114293"/>
                </a:cubicBezTo>
                <a:lnTo>
                  <a:pt x="3667125" y="1628782"/>
                </a:lnTo>
                <a:cubicBezTo>
                  <a:pt x="3667125" y="1691862"/>
                  <a:pt x="3615912" y="1743075"/>
                  <a:pt x="3552832" y="1743075"/>
                </a:cubicBezTo>
                <a:lnTo>
                  <a:pt x="38100" y="1743075"/>
                </a:lnTo>
                <a:cubicBezTo>
                  <a:pt x="17072" y="1743075"/>
                  <a:pt x="0" y="1726003"/>
                  <a:pt x="0" y="1704975"/>
                </a:cubicBezTo>
                <a:lnTo>
                  <a:pt x="0" y="38100"/>
                </a:lnTo>
                <a:cubicBezTo>
                  <a:pt x="0" y="17072"/>
                  <a:pt x="17072" y="0"/>
                  <a:pt x="38100" y="0"/>
                </a:cubicBezTo>
                <a:close/>
              </a:path>
            </a:pathLst>
          </a:custGeom>
          <a:solidFill>
            <a:srgbClr val="B8A890">
              <a:alpha val="10196"/>
            </a:srgbClr>
          </a:solidFill>
          <a:ln/>
        </p:spPr>
        <p:txBody>
          <a:bodyPr/>
          <a:lstStyle/>
          <a:p>
            <a:endParaRPr lang="en-US"/>
          </a:p>
        </p:txBody>
      </p:sp>
      <p:sp>
        <p:nvSpPr>
          <p:cNvPr id="17" name="Shape 15"/>
          <p:cNvSpPr/>
          <p:nvPr/>
        </p:nvSpPr>
        <p:spPr>
          <a:xfrm>
            <a:off x="8146971" y="1371600"/>
            <a:ext cx="38100" cy="1743075"/>
          </a:xfrm>
          <a:custGeom>
            <a:avLst/>
            <a:gdLst/>
            <a:ahLst/>
            <a:cxnLst/>
            <a:rect l="l" t="t" r="r" b="b"/>
            <a:pathLst>
              <a:path w="38100" h="1743075">
                <a:moveTo>
                  <a:pt x="38100" y="0"/>
                </a:moveTo>
                <a:lnTo>
                  <a:pt x="38100" y="0"/>
                </a:lnTo>
                <a:lnTo>
                  <a:pt x="38100" y="1743075"/>
                </a:lnTo>
                <a:lnTo>
                  <a:pt x="38100" y="1743075"/>
                </a:lnTo>
                <a:cubicBezTo>
                  <a:pt x="17072" y="1743075"/>
                  <a:pt x="0" y="1726003"/>
                  <a:pt x="0" y="1704975"/>
                </a:cubicBezTo>
                <a:lnTo>
                  <a:pt x="0" y="38100"/>
                </a:lnTo>
                <a:cubicBezTo>
                  <a:pt x="0" y="17072"/>
                  <a:pt x="17072" y="0"/>
                  <a:pt x="38100" y="0"/>
                </a:cubicBezTo>
                <a:close/>
              </a:path>
            </a:pathLst>
          </a:custGeom>
          <a:solidFill>
            <a:srgbClr val="B8A890"/>
          </a:solidFill>
          <a:ln/>
        </p:spPr>
        <p:txBody>
          <a:bodyPr/>
          <a:lstStyle/>
          <a:p>
            <a:endParaRPr lang="en-US"/>
          </a:p>
        </p:txBody>
      </p:sp>
      <p:sp>
        <p:nvSpPr>
          <p:cNvPr id="18" name="Shape 16"/>
          <p:cNvSpPr/>
          <p:nvPr/>
        </p:nvSpPr>
        <p:spPr>
          <a:xfrm>
            <a:off x="9721811" y="15621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B8A890"/>
          </a:solidFill>
          <a:ln/>
        </p:spPr>
        <p:txBody>
          <a:bodyPr/>
          <a:lstStyle/>
          <a:p>
            <a:endParaRPr lang="en-US"/>
          </a:p>
        </p:txBody>
      </p:sp>
      <p:sp>
        <p:nvSpPr>
          <p:cNvPr id="19" name="Shape 17"/>
          <p:cNvSpPr/>
          <p:nvPr/>
        </p:nvSpPr>
        <p:spPr>
          <a:xfrm>
            <a:off x="9874210" y="1714500"/>
            <a:ext cx="228600" cy="228600"/>
          </a:xfrm>
          <a:custGeom>
            <a:avLst/>
            <a:gdLst/>
            <a:ahLst/>
            <a:cxnLst/>
            <a:rect l="l" t="t" r="r" b="b"/>
            <a:pathLst>
              <a:path w="228600" h="228600">
                <a:moveTo>
                  <a:pt x="14288" y="28575"/>
                </a:moveTo>
                <a:cubicBezTo>
                  <a:pt x="8528" y="28575"/>
                  <a:pt x="3304" y="32058"/>
                  <a:pt x="1072" y="37415"/>
                </a:cubicBezTo>
                <a:cubicBezTo>
                  <a:pt x="-1161" y="42773"/>
                  <a:pt x="89" y="48890"/>
                  <a:pt x="4197" y="52953"/>
                </a:cubicBezTo>
                <a:lnTo>
                  <a:pt x="85725" y="134526"/>
                </a:lnTo>
                <a:lnTo>
                  <a:pt x="85725" y="185738"/>
                </a:lnTo>
                <a:cubicBezTo>
                  <a:pt x="85725" y="189533"/>
                  <a:pt x="87243" y="193149"/>
                  <a:pt x="89922" y="195828"/>
                </a:cubicBezTo>
                <a:lnTo>
                  <a:pt x="118497" y="224403"/>
                </a:lnTo>
                <a:cubicBezTo>
                  <a:pt x="122605" y="228511"/>
                  <a:pt x="128721" y="229716"/>
                  <a:pt x="134079" y="227484"/>
                </a:cubicBezTo>
                <a:cubicBezTo>
                  <a:pt x="139437" y="225251"/>
                  <a:pt x="142875" y="220072"/>
                  <a:pt x="142875" y="214313"/>
                </a:cubicBezTo>
                <a:lnTo>
                  <a:pt x="142875" y="134526"/>
                </a:lnTo>
                <a:lnTo>
                  <a:pt x="224403" y="52998"/>
                </a:lnTo>
                <a:cubicBezTo>
                  <a:pt x="228511" y="48890"/>
                  <a:pt x="229716" y="42773"/>
                  <a:pt x="227484" y="37415"/>
                </a:cubicBezTo>
                <a:cubicBezTo>
                  <a:pt x="225251" y="32058"/>
                  <a:pt x="220072" y="28575"/>
                  <a:pt x="214313" y="28575"/>
                </a:cubicBezTo>
                <a:lnTo>
                  <a:pt x="14288" y="28575"/>
                </a:lnTo>
                <a:close/>
              </a:path>
            </a:pathLst>
          </a:custGeom>
          <a:solidFill>
            <a:srgbClr val="1A1D21"/>
          </a:solidFill>
          <a:ln/>
        </p:spPr>
        <p:txBody>
          <a:bodyPr/>
          <a:lstStyle/>
          <a:p>
            <a:endParaRPr lang="en-US"/>
          </a:p>
        </p:txBody>
      </p:sp>
      <p:sp>
        <p:nvSpPr>
          <p:cNvPr id="20" name="Text 18"/>
          <p:cNvSpPr/>
          <p:nvPr/>
        </p:nvSpPr>
        <p:spPr>
          <a:xfrm>
            <a:off x="8308896" y="220980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Liter" pitchFamily="34" charset="0"/>
                <a:ea typeface="Liter" pitchFamily="34" charset="-122"/>
                <a:cs typeface="Liter" pitchFamily="34" charset="-120"/>
              </a:rPr>
              <a:t>Adaptive Filtering</a:t>
            </a:r>
            <a:endParaRPr lang="en-US" sz="1600" dirty="0"/>
          </a:p>
        </p:txBody>
      </p:sp>
      <p:sp>
        <p:nvSpPr>
          <p:cNvPr id="21" name="Text 19"/>
          <p:cNvSpPr/>
          <p:nvPr/>
        </p:nvSpPr>
        <p:spPr>
          <a:xfrm>
            <a:off x="8323183" y="2552700"/>
            <a:ext cx="3333750" cy="371475"/>
          </a:xfrm>
          <a:prstGeom prst="rect">
            <a:avLst/>
          </a:prstGeom>
          <a:noFill/>
          <a:ln/>
        </p:spPr>
        <p:txBody>
          <a:bodyPr wrap="square" lIns="0" tIns="0" rIns="0" bIns="0" rtlCol="0" anchor="ctr"/>
          <a:lstStyle/>
          <a:p>
            <a:pPr algn="ctr">
              <a:lnSpc>
                <a:spcPct val="110000"/>
              </a:lnSpc>
            </a:pPr>
            <a:r>
              <a:rPr lang="en-US" sz="1050" dirty="0">
                <a:solidFill>
                  <a:srgbClr val="E0E2E5">
                    <a:alpha val="80000"/>
                  </a:srgbClr>
                </a:solidFill>
                <a:latin typeface="Quattrocento Sans" pitchFamily="34" charset="0"/>
                <a:ea typeface="Quattrocento Sans" pitchFamily="34" charset="-122"/>
                <a:cs typeface="Quattrocento Sans" pitchFamily="34" charset="-120"/>
              </a:rPr>
              <a:t>Different filters applied based on noise characteristics for optimal removal.</a:t>
            </a:r>
            <a:endParaRPr lang="en-US" sz="1600" dirty="0"/>
          </a:p>
        </p:txBody>
      </p:sp>
      <p:sp>
        <p:nvSpPr>
          <p:cNvPr id="22" name="Shape 20"/>
          <p:cNvSpPr/>
          <p:nvPr/>
        </p:nvSpPr>
        <p:spPr>
          <a:xfrm>
            <a:off x="384810" y="3342323"/>
            <a:ext cx="5589270" cy="2807970"/>
          </a:xfrm>
          <a:custGeom>
            <a:avLst/>
            <a:gdLst/>
            <a:ahLst/>
            <a:cxnLst/>
            <a:rect l="l" t="t" r="r" b="b"/>
            <a:pathLst>
              <a:path w="5589270" h="2807970">
                <a:moveTo>
                  <a:pt x="114312" y="0"/>
                </a:moveTo>
                <a:lnTo>
                  <a:pt x="5474958" y="0"/>
                </a:lnTo>
                <a:cubicBezTo>
                  <a:pt x="5538091" y="0"/>
                  <a:pt x="5589270" y="51179"/>
                  <a:pt x="5589270" y="114312"/>
                </a:cubicBezTo>
                <a:lnTo>
                  <a:pt x="5589270" y="2693658"/>
                </a:lnTo>
                <a:cubicBezTo>
                  <a:pt x="5589270" y="2756791"/>
                  <a:pt x="5538091" y="2807970"/>
                  <a:pt x="5474958" y="2807970"/>
                </a:cubicBezTo>
                <a:lnTo>
                  <a:pt x="114312" y="2807970"/>
                </a:lnTo>
                <a:cubicBezTo>
                  <a:pt x="51179" y="2807970"/>
                  <a:pt x="0" y="2756791"/>
                  <a:pt x="0" y="2693658"/>
                </a:cubicBezTo>
                <a:lnTo>
                  <a:pt x="0" y="114312"/>
                </a:lnTo>
                <a:cubicBezTo>
                  <a:pt x="0" y="51222"/>
                  <a:pt x="51222" y="0"/>
                  <a:pt x="114312"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23" name="Shape 21"/>
          <p:cNvSpPr/>
          <p:nvPr/>
        </p:nvSpPr>
        <p:spPr>
          <a:xfrm>
            <a:off x="629126" y="3631764"/>
            <a:ext cx="214313" cy="190500"/>
          </a:xfrm>
          <a:custGeom>
            <a:avLst/>
            <a:gdLst/>
            <a:ahLst/>
            <a:cxnLst/>
            <a:rect l="l" t="t" r="r" b="b"/>
            <a:pathLst>
              <a:path w="214313" h="190500">
                <a:moveTo>
                  <a:pt x="202778" y="24185"/>
                </a:moveTo>
                <a:cubicBezTo>
                  <a:pt x="206276" y="20687"/>
                  <a:pt x="206276" y="15032"/>
                  <a:pt x="202778" y="11571"/>
                </a:cubicBezTo>
                <a:cubicBezTo>
                  <a:pt x="199281" y="8111"/>
                  <a:pt x="193625" y="8074"/>
                  <a:pt x="190165" y="11571"/>
                </a:cubicBezTo>
                <a:lnTo>
                  <a:pt x="178184" y="23515"/>
                </a:lnTo>
                <a:cubicBezTo>
                  <a:pt x="168287" y="16222"/>
                  <a:pt x="156083" y="11906"/>
                  <a:pt x="142875" y="11906"/>
                </a:cubicBezTo>
                <a:cubicBezTo>
                  <a:pt x="129815" y="11906"/>
                  <a:pt x="117760" y="16111"/>
                  <a:pt x="107938" y="23217"/>
                </a:cubicBezTo>
                <a:cubicBezTo>
                  <a:pt x="101984" y="27570"/>
                  <a:pt x="105742" y="35719"/>
                  <a:pt x="113109" y="35719"/>
                </a:cubicBezTo>
                <a:lnTo>
                  <a:pt x="122039" y="35719"/>
                </a:lnTo>
                <a:cubicBezTo>
                  <a:pt x="126988" y="35719"/>
                  <a:pt x="130969" y="39700"/>
                  <a:pt x="130969" y="44648"/>
                </a:cubicBezTo>
                <a:lnTo>
                  <a:pt x="130969" y="74414"/>
                </a:lnTo>
                <a:cubicBezTo>
                  <a:pt x="130969" y="79363"/>
                  <a:pt x="134950" y="83344"/>
                  <a:pt x="139898" y="83344"/>
                </a:cubicBezTo>
                <a:lnTo>
                  <a:pt x="169664" y="83344"/>
                </a:lnTo>
                <a:cubicBezTo>
                  <a:pt x="174613" y="83344"/>
                  <a:pt x="178594" y="87325"/>
                  <a:pt x="178594" y="92273"/>
                </a:cubicBezTo>
                <a:lnTo>
                  <a:pt x="178594" y="101203"/>
                </a:lnTo>
                <a:cubicBezTo>
                  <a:pt x="178594" y="108570"/>
                  <a:pt x="186742" y="112328"/>
                  <a:pt x="191095" y="106375"/>
                </a:cubicBezTo>
                <a:cubicBezTo>
                  <a:pt x="198202" y="96552"/>
                  <a:pt x="202406" y="84497"/>
                  <a:pt x="202406" y="71437"/>
                </a:cubicBezTo>
                <a:cubicBezTo>
                  <a:pt x="202406" y="58229"/>
                  <a:pt x="198090" y="46025"/>
                  <a:pt x="190798" y="36128"/>
                </a:cubicBezTo>
                <a:lnTo>
                  <a:pt x="202778" y="24185"/>
                </a:lnTo>
                <a:close/>
                <a:moveTo>
                  <a:pt x="100459" y="50416"/>
                </a:moveTo>
                <a:lnTo>
                  <a:pt x="41077" y="135248"/>
                </a:lnTo>
                <a:cubicBezTo>
                  <a:pt x="37691" y="140047"/>
                  <a:pt x="32258" y="142875"/>
                  <a:pt x="26417" y="142875"/>
                </a:cubicBezTo>
                <a:lnTo>
                  <a:pt x="23812" y="142875"/>
                </a:lnTo>
                <a:cubicBezTo>
                  <a:pt x="13953" y="142875"/>
                  <a:pt x="5953" y="150875"/>
                  <a:pt x="5953" y="160734"/>
                </a:cubicBezTo>
                <a:cubicBezTo>
                  <a:pt x="5953" y="170594"/>
                  <a:pt x="13953" y="178594"/>
                  <a:pt x="23812" y="178594"/>
                </a:cubicBezTo>
                <a:lnTo>
                  <a:pt x="33896" y="178594"/>
                </a:lnTo>
                <a:cubicBezTo>
                  <a:pt x="58341" y="178594"/>
                  <a:pt x="82153" y="171078"/>
                  <a:pt x="102171" y="157088"/>
                </a:cubicBezTo>
                <a:lnTo>
                  <a:pt x="163897" y="113891"/>
                </a:lnTo>
                <a:cubicBezTo>
                  <a:pt x="161851" y="110096"/>
                  <a:pt x="160734" y="105742"/>
                  <a:pt x="160734" y="101203"/>
                </a:cubicBezTo>
                <a:lnTo>
                  <a:pt x="139898" y="101203"/>
                </a:lnTo>
                <a:cubicBezTo>
                  <a:pt x="125090" y="101203"/>
                  <a:pt x="113109" y="89222"/>
                  <a:pt x="113109" y="74414"/>
                </a:cubicBezTo>
                <a:lnTo>
                  <a:pt x="113109" y="53578"/>
                </a:lnTo>
                <a:cubicBezTo>
                  <a:pt x="108570" y="53578"/>
                  <a:pt x="104217" y="52462"/>
                  <a:pt x="100459" y="50416"/>
                </a:cubicBezTo>
                <a:close/>
              </a:path>
            </a:pathLst>
          </a:custGeom>
          <a:solidFill>
            <a:srgbClr val="B8A890"/>
          </a:solidFill>
          <a:ln/>
        </p:spPr>
        <p:txBody>
          <a:bodyPr/>
          <a:lstStyle/>
          <a:p>
            <a:endParaRPr lang="en-US"/>
          </a:p>
        </p:txBody>
      </p:sp>
      <p:sp>
        <p:nvSpPr>
          <p:cNvPr id="24" name="Text 22"/>
          <p:cNvSpPr/>
          <p:nvPr/>
        </p:nvSpPr>
        <p:spPr>
          <a:xfrm>
            <a:off x="855345" y="3574733"/>
            <a:ext cx="500062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Salt &amp; Pepper Noise</a:t>
            </a:r>
            <a:endParaRPr lang="en-US" sz="1600" dirty="0"/>
          </a:p>
        </p:txBody>
      </p:sp>
      <p:sp>
        <p:nvSpPr>
          <p:cNvPr id="25" name="Text 23"/>
          <p:cNvSpPr/>
          <p:nvPr/>
        </p:nvSpPr>
        <p:spPr>
          <a:xfrm>
            <a:off x="617220" y="4031814"/>
            <a:ext cx="5200650" cy="742950"/>
          </a:xfrm>
          <a:prstGeom prst="rect">
            <a:avLst/>
          </a:prstGeom>
          <a:noFill/>
          <a:ln/>
        </p:spPr>
        <p:txBody>
          <a:bodyPr wrap="square" lIns="0" tIns="0" rIns="0" bIns="0" rtlCol="0" anchor="ctr"/>
          <a:lstStyle/>
          <a:p>
            <a:pPr>
              <a:lnSpc>
                <a:spcPct val="140000"/>
              </a:lnSpc>
            </a:pPr>
            <a:r>
              <a:rPr lang="en-US" sz="1200" b="1" dirty="0">
                <a:solidFill>
                  <a:srgbClr val="4A6C8C"/>
                </a:solidFill>
                <a:latin typeface="Quattrocento Sans" pitchFamily="34" charset="0"/>
                <a:ea typeface="Quattrocento Sans" pitchFamily="34" charset="-122"/>
                <a:cs typeface="Quattrocento Sans" pitchFamily="34" charset="-120"/>
              </a:rPr>
              <a:t>Characteristics:</a:t>
            </a:r>
            <a:r>
              <a:rPr lang="en-US" sz="1200" dirty="0">
                <a:solidFill>
                  <a:srgbClr val="E0E2E5">
                    <a:alpha val="90000"/>
                  </a:srgbClr>
                </a:solidFill>
                <a:latin typeface="Quattrocento Sans" pitchFamily="34" charset="0"/>
                <a:ea typeface="Quattrocento Sans" pitchFamily="34" charset="-122"/>
                <a:cs typeface="Quattrocento Sans" pitchFamily="34" charset="-120"/>
              </a:rPr>
              <a:t> Impulsive noise causing random black (pepper) and white (salt) pixels. Common in medical imaging due to transmission errors, faulty sensors, or analog-to-digital conversion artifacts.</a:t>
            </a:r>
            <a:endParaRPr lang="en-US" sz="1600" dirty="0"/>
          </a:p>
        </p:txBody>
      </p:sp>
      <p:sp>
        <p:nvSpPr>
          <p:cNvPr id="26" name="Shape 24"/>
          <p:cNvSpPr/>
          <p:nvPr/>
        </p:nvSpPr>
        <p:spPr>
          <a:xfrm>
            <a:off x="617220" y="4927164"/>
            <a:ext cx="5124450" cy="762000"/>
          </a:xfrm>
          <a:custGeom>
            <a:avLst/>
            <a:gdLst/>
            <a:ahLst/>
            <a:cxnLst/>
            <a:rect l="l" t="t" r="r" b="b"/>
            <a:pathLst>
              <a:path w="5124450" h="762000">
                <a:moveTo>
                  <a:pt x="76200" y="0"/>
                </a:moveTo>
                <a:lnTo>
                  <a:pt x="5048250" y="0"/>
                </a:lnTo>
                <a:cubicBezTo>
                  <a:pt x="5090306" y="0"/>
                  <a:pt x="5124450" y="34144"/>
                  <a:pt x="5124450" y="76200"/>
                </a:cubicBezTo>
                <a:lnTo>
                  <a:pt x="5124450" y="685800"/>
                </a:lnTo>
                <a:cubicBezTo>
                  <a:pt x="5124450" y="727856"/>
                  <a:pt x="5090306" y="762000"/>
                  <a:pt x="504825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en-US"/>
          </a:p>
        </p:txBody>
      </p:sp>
      <p:sp>
        <p:nvSpPr>
          <p:cNvPr id="27" name="Text 25"/>
          <p:cNvSpPr/>
          <p:nvPr/>
        </p:nvSpPr>
        <p:spPr>
          <a:xfrm>
            <a:off x="769620" y="5079564"/>
            <a:ext cx="4895850" cy="457200"/>
          </a:xfrm>
          <a:prstGeom prst="rect">
            <a:avLst/>
          </a:prstGeom>
          <a:noFill/>
          <a:ln/>
        </p:spPr>
        <p:txBody>
          <a:bodyPr wrap="square" lIns="0" tIns="0" rIns="0" bIns="0" rtlCol="0" anchor="ctr"/>
          <a:lstStyle/>
          <a:p>
            <a:pPr>
              <a:lnSpc>
                <a:spcPct val="130000"/>
              </a:lnSpc>
            </a:pPr>
            <a:r>
              <a:rPr lang="en-US" sz="1200" b="1" dirty="0">
                <a:solidFill>
                  <a:srgbClr val="B8A890"/>
                </a:solidFill>
                <a:latin typeface="Quattrocento Sans" pitchFamily="34" charset="0"/>
                <a:ea typeface="Quattrocento Sans" pitchFamily="34" charset="-122"/>
                <a:cs typeface="Quattrocento Sans" pitchFamily="34" charset="-120"/>
              </a:rPr>
              <a:t>Impact:</a:t>
            </a:r>
            <a:r>
              <a:rPr lang="en-US" sz="1200" dirty="0">
                <a:solidFill>
                  <a:srgbClr val="E0E2E5">
                    <a:alpha val="90000"/>
                  </a:srgbClr>
                </a:solidFill>
                <a:latin typeface="Quattrocento Sans" pitchFamily="34" charset="0"/>
                <a:ea typeface="Quattrocento Sans" pitchFamily="34" charset="-122"/>
                <a:cs typeface="Quattrocento Sans" pitchFamily="34" charset="-120"/>
              </a:rPr>
              <a:t> Obscures fine details, creates false intensity spikes, degrades diagnostic information in critical regions of interest.</a:t>
            </a:r>
            <a:endParaRPr lang="en-US" sz="1600" dirty="0"/>
          </a:p>
        </p:txBody>
      </p:sp>
      <p:sp>
        <p:nvSpPr>
          <p:cNvPr id="28" name="Shape 26"/>
          <p:cNvSpPr/>
          <p:nvPr/>
        </p:nvSpPr>
        <p:spPr>
          <a:xfrm>
            <a:off x="6214110" y="3342323"/>
            <a:ext cx="5589270" cy="2807970"/>
          </a:xfrm>
          <a:custGeom>
            <a:avLst/>
            <a:gdLst/>
            <a:ahLst/>
            <a:cxnLst/>
            <a:rect l="l" t="t" r="r" b="b"/>
            <a:pathLst>
              <a:path w="5589270" h="2807970">
                <a:moveTo>
                  <a:pt x="114312" y="0"/>
                </a:moveTo>
                <a:lnTo>
                  <a:pt x="5474958" y="0"/>
                </a:lnTo>
                <a:cubicBezTo>
                  <a:pt x="5538091" y="0"/>
                  <a:pt x="5589270" y="51179"/>
                  <a:pt x="5589270" y="114312"/>
                </a:cubicBezTo>
                <a:lnTo>
                  <a:pt x="5589270" y="2693658"/>
                </a:lnTo>
                <a:cubicBezTo>
                  <a:pt x="5589270" y="2756791"/>
                  <a:pt x="5538091" y="2807970"/>
                  <a:pt x="5474958" y="2807970"/>
                </a:cubicBezTo>
                <a:lnTo>
                  <a:pt x="114312" y="2807970"/>
                </a:lnTo>
                <a:cubicBezTo>
                  <a:pt x="51179" y="2807970"/>
                  <a:pt x="0" y="2756791"/>
                  <a:pt x="0" y="2693658"/>
                </a:cubicBezTo>
                <a:lnTo>
                  <a:pt x="0" y="114312"/>
                </a:lnTo>
                <a:cubicBezTo>
                  <a:pt x="0" y="51222"/>
                  <a:pt x="51222" y="0"/>
                  <a:pt x="114312"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29" name="Shape 27"/>
          <p:cNvSpPr/>
          <p:nvPr/>
        </p:nvSpPr>
        <p:spPr>
          <a:xfrm>
            <a:off x="6470332" y="3631764"/>
            <a:ext cx="190500" cy="190500"/>
          </a:xfrm>
          <a:custGeom>
            <a:avLst/>
            <a:gdLst/>
            <a:ahLst/>
            <a:cxnLst/>
            <a:rect l="l" t="t" r="r" b="b"/>
            <a:pathLst>
              <a:path w="190500" h="190500">
                <a:moveTo>
                  <a:pt x="23812" y="35719"/>
                </a:moveTo>
                <a:cubicBezTo>
                  <a:pt x="23812" y="29133"/>
                  <a:pt x="29133" y="23812"/>
                  <a:pt x="35719" y="23812"/>
                </a:cubicBezTo>
                <a:lnTo>
                  <a:pt x="95250" y="23812"/>
                </a:lnTo>
                <a:cubicBezTo>
                  <a:pt x="101836" y="23812"/>
                  <a:pt x="107156" y="29133"/>
                  <a:pt x="107156" y="35719"/>
                </a:cubicBezTo>
                <a:lnTo>
                  <a:pt x="107156" y="142875"/>
                </a:lnTo>
                <a:lnTo>
                  <a:pt x="142875" y="142875"/>
                </a:lnTo>
                <a:lnTo>
                  <a:pt x="142875" y="95250"/>
                </a:lnTo>
                <a:cubicBezTo>
                  <a:pt x="142875" y="88664"/>
                  <a:pt x="148196" y="83344"/>
                  <a:pt x="154781" y="83344"/>
                </a:cubicBezTo>
                <a:lnTo>
                  <a:pt x="178594" y="83344"/>
                </a:lnTo>
                <a:cubicBezTo>
                  <a:pt x="185179" y="83344"/>
                  <a:pt x="190500" y="88664"/>
                  <a:pt x="190500" y="95250"/>
                </a:cubicBezTo>
                <a:cubicBezTo>
                  <a:pt x="190500" y="101836"/>
                  <a:pt x="185179" y="107156"/>
                  <a:pt x="178594" y="107156"/>
                </a:cubicBezTo>
                <a:lnTo>
                  <a:pt x="166688" y="107156"/>
                </a:lnTo>
                <a:lnTo>
                  <a:pt x="166688" y="154781"/>
                </a:lnTo>
                <a:cubicBezTo>
                  <a:pt x="166688" y="161367"/>
                  <a:pt x="161367" y="166688"/>
                  <a:pt x="154781" y="166688"/>
                </a:cubicBezTo>
                <a:lnTo>
                  <a:pt x="95250" y="166688"/>
                </a:lnTo>
                <a:cubicBezTo>
                  <a:pt x="88664" y="166688"/>
                  <a:pt x="83344" y="161367"/>
                  <a:pt x="83344" y="154781"/>
                </a:cubicBezTo>
                <a:lnTo>
                  <a:pt x="83344" y="47625"/>
                </a:lnTo>
                <a:lnTo>
                  <a:pt x="47625" y="47625"/>
                </a:lnTo>
                <a:lnTo>
                  <a:pt x="47625" y="95250"/>
                </a:lnTo>
                <a:cubicBezTo>
                  <a:pt x="47625" y="101836"/>
                  <a:pt x="42304" y="107156"/>
                  <a:pt x="35719" y="107156"/>
                </a:cubicBezTo>
                <a:lnTo>
                  <a:pt x="11906" y="107156"/>
                </a:lnTo>
                <a:cubicBezTo>
                  <a:pt x="5321" y="107156"/>
                  <a:pt x="0" y="101836"/>
                  <a:pt x="0" y="95250"/>
                </a:cubicBezTo>
                <a:cubicBezTo>
                  <a:pt x="0" y="88664"/>
                  <a:pt x="5321" y="83344"/>
                  <a:pt x="11906" y="83344"/>
                </a:cubicBezTo>
                <a:lnTo>
                  <a:pt x="23812" y="83344"/>
                </a:lnTo>
                <a:lnTo>
                  <a:pt x="23812" y="35719"/>
                </a:lnTo>
                <a:close/>
              </a:path>
            </a:pathLst>
          </a:custGeom>
          <a:solidFill>
            <a:srgbClr val="B8A890"/>
          </a:solidFill>
          <a:ln/>
        </p:spPr>
        <p:txBody>
          <a:bodyPr/>
          <a:lstStyle/>
          <a:p>
            <a:endParaRPr lang="en-US"/>
          </a:p>
        </p:txBody>
      </p:sp>
      <p:sp>
        <p:nvSpPr>
          <p:cNvPr id="30" name="Text 28"/>
          <p:cNvSpPr/>
          <p:nvPr/>
        </p:nvSpPr>
        <p:spPr>
          <a:xfrm>
            <a:off x="6684645" y="3574733"/>
            <a:ext cx="500062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Gaussian Noise</a:t>
            </a:r>
            <a:endParaRPr lang="en-US" sz="1600" dirty="0"/>
          </a:p>
        </p:txBody>
      </p:sp>
      <p:sp>
        <p:nvSpPr>
          <p:cNvPr id="31" name="Text 29"/>
          <p:cNvSpPr/>
          <p:nvPr/>
        </p:nvSpPr>
        <p:spPr>
          <a:xfrm>
            <a:off x="6446520" y="4031814"/>
            <a:ext cx="5200650" cy="742950"/>
          </a:xfrm>
          <a:prstGeom prst="rect">
            <a:avLst/>
          </a:prstGeom>
          <a:noFill/>
          <a:ln/>
        </p:spPr>
        <p:txBody>
          <a:bodyPr wrap="square" lIns="0" tIns="0" rIns="0" bIns="0" rtlCol="0" anchor="ctr"/>
          <a:lstStyle/>
          <a:p>
            <a:pPr>
              <a:lnSpc>
                <a:spcPct val="140000"/>
              </a:lnSpc>
            </a:pPr>
            <a:r>
              <a:rPr lang="en-US" sz="1200" b="1" dirty="0">
                <a:solidFill>
                  <a:srgbClr val="5A7D7C"/>
                </a:solidFill>
                <a:latin typeface="Quattrocento Sans" pitchFamily="34" charset="0"/>
                <a:ea typeface="Quattrocento Sans" pitchFamily="34" charset="-122"/>
                <a:cs typeface="Quattrocento Sans" pitchFamily="34" charset="-120"/>
              </a:rPr>
              <a:t>Characteristics:</a:t>
            </a:r>
            <a:r>
              <a:rPr lang="en-US" sz="1200" dirty="0">
                <a:solidFill>
                  <a:srgbClr val="E0E2E5">
                    <a:alpha val="90000"/>
                  </a:srgbClr>
                </a:solidFill>
                <a:latin typeface="Quattrocento Sans" pitchFamily="34" charset="0"/>
                <a:ea typeface="Quattrocento Sans" pitchFamily="34" charset="-122"/>
                <a:cs typeface="Quattrocento Sans" pitchFamily="34" charset="-120"/>
              </a:rPr>
              <a:t> Additive noise following normal distribution. Arises from thermal noise, sensor imperfections, or low-light conditions during image acquisition.</a:t>
            </a:r>
            <a:endParaRPr lang="en-US" sz="1600" dirty="0"/>
          </a:p>
        </p:txBody>
      </p:sp>
      <p:sp>
        <p:nvSpPr>
          <p:cNvPr id="32" name="Shape 30"/>
          <p:cNvSpPr/>
          <p:nvPr/>
        </p:nvSpPr>
        <p:spPr>
          <a:xfrm>
            <a:off x="6446520" y="4927164"/>
            <a:ext cx="5124450" cy="990600"/>
          </a:xfrm>
          <a:custGeom>
            <a:avLst/>
            <a:gdLst/>
            <a:ahLst/>
            <a:cxnLst/>
            <a:rect l="l" t="t" r="r" b="b"/>
            <a:pathLst>
              <a:path w="5124450" h="990600">
                <a:moveTo>
                  <a:pt x="76197" y="0"/>
                </a:moveTo>
                <a:lnTo>
                  <a:pt x="5048253" y="0"/>
                </a:lnTo>
                <a:cubicBezTo>
                  <a:pt x="5090335" y="0"/>
                  <a:pt x="5124450" y="34115"/>
                  <a:pt x="5124450" y="76197"/>
                </a:cubicBezTo>
                <a:lnTo>
                  <a:pt x="5124450" y="914403"/>
                </a:lnTo>
                <a:cubicBezTo>
                  <a:pt x="5124450" y="956485"/>
                  <a:pt x="5090335" y="990600"/>
                  <a:pt x="5048253" y="990600"/>
                </a:cubicBezTo>
                <a:lnTo>
                  <a:pt x="76197" y="990600"/>
                </a:lnTo>
                <a:cubicBezTo>
                  <a:pt x="34115" y="990600"/>
                  <a:pt x="0" y="956485"/>
                  <a:pt x="0" y="914403"/>
                </a:cubicBezTo>
                <a:lnTo>
                  <a:pt x="0" y="76197"/>
                </a:lnTo>
                <a:cubicBezTo>
                  <a:pt x="0" y="34143"/>
                  <a:pt x="34143" y="0"/>
                  <a:pt x="76197" y="0"/>
                </a:cubicBezTo>
                <a:close/>
              </a:path>
            </a:pathLst>
          </a:custGeom>
          <a:solidFill>
            <a:srgbClr val="1A1D21">
              <a:alpha val="50196"/>
            </a:srgbClr>
          </a:solidFill>
          <a:ln/>
        </p:spPr>
        <p:txBody>
          <a:bodyPr/>
          <a:lstStyle/>
          <a:p>
            <a:endParaRPr lang="en-US"/>
          </a:p>
        </p:txBody>
      </p:sp>
      <p:sp>
        <p:nvSpPr>
          <p:cNvPr id="33" name="Text 31"/>
          <p:cNvSpPr/>
          <p:nvPr/>
        </p:nvSpPr>
        <p:spPr>
          <a:xfrm>
            <a:off x="6598920" y="5079564"/>
            <a:ext cx="4895850" cy="685800"/>
          </a:xfrm>
          <a:prstGeom prst="rect">
            <a:avLst/>
          </a:prstGeom>
          <a:noFill/>
          <a:ln/>
        </p:spPr>
        <p:txBody>
          <a:bodyPr wrap="square" lIns="0" tIns="0" rIns="0" bIns="0" rtlCol="0" anchor="ctr"/>
          <a:lstStyle/>
          <a:p>
            <a:pPr>
              <a:lnSpc>
                <a:spcPct val="130000"/>
              </a:lnSpc>
            </a:pPr>
            <a:r>
              <a:rPr lang="en-US" sz="1200" b="1" dirty="0">
                <a:solidFill>
                  <a:srgbClr val="B8A890"/>
                </a:solidFill>
                <a:latin typeface="Quattrocento Sans" pitchFamily="34" charset="0"/>
                <a:ea typeface="Quattrocento Sans" pitchFamily="34" charset="-122"/>
                <a:cs typeface="Quattrocento Sans" pitchFamily="34" charset="-120"/>
              </a:rPr>
              <a:t>Impact:</a:t>
            </a:r>
            <a:r>
              <a:rPr lang="en-US" sz="1200" dirty="0">
                <a:solidFill>
                  <a:srgbClr val="E0E2E5">
                    <a:alpha val="90000"/>
                  </a:srgbClr>
                </a:solidFill>
                <a:latin typeface="Quattrocento Sans" pitchFamily="34" charset="0"/>
                <a:ea typeface="Quattrocento Sans" pitchFamily="34" charset="-122"/>
                <a:cs typeface="Quattrocento Sans" pitchFamily="34" charset="-120"/>
              </a:rPr>
              <a:t> Reduces contrast, introduces grainy appearance, affects statistical analysis of tissue characteristics, impacts automated segmentation algorithms.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a:extLst>
            <a:ext uri="{FF2B5EF4-FFF2-40B4-BE49-F238E27FC236}">
              <a16:creationId xmlns:a16="http://schemas.microsoft.com/office/drawing/2014/main" id="{D4816F68-79F1-CFCB-B103-8D474BDC49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915AD6-A593-62F7-3AE0-7E0D7C0F3449}"/>
              </a:ext>
            </a:extLst>
          </p:cNvPr>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200" b="1" kern="0" spc="100" dirty="0">
                <a:solidFill>
                  <a:srgbClr val="B8A890"/>
                </a:solidFill>
                <a:latin typeface="Quattrocento Sans" pitchFamily="34" charset="0"/>
                <a:ea typeface="Quattrocento Sans" pitchFamily="34" charset="-122"/>
                <a:cs typeface="Quattrocento Sans" pitchFamily="34" charset="-120"/>
              </a:rPr>
              <a:t>SALT &amp; PEPPER NOISE</a:t>
            </a:r>
            <a:endParaRPr lang="en-US" sz="2400" dirty="0"/>
          </a:p>
        </p:txBody>
      </p:sp>
      <p:sp>
        <p:nvSpPr>
          <p:cNvPr id="3" name="Text 1">
            <a:extLst>
              <a:ext uri="{FF2B5EF4-FFF2-40B4-BE49-F238E27FC236}">
                <a16:creationId xmlns:a16="http://schemas.microsoft.com/office/drawing/2014/main" id="{4EFE47E2-DDD3-A5DF-5D39-B59A22D20B1B}"/>
              </a:ext>
            </a:extLst>
          </p:cNvPr>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Liter" pitchFamily="34" charset="0"/>
                <a:ea typeface="Liter" pitchFamily="34" charset="-122"/>
                <a:cs typeface="Liter" pitchFamily="34" charset="-120"/>
              </a:rPr>
              <a:t>Visual Comparison &amp; Histogram Analysis</a:t>
            </a:r>
            <a:endParaRPr lang="en-US" sz="1600" dirty="0"/>
          </a:p>
        </p:txBody>
      </p:sp>
      <p:sp>
        <p:nvSpPr>
          <p:cNvPr id="4" name="Shape 2">
            <a:extLst>
              <a:ext uri="{FF2B5EF4-FFF2-40B4-BE49-F238E27FC236}">
                <a16:creationId xmlns:a16="http://schemas.microsoft.com/office/drawing/2014/main" id="{CECE1370-C577-719A-EC3E-1B5C067D3CDB}"/>
              </a:ext>
            </a:extLst>
          </p:cNvPr>
          <p:cNvSpPr/>
          <p:nvPr/>
        </p:nvSpPr>
        <p:spPr>
          <a:xfrm>
            <a:off x="320675"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5" name="Text 3">
            <a:extLst>
              <a:ext uri="{FF2B5EF4-FFF2-40B4-BE49-F238E27FC236}">
                <a16:creationId xmlns:a16="http://schemas.microsoft.com/office/drawing/2014/main" id="{C1BF0087-D126-AB76-E336-22D0035430D2}"/>
              </a:ext>
            </a:extLst>
          </p:cNvPr>
          <p:cNvSpPr/>
          <p:nvPr/>
        </p:nvSpPr>
        <p:spPr>
          <a:xfrm>
            <a:off x="4224337" y="825500"/>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Original + Noise</a:t>
            </a:r>
            <a:endParaRPr lang="en-US" sz="1600" dirty="0"/>
          </a:p>
        </p:txBody>
      </p:sp>
      <p:sp>
        <p:nvSpPr>
          <p:cNvPr id="7" name="Text 5">
            <a:extLst>
              <a:ext uri="{FF2B5EF4-FFF2-40B4-BE49-F238E27FC236}">
                <a16:creationId xmlns:a16="http://schemas.microsoft.com/office/drawing/2014/main" id="{25E69961-58FE-40F7-DC40-7821EE17DF58}"/>
              </a:ext>
            </a:extLst>
          </p:cNvPr>
          <p:cNvSpPr/>
          <p:nvPr/>
        </p:nvSpPr>
        <p:spPr>
          <a:xfrm>
            <a:off x="1818977" y="1863723"/>
            <a:ext cx="833438"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Quattrocento Sans" pitchFamily="34" charset="0"/>
                <a:ea typeface="Quattrocento Sans" pitchFamily="34" charset="-122"/>
                <a:cs typeface="Quattrocento Sans" pitchFamily="34" charset="-120"/>
              </a:rPr>
              <a:t>Noisy Image</a:t>
            </a:r>
            <a:endParaRPr lang="en-US" sz="1600" dirty="0"/>
          </a:p>
        </p:txBody>
      </p:sp>
      <p:sp>
        <p:nvSpPr>
          <p:cNvPr id="8" name="Text 6">
            <a:extLst>
              <a:ext uri="{FF2B5EF4-FFF2-40B4-BE49-F238E27FC236}">
                <a16:creationId xmlns:a16="http://schemas.microsoft.com/office/drawing/2014/main" id="{93C31554-5AE8-9DBF-7E5B-310702233E85}"/>
              </a:ext>
            </a:extLst>
          </p:cNvPr>
          <p:cNvSpPr/>
          <p:nvPr/>
        </p:nvSpPr>
        <p:spPr>
          <a:xfrm>
            <a:off x="423069"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80000"/>
                  </a:srgbClr>
                </a:solidFill>
                <a:latin typeface="Quattrocento Sans" pitchFamily="34" charset="0"/>
                <a:ea typeface="Quattrocento Sans" pitchFamily="34" charset="-122"/>
                <a:cs typeface="Quattrocento Sans" pitchFamily="34" charset="-120"/>
              </a:rPr>
              <a:t>Random black &amp; white pixels</a:t>
            </a:r>
            <a:endParaRPr lang="en-US" sz="1600" dirty="0"/>
          </a:p>
        </p:txBody>
      </p:sp>
      <p:sp>
        <p:nvSpPr>
          <p:cNvPr id="9" name="Shape 7">
            <a:extLst>
              <a:ext uri="{FF2B5EF4-FFF2-40B4-BE49-F238E27FC236}">
                <a16:creationId xmlns:a16="http://schemas.microsoft.com/office/drawing/2014/main" id="{63CC7F81-8B62-F346-5E7C-56D761D277DA}"/>
              </a:ext>
            </a:extLst>
          </p:cNvPr>
          <p:cNvSpPr/>
          <p:nvPr/>
        </p:nvSpPr>
        <p:spPr>
          <a:xfrm>
            <a:off x="8034337" y="1060450"/>
            <a:ext cx="3751263" cy="1790700"/>
          </a:xfrm>
          <a:custGeom>
            <a:avLst/>
            <a:gdLst/>
            <a:ahLst/>
            <a:cxnLst/>
            <a:rect l="l" t="t" r="r" b="b"/>
            <a:pathLst>
              <a:path w="3751263" h="1790700">
                <a:moveTo>
                  <a:pt x="95247" y="0"/>
                </a:moveTo>
                <a:lnTo>
                  <a:pt x="3656015" y="0"/>
                </a:lnTo>
                <a:cubicBezTo>
                  <a:pt x="3708619" y="0"/>
                  <a:pt x="3751263" y="42644"/>
                  <a:pt x="3751263" y="95247"/>
                </a:cubicBezTo>
                <a:lnTo>
                  <a:pt x="3751263" y="1695453"/>
                </a:lnTo>
                <a:cubicBezTo>
                  <a:pt x="3751263" y="1748056"/>
                  <a:pt x="3708619" y="1790700"/>
                  <a:pt x="3656015" y="1790700"/>
                </a:cubicBezTo>
                <a:lnTo>
                  <a:pt x="95247" y="1790700"/>
                </a:lnTo>
                <a:cubicBezTo>
                  <a:pt x="42644" y="1790700"/>
                  <a:pt x="0" y="1748056"/>
                  <a:pt x="0" y="1695453"/>
                </a:cubicBezTo>
                <a:lnTo>
                  <a:pt x="0" y="95247"/>
                </a:lnTo>
                <a:cubicBezTo>
                  <a:pt x="0" y="42644"/>
                  <a:pt x="42644" y="0"/>
                  <a:pt x="95247" y="0"/>
                </a:cubicBezTo>
                <a:close/>
              </a:path>
            </a:pathLst>
          </a:custGeom>
          <a:solidFill>
            <a:srgbClr val="4A6C8C">
              <a:alpha val="10196"/>
            </a:srgbClr>
          </a:solidFill>
          <a:ln w="20320">
            <a:solidFill>
              <a:srgbClr val="4A6C8C"/>
            </a:solidFill>
            <a:prstDash val="solid"/>
          </a:ln>
        </p:spPr>
        <p:txBody>
          <a:bodyPr/>
          <a:lstStyle/>
          <a:p>
            <a:endParaRPr lang="en-US"/>
          </a:p>
        </p:txBody>
      </p:sp>
      <p:sp>
        <p:nvSpPr>
          <p:cNvPr id="11" name="Text 9">
            <a:extLst>
              <a:ext uri="{FF2B5EF4-FFF2-40B4-BE49-F238E27FC236}">
                <a16:creationId xmlns:a16="http://schemas.microsoft.com/office/drawing/2014/main" id="{40F52377-630A-47E3-60E7-04BA1D970BE9}"/>
              </a:ext>
            </a:extLst>
          </p:cNvPr>
          <p:cNvSpPr/>
          <p:nvPr/>
        </p:nvSpPr>
        <p:spPr>
          <a:xfrm>
            <a:off x="8358226" y="796926"/>
            <a:ext cx="3373438" cy="222250"/>
          </a:xfrm>
          <a:prstGeom prst="rect">
            <a:avLst/>
          </a:prstGeom>
          <a:noFill/>
          <a:ln/>
        </p:spPr>
        <p:txBody>
          <a:bodyPr wrap="square" lIns="0" tIns="0" rIns="0" bIns="0" rtlCol="0" anchor="ctr"/>
          <a:lstStyle/>
          <a:p>
            <a:pPr algn="ctr">
              <a:lnSpc>
                <a:spcPct val="130000"/>
              </a:lnSpc>
            </a:pPr>
            <a:r>
              <a:rPr lang="en-US" sz="1125" b="1" dirty="0">
                <a:solidFill>
                  <a:srgbClr val="4A6C8C"/>
                </a:solidFill>
                <a:latin typeface="Liter" pitchFamily="34" charset="0"/>
                <a:ea typeface="Liter" pitchFamily="34" charset="-122"/>
                <a:cs typeface="Liter" pitchFamily="34" charset="-120"/>
              </a:rPr>
              <a:t>Median Filter Result</a:t>
            </a:r>
            <a:endParaRPr lang="en-US" sz="1600" dirty="0"/>
          </a:p>
        </p:txBody>
      </p:sp>
      <p:sp>
        <p:nvSpPr>
          <p:cNvPr id="13" name="Text 11">
            <a:extLst>
              <a:ext uri="{FF2B5EF4-FFF2-40B4-BE49-F238E27FC236}">
                <a16:creationId xmlns:a16="http://schemas.microsoft.com/office/drawing/2014/main" id="{E15043FE-A1A3-B13D-37C9-E7307D08F006}"/>
              </a:ext>
            </a:extLst>
          </p:cNvPr>
          <p:cNvSpPr/>
          <p:nvPr/>
        </p:nvSpPr>
        <p:spPr>
          <a:xfrm>
            <a:off x="5714405" y="1870076"/>
            <a:ext cx="833438"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Quattrocento Sans" pitchFamily="34" charset="0"/>
                <a:ea typeface="Quattrocento Sans" pitchFamily="34" charset="-122"/>
                <a:cs typeface="Quattrocento Sans" pitchFamily="34" charset="-120"/>
              </a:rPr>
              <a:t>Clean Image</a:t>
            </a:r>
            <a:endParaRPr lang="en-US" sz="1600" dirty="0"/>
          </a:p>
        </p:txBody>
      </p:sp>
      <p:sp>
        <p:nvSpPr>
          <p:cNvPr id="14" name="Text 12">
            <a:extLst>
              <a:ext uri="{FF2B5EF4-FFF2-40B4-BE49-F238E27FC236}">
                <a16:creationId xmlns:a16="http://schemas.microsoft.com/office/drawing/2014/main" id="{9D02A7E7-0383-66F5-8549-EF200D644120}"/>
              </a:ext>
            </a:extLst>
          </p:cNvPr>
          <p:cNvSpPr/>
          <p:nvPr/>
        </p:nvSpPr>
        <p:spPr>
          <a:xfrm>
            <a:off x="4324052" y="2552701"/>
            <a:ext cx="3540125" cy="158750"/>
          </a:xfrm>
          <a:prstGeom prst="rect">
            <a:avLst/>
          </a:prstGeom>
          <a:noFill/>
          <a:ln/>
        </p:spPr>
        <p:txBody>
          <a:bodyPr wrap="square" lIns="0" tIns="0" rIns="0" bIns="0" rtlCol="0" anchor="ctr"/>
          <a:lstStyle/>
          <a:p>
            <a:pPr algn="ctr">
              <a:lnSpc>
                <a:spcPct val="120000"/>
              </a:lnSpc>
            </a:pPr>
            <a:r>
              <a:rPr lang="en-US" sz="875" b="1" dirty="0">
                <a:solidFill>
                  <a:srgbClr val="E0E2E5">
                    <a:alpha val="90000"/>
                  </a:srgbClr>
                </a:solidFill>
                <a:latin typeface="Quattrocento Sans" pitchFamily="34" charset="0"/>
                <a:ea typeface="Quattrocento Sans" pitchFamily="34" charset="-122"/>
                <a:cs typeface="Quattrocento Sans" pitchFamily="34" charset="-120"/>
              </a:rPr>
              <a:t>Noise removed, details preserved</a:t>
            </a:r>
            <a:endParaRPr lang="en-US" sz="1600" dirty="0"/>
          </a:p>
        </p:txBody>
      </p:sp>
      <p:sp>
        <p:nvSpPr>
          <p:cNvPr id="15" name="Shape 13">
            <a:extLst>
              <a:ext uri="{FF2B5EF4-FFF2-40B4-BE49-F238E27FC236}">
                <a16:creationId xmlns:a16="http://schemas.microsoft.com/office/drawing/2014/main" id="{8E12F4BC-24C6-F267-5B71-45D39C6E71B6}"/>
              </a:ext>
            </a:extLst>
          </p:cNvPr>
          <p:cNvSpPr/>
          <p:nvPr/>
        </p:nvSpPr>
        <p:spPr>
          <a:xfrm>
            <a:off x="4157068" y="1049337"/>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a:p>
        </p:txBody>
      </p:sp>
      <p:sp>
        <p:nvSpPr>
          <p:cNvPr id="18" name="Text 16">
            <a:extLst>
              <a:ext uri="{FF2B5EF4-FFF2-40B4-BE49-F238E27FC236}">
                <a16:creationId xmlns:a16="http://schemas.microsoft.com/office/drawing/2014/main" id="{53F2214D-9797-B7C3-0F82-2BF87CF72120}"/>
              </a:ext>
            </a:extLst>
          </p:cNvPr>
          <p:cNvSpPr/>
          <p:nvPr/>
        </p:nvSpPr>
        <p:spPr>
          <a:xfrm>
            <a:off x="9765705" y="1863723"/>
            <a:ext cx="523875"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Quattrocento Sans" pitchFamily="34" charset="0"/>
                <a:ea typeface="Quattrocento Sans" pitchFamily="34" charset="-122"/>
                <a:cs typeface="Quattrocento Sans" pitchFamily="34" charset="-120"/>
              </a:rPr>
              <a:t>Blurred</a:t>
            </a:r>
            <a:endParaRPr lang="en-US" sz="1600" dirty="0"/>
          </a:p>
        </p:txBody>
      </p:sp>
      <p:sp>
        <p:nvSpPr>
          <p:cNvPr id="19" name="Text 17">
            <a:extLst>
              <a:ext uri="{FF2B5EF4-FFF2-40B4-BE49-F238E27FC236}">
                <a16:creationId xmlns:a16="http://schemas.microsoft.com/office/drawing/2014/main" id="{85EC855B-68A4-4744-2030-F44DD02E3BA5}"/>
              </a:ext>
            </a:extLst>
          </p:cNvPr>
          <p:cNvSpPr/>
          <p:nvPr/>
        </p:nvSpPr>
        <p:spPr>
          <a:xfrm>
            <a:off x="8212336"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70000"/>
                  </a:srgbClr>
                </a:solidFill>
                <a:latin typeface="Quattrocento Sans" pitchFamily="34" charset="0"/>
                <a:ea typeface="Quattrocento Sans" pitchFamily="34" charset="-122"/>
                <a:cs typeface="Quattrocento Sans" pitchFamily="34" charset="-120"/>
              </a:rPr>
              <a:t>Blurring, poor noise removal</a:t>
            </a:r>
            <a:endParaRPr lang="en-US" sz="1600" dirty="0"/>
          </a:p>
        </p:txBody>
      </p:sp>
      <p:sp>
        <p:nvSpPr>
          <p:cNvPr id="20" name="Shape 18">
            <a:extLst>
              <a:ext uri="{FF2B5EF4-FFF2-40B4-BE49-F238E27FC236}">
                <a16:creationId xmlns:a16="http://schemas.microsoft.com/office/drawing/2014/main" id="{C3BADF93-CA24-2664-E5A4-8CBBCE225566}"/>
              </a:ext>
            </a:extLst>
          </p:cNvPr>
          <p:cNvSpPr/>
          <p:nvPr/>
        </p:nvSpPr>
        <p:spPr>
          <a:xfrm>
            <a:off x="320675" y="3013077"/>
            <a:ext cx="5689600" cy="3736975"/>
          </a:xfrm>
          <a:custGeom>
            <a:avLst/>
            <a:gdLst/>
            <a:ahLst/>
            <a:cxnLst/>
            <a:rect l="l" t="t" r="r" b="b"/>
            <a:pathLst>
              <a:path w="5689600" h="3736975">
                <a:moveTo>
                  <a:pt x="95255" y="0"/>
                </a:moveTo>
                <a:lnTo>
                  <a:pt x="5594345" y="0"/>
                </a:lnTo>
                <a:cubicBezTo>
                  <a:pt x="5646953" y="0"/>
                  <a:pt x="5689600" y="42647"/>
                  <a:pt x="5689600" y="95255"/>
                </a:cubicBezTo>
                <a:lnTo>
                  <a:pt x="5689600" y="3641720"/>
                </a:lnTo>
                <a:cubicBezTo>
                  <a:pt x="5689600" y="3694328"/>
                  <a:pt x="5646953" y="3736975"/>
                  <a:pt x="5594345" y="3736975"/>
                </a:cubicBezTo>
                <a:lnTo>
                  <a:pt x="95255" y="3736975"/>
                </a:lnTo>
                <a:cubicBezTo>
                  <a:pt x="42647" y="3736975"/>
                  <a:pt x="0" y="3694328"/>
                  <a:pt x="0" y="3641720"/>
                </a:cubicBezTo>
                <a:lnTo>
                  <a:pt x="0" y="95255"/>
                </a:lnTo>
                <a:cubicBezTo>
                  <a:pt x="0" y="42683"/>
                  <a:pt x="42683" y="0"/>
                  <a:pt x="95255" y="0"/>
                </a:cubicBezTo>
                <a:close/>
              </a:path>
            </a:pathLst>
          </a:custGeom>
          <a:solidFill>
            <a:srgbClr val="1A1D21">
              <a:alpha val="50196"/>
            </a:srgbClr>
          </a:solidFill>
          <a:ln w="10160">
            <a:solidFill>
              <a:srgbClr val="4A6C8C">
                <a:alpha val="30196"/>
              </a:srgbClr>
            </a:solidFill>
            <a:prstDash val="solid"/>
          </a:ln>
        </p:spPr>
        <p:txBody>
          <a:bodyPr/>
          <a:lstStyle/>
          <a:p>
            <a:endParaRPr lang="en-US" dirty="0"/>
          </a:p>
        </p:txBody>
      </p:sp>
      <p:sp>
        <p:nvSpPr>
          <p:cNvPr id="21" name="Text 19">
            <a:extLst>
              <a:ext uri="{FF2B5EF4-FFF2-40B4-BE49-F238E27FC236}">
                <a16:creationId xmlns:a16="http://schemas.microsoft.com/office/drawing/2014/main" id="{D371DFBE-78EA-C2E7-B384-45D958E36559}"/>
              </a:ext>
            </a:extLst>
          </p:cNvPr>
          <p:cNvSpPr/>
          <p:nvPr/>
        </p:nvSpPr>
        <p:spPr>
          <a:xfrm>
            <a:off x="482600" y="3175000"/>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Original</a:t>
            </a:r>
            <a:endParaRPr lang="en-US" sz="1600" dirty="0"/>
          </a:p>
        </p:txBody>
      </p:sp>
      <p:sp>
        <p:nvSpPr>
          <p:cNvPr id="25" name="Text 22">
            <a:extLst>
              <a:ext uri="{FF2B5EF4-FFF2-40B4-BE49-F238E27FC236}">
                <a16:creationId xmlns:a16="http://schemas.microsoft.com/office/drawing/2014/main" id="{45CB783A-44DD-E185-D9A5-C4E692A56E94}"/>
              </a:ext>
            </a:extLst>
          </p:cNvPr>
          <p:cNvSpPr/>
          <p:nvPr/>
        </p:nvSpPr>
        <p:spPr>
          <a:xfrm>
            <a:off x="6538912" y="3175000"/>
            <a:ext cx="5246688" cy="222250"/>
          </a:xfrm>
          <a:prstGeom prst="rect">
            <a:avLst/>
          </a:prstGeom>
          <a:noFill/>
          <a:ln/>
        </p:spPr>
        <p:txBody>
          <a:bodyPr wrap="square" lIns="0" tIns="0" rIns="0" bIns="0" rtlCol="0" anchor="ctr"/>
          <a:lstStyle/>
          <a:p>
            <a:pPr>
              <a:lnSpc>
                <a:spcPct val="120000"/>
              </a:lnSpc>
            </a:pPr>
            <a:endParaRPr lang="en-US" sz="1600" dirty="0"/>
          </a:p>
        </p:txBody>
      </p:sp>
      <p:pic>
        <p:nvPicPr>
          <p:cNvPr id="61" name="Picture 60">
            <a:extLst>
              <a:ext uri="{FF2B5EF4-FFF2-40B4-BE49-F238E27FC236}">
                <a16:creationId xmlns:a16="http://schemas.microsoft.com/office/drawing/2014/main" id="{817CF524-45FA-D261-AB40-64BB9F8370A8}"/>
              </a:ext>
            </a:extLst>
          </p:cNvPr>
          <p:cNvPicPr>
            <a:picLocks noChangeAspect="1"/>
          </p:cNvPicPr>
          <p:nvPr/>
        </p:nvPicPr>
        <p:blipFill>
          <a:blip r:embed="rId3"/>
          <a:stretch>
            <a:fillRect/>
          </a:stretch>
        </p:blipFill>
        <p:spPr>
          <a:xfrm>
            <a:off x="9092695" y="1070058"/>
            <a:ext cx="1795282" cy="1784268"/>
          </a:xfrm>
          <a:prstGeom prst="rect">
            <a:avLst/>
          </a:prstGeom>
        </p:spPr>
      </p:pic>
      <p:pic>
        <p:nvPicPr>
          <p:cNvPr id="63" name="Picture 62">
            <a:extLst>
              <a:ext uri="{FF2B5EF4-FFF2-40B4-BE49-F238E27FC236}">
                <a16:creationId xmlns:a16="http://schemas.microsoft.com/office/drawing/2014/main" id="{11458ADD-5B69-ABD7-C29E-FE094B01FD7C}"/>
              </a:ext>
            </a:extLst>
          </p:cNvPr>
          <p:cNvPicPr>
            <a:picLocks noChangeAspect="1"/>
          </p:cNvPicPr>
          <p:nvPr/>
        </p:nvPicPr>
        <p:blipFill>
          <a:blip r:embed="rId4"/>
          <a:stretch>
            <a:fillRect/>
          </a:stretch>
        </p:blipFill>
        <p:spPr>
          <a:xfrm>
            <a:off x="5172484" y="1060450"/>
            <a:ext cx="1770831" cy="1778000"/>
          </a:xfrm>
          <a:prstGeom prst="rect">
            <a:avLst/>
          </a:prstGeom>
        </p:spPr>
      </p:pic>
      <p:sp>
        <p:nvSpPr>
          <p:cNvPr id="66" name="Shape 18">
            <a:extLst>
              <a:ext uri="{FF2B5EF4-FFF2-40B4-BE49-F238E27FC236}">
                <a16:creationId xmlns:a16="http://schemas.microsoft.com/office/drawing/2014/main" id="{7617F861-6E0E-679C-E23A-A23FC623A6EA}"/>
              </a:ext>
            </a:extLst>
          </p:cNvPr>
          <p:cNvSpPr/>
          <p:nvPr/>
        </p:nvSpPr>
        <p:spPr>
          <a:xfrm>
            <a:off x="6134100" y="3025581"/>
            <a:ext cx="5981937" cy="3733802"/>
          </a:xfrm>
          <a:custGeom>
            <a:avLst/>
            <a:gdLst/>
            <a:ahLst/>
            <a:cxnLst/>
            <a:rect l="l" t="t" r="r" b="b"/>
            <a:pathLst>
              <a:path w="5689600" h="3736975">
                <a:moveTo>
                  <a:pt x="95255" y="0"/>
                </a:moveTo>
                <a:lnTo>
                  <a:pt x="5594345" y="0"/>
                </a:lnTo>
                <a:cubicBezTo>
                  <a:pt x="5646953" y="0"/>
                  <a:pt x="5689600" y="42647"/>
                  <a:pt x="5689600" y="95255"/>
                </a:cubicBezTo>
                <a:lnTo>
                  <a:pt x="5689600" y="3641720"/>
                </a:lnTo>
                <a:cubicBezTo>
                  <a:pt x="5689600" y="3694328"/>
                  <a:pt x="5646953" y="3736975"/>
                  <a:pt x="5594345" y="3736975"/>
                </a:cubicBezTo>
                <a:lnTo>
                  <a:pt x="95255" y="3736975"/>
                </a:lnTo>
                <a:cubicBezTo>
                  <a:pt x="42647" y="3736975"/>
                  <a:pt x="0" y="3694328"/>
                  <a:pt x="0" y="3641720"/>
                </a:cubicBezTo>
                <a:lnTo>
                  <a:pt x="0" y="95255"/>
                </a:lnTo>
                <a:cubicBezTo>
                  <a:pt x="0" y="42683"/>
                  <a:pt x="42683" y="0"/>
                  <a:pt x="95255" y="0"/>
                </a:cubicBezTo>
                <a:close/>
              </a:path>
            </a:pathLst>
          </a:custGeom>
          <a:solidFill>
            <a:srgbClr val="1A1D21">
              <a:alpha val="50196"/>
            </a:srgbClr>
          </a:solidFill>
          <a:ln w="10160">
            <a:solidFill>
              <a:srgbClr val="4A6C8C">
                <a:alpha val="30196"/>
              </a:srgbClr>
            </a:solidFill>
            <a:prstDash val="solid"/>
          </a:ln>
        </p:spPr>
        <p:txBody>
          <a:bodyPr/>
          <a:lstStyle/>
          <a:p>
            <a:endParaRPr lang="en-US" dirty="0"/>
          </a:p>
        </p:txBody>
      </p:sp>
      <p:pic>
        <p:nvPicPr>
          <p:cNvPr id="68" name="Picture 67">
            <a:extLst>
              <a:ext uri="{FF2B5EF4-FFF2-40B4-BE49-F238E27FC236}">
                <a16:creationId xmlns:a16="http://schemas.microsoft.com/office/drawing/2014/main" id="{190073CA-810B-D24F-CEBC-D760EE49248C}"/>
              </a:ext>
            </a:extLst>
          </p:cNvPr>
          <p:cNvPicPr>
            <a:picLocks noChangeAspect="1"/>
          </p:cNvPicPr>
          <p:nvPr/>
        </p:nvPicPr>
        <p:blipFill>
          <a:blip r:embed="rId5"/>
          <a:stretch>
            <a:fillRect/>
          </a:stretch>
        </p:blipFill>
        <p:spPr>
          <a:xfrm>
            <a:off x="8142118" y="3458625"/>
            <a:ext cx="3535699" cy="2651774"/>
          </a:xfrm>
          <a:prstGeom prst="rect">
            <a:avLst/>
          </a:prstGeom>
        </p:spPr>
      </p:pic>
      <p:sp>
        <p:nvSpPr>
          <p:cNvPr id="69" name="Text 19">
            <a:extLst>
              <a:ext uri="{FF2B5EF4-FFF2-40B4-BE49-F238E27FC236}">
                <a16:creationId xmlns:a16="http://schemas.microsoft.com/office/drawing/2014/main" id="{A91614E8-ADCC-337F-2B40-2A063C332D50}"/>
              </a:ext>
            </a:extLst>
          </p:cNvPr>
          <p:cNvSpPr/>
          <p:nvPr/>
        </p:nvSpPr>
        <p:spPr>
          <a:xfrm>
            <a:off x="8986837" y="3146426"/>
            <a:ext cx="2228559" cy="241297"/>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Median Filter</a:t>
            </a:r>
            <a:endParaRPr lang="en-US" sz="1600" dirty="0"/>
          </a:p>
        </p:txBody>
      </p:sp>
      <p:pic>
        <p:nvPicPr>
          <p:cNvPr id="73" name="Picture 72">
            <a:extLst>
              <a:ext uri="{FF2B5EF4-FFF2-40B4-BE49-F238E27FC236}">
                <a16:creationId xmlns:a16="http://schemas.microsoft.com/office/drawing/2014/main" id="{F8701D77-6B8D-99E6-5720-E3FB0821E431}"/>
              </a:ext>
            </a:extLst>
          </p:cNvPr>
          <p:cNvPicPr>
            <a:picLocks noChangeAspect="1"/>
          </p:cNvPicPr>
          <p:nvPr/>
        </p:nvPicPr>
        <p:blipFill>
          <a:blip r:embed="rId6"/>
          <a:stretch>
            <a:fillRect/>
          </a:stretch>
        </p:blipFill>
        <p:spPr>
          <a:xfrm>
            <a:off x="4290059" y="3458639"/>
            <a:ext cx="3535680" cy="2651760"/>
          </a:xfrm>
          <a:prstGeom prst="rect">
            <a:avLst/>
          </a:prstGeom>
        </p:spPr>
      </p:pic>
      <p:sp>
        <p:nvSpPr>
          <p:cNvPr id="74" name="Text 19">
            <a:extLst>
              <a:ext uri="{FF2B5EF4-FFF2-40B4-BE49-F238E27FC236}">
                <a16:creationId xmlns:a16="http://schemas.microsoft.com/office/drawing/2014/main" id="{A1F43028-EEB0-F494-4E27-76CFC63F16F5}"/>
              </a:ext>
            </a:extLst>
          </p:cNvPr>
          <p:cNvSpPr/>
          <p:nvPr/>
        </p:nvSpPr>
        <p:spPr>
          <a:xfrm>
            <a:off x="5073649" y="3124719"/>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Noisy Filter</a:t>
            </a:r>
            <a:endParaRPr lang="en-US" sz="1600" dirty="0"/>
          </a:p>
        </p:txBody>
      </p:sp>
      <p:pic>
        <p:nvPicPr>
          <p:cNvPr id="76" name="Picture 75">
            <a:extLst>
              <a:ext uri="{FF2B5EF4-FFF2-40B4-BE49-F238E27FC236}">
                <a16:creationId xmlns:a16="http://schemas.microsoft.com/office/drawing/2014/main" id="{C15B46C0-ACA0-1580-8B14-25134838B379}"/>
              </a:ext>
            </a:extLst>
          </p:cNvPr>
          <p:cNvPicPr>
            <a:picLocks noChangeAspect="1"/>
          </p:cNvPicPr>
          <p:nvPr/>
        </p:nvPicPr>
        <p:blipFill>
          <a:blip r:embed="rId7"/>
          <a:stretch>
            <a:fillRect/>
          </a:stretch>
        </p:blipFill>
        <p:spPr>
          <a:xfrm>
            <a:off x="1175762" y="1060450"/>
            <a:ext cx="1760388" cy="1760388"/>
          </a:xfrm>
          <a:prstGeom prst="rect">
            <a:avLst/>
          </a:prstGeom>
        </p:spPr>
      </p:pic>
      <p:sp>
        <p:nvSpPr>
          <p:cNvPr id="77" name="Text 3">
            <a:extLst>
              <a:ext uri="{FF2B5EF4-FFF2-40B4-BE49-F238E27FC236}">
                <a16:creationId xmlns:a16="http://schemas.microsoft.com/office/drawing/2014/main" id="{BB95CE09-69C3-15C8-DEDF-CD3F24F2D600}"/>
              </a:ext>
            </a:extLst>
          </p:cNvPr>
          <p:cNvSpPr/>
          <p:nvPr/>
        </p:nvSpPr>
        <p:spPr>
          <a:xfrm>
            <a:off x="284897" y="827087"/>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Original </a:t>
            </a:r>
            <a:endParaRPr lang="en-US" sz="1600" dirty="0"/>
          </a:p>
        </p:txBody>
      </p:sp>
      <p:pic>
        <p:nvPicPr>
          <p:cNvPr id="79" name="Picture 78">
            <a:extLst>
              <a:ext uri="{FF2B5EF4-FFF2-40B4-BE49-F238E27FC236}">
                <a16:creationId xmlns:a16="http://schemas.microsoft.com/office/drawing/2014/main" id="{DA181C42-8741-0AED-0A99-0FD846028C87}"/>
              </a:ext>
            </a:extLst>
          </p:cNvPr>
          <p:cNvPicPr>
            <a:picLocks noChangeAspect="1"/>
          </p:cNvPicPr>
          <p:nvPr/>
        </p:nvPicPr>
        <p:blipFill>
          <a:blip r:embed="rId8"/>
          <a:stretch>
            <a:fillRect/>
          </a:stretch>
        </p:blipFill>
        <p:spPr>
          <a:xfrm>
            <a:off x="433228" y="3458639"/>
            <a:ext cx="3535680" cy="2651760"/>
          </a:xfrm>
          <a:prstGeom prst="rect">
            <a:avLst/>
          </a:prstGeom>
        </p:spPr>
      </p:pic>
    </p:spTree>
    <p:extLst>
      <p:ext uri="{BB962C8B-B14F-4D97-AF65-F5344CB8AC3E}">
        <p14:creationId xmlns:p14="http://schemas.microsoft.com/office/powerpoint/2010/main" val="32521358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200" b="1" kern="0" spc="100" dirty="0">
                <a:solidFill>
                  <a:srgbClr val="B8A890"/>
                </a:solidFill>
                <a:latin typeface="Quattrocento Sans" pitchFamily="34" charset="0"/>
                <a:ea typeface="Quattrocento Sans" pitchFamily="34" charset="-122"/>
                <a:cs typeface="Quattrocento Sans" pitchFamily="34" charset="-120"/>
              </a:rPr>
              <a:t>SALT &amp; PEPPER NOISE</a:t>
            </a:r>
            <a:endParaRPr lang="en-US" sz="24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Liter" pitchFamily="34" charset="0"/>
                <a:ea typeface="Liter" pitchFamily="34" charset="-122"/>
                <a:cs typeface="Liter" pitchFamily="34" charset="-120"/>
              </a:rPr>
              <a:t>Visual Comparison &amp; Histogram Analysis</a:t>
            </a:r>
            <a:endParaRPr lang="en-US" sz="1600" dirty="0"/>
          </a:p>
        </p:txBody>
      </p:sp>
      <p:sp>
        <p:nvSpPr>
          <p:cNvPr id="4" name="Shape 2"/>
          <p:cNvSpPr/>
          <p:nvPr/>
        </p:nvSpPr>
        <p:spPr>
          <a:xfrm>
            <a:off x="320675"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5" name="Text 3"/>
          <p:cNvSpPr/>
          <p:nvPr/>
        </p:nvSpPr>
        <p:spPr>
          <a:xfrm>
            <a:off x="407194" y="855663"/>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Min Filter</a:t>
            </a:r>
            <a:endParaRPr lang="en-US" sz="1600" dirty="0"/>
          </a:p>
        </p:txBody>
      </p:sp>
      <p:sp>
        <p:nvSpPr>
          <p:cNvPr id="8" name="Text 6"/>
          <p:cNvSpPr/>
          <p:nvPr/>
        </p:nvSpPr>
        <p:spPr>
          <a:xfrm>
            <a:off x="423069"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80000"/>
                  </a:srgbClr>
                </a:solidFill>
                <a:latin typeface="Quattrocento Sans" pitchFamily="34" charset="0"/>
                <a:ea typeface="Quattrocento Sans" pitchFamily="34" charset="-122"/>
                <a:cs typeface="Quattrocento Sans" pitchFamily="34" charset="-120"/>
              </a:rPr>
              <a:t>Random black &amp; white pixels</a:t>
            </a:r>
            <a:endParaRPr lang="en-US" sz="1600" dirty="0"/>
          </a:p>
        </p:txBody>
      </p:sp>
      <p:sp>
        <p:nvSpPr>
          <p:cNvPr id="11" name="Text 9"/>
          <p:cNvSpPr/>
          <p:nvPr/>
        </p:nvSpPr>
        <p:spPr>
          <a:xfrm>
            <a:off x="4502447" y="832644"/>
            <a:ext cx="3373438"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rPr>
              <a:t>Max Filter</a:t>
            </a:r>
            <a:endParaRPr lang="en-US" sz="1600" dirty="0"/>
          </a:p>
        </p:txBody>
      </p:sp>
      <p:sp>
        <p:nvSpPr>
          <p:cNvPr id="13" name="Text 11"/>
          <p:cNvSpPr/>
          <p:nvPr/>
        </p:nvSpPr>
        <p:spPr>
          <a:xfrm>
            <a:off x="5714405" y="1870076"/>
            <a:ext cx="833438" cy="222250"/>
          </a:xfrm>
          <a:prstGeom prst="rect">
            <a:avLst/>
          </a:prstGeom>
          <a:noFill/>
          <a:ln/>
        </p:spPr>
        <p:txBody>
          <a:bodyPr wrap="square" lIns="0" tIns="0" rIns="0" bIns="0" rtlCol="0" anchor="ctr"/>
          <a:lstStyle/>
          <a:p>
            <a:pPr>
              <a:lnSpc>
                <a:spcPct val="130000"/>
              </a:lnSpc>
            </a:pPr>
            <a:endParaRPr lang="en-US" sz="1600" dirty="0"/>
          </a:p>
        </p:txBody>
      </p:sp>
      <p:sp>
        <p:nvSpPr>
          <p:cNvPr id="15" name="Shape 13"/>
          <p:cNvSpPr/>
          <p:nvPr/>
        </p:nvSpPr>
        <p:spPr>
          <a:xfrm>
            <a:off x="8109942"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a:p>
        </p:txBody>
      </p:sp>
      <p:sp>
        <p:nvSpPr>
          <p:cNvPr id="16" name="Text 14"/>
          <p:cNvSpPr/>
          <p:nvPr/>
        </p:nvSpPr>
        <p:spPr>
          <a:xfrm>
            <a:off x="8186309" y="855663"/>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Average Filter</a:t>
            </a:r>
            <a:endParaRPr lang="en-US" sz="1600" dirty="0"/>
          </a:p>
        </p:txBody>
      </p:sp>
      <p:sp>
        <p:nvSpPr>
          <p:cNvPr id="19" name="Text 17"/>
          <p:cNvSpPr/>
          <p:nvPr/>
        </p:nvSpPr>
        <p:spPr>
          <a:xfrm>
            <a:off x="8212336"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70000"/>
                  </a:srgbClr>
                </a:solidFill>
                <a:latin typeface="Quattrocento Sans" pitchFamily="34" charset="0"/>
                <a:ea typeface="Quattrocento Sans" pitchFamily="34" charset="-122"/>
                <a:cs typeface="Quattrocento Sans" pitchFamily="34" charset="-120"/>
              </a:rPr>
              <a:t>Blurring, poor noise removal</a:t>
            </a:r>
            <a:endParaRPr lang="en-US" sz="1600" dirty="0"/>
          </a:p>
        </p:txBody>
      </p:sp>
      <p:sp>
        <p:nvSpPr>
          <p:cNvPr id="20" name="Shape 18"/>
          <p:cNvSpPr/>
          <p:nvPr/>
        </p:nvSpPr>
        <p:spPr>
          <a:xfrm>
            <a:off x="320675" y="3013077"/>
            <a:ext cx="5689600" cy="3736975"/>
          </a:xfrm>
          <a:custGeom>
            <a:avLst/>
            <a:gdLst/>
            <a:ahLst/>
            <a:cxnLst/>
            <a:rect l="l" t="t" r="r" b="b"/>
            <a:pathLst>
              <a:path w="5689600" h="3736975">
                <a:moveTo>
                  <a:pt x="95255" y="0"/>
                </a:moveTo>
                <a:lnTo>
                  <a:pt x="5594345" y="0"/>
                </a:lnTo>
                <a:cubicBezTo>
                  <a:pt x="5646953" y="0"/>
                  <a:pt x="5689600" y="42647"/>
                  <a:pt x="5689600" y="95255"/>
                </a:cubicBezTo>
                <a:lnTo>
                  <a:pt x="5689600" y="3641720"/>
                </a:lnTo>
                <a:cubicBezTo>
                  <a:pt x="5689600" y="3694328"/>
                  <a:pt x="5646953" y="3736975"/>
                  <a:pt x="5594345" y="3736975"/>
                </a:cubicBezTo>
                <a:lnTo>
                  <a:pt x="95255" y="3736975"/>
                </a:lnTo>
                <a:cubicBezTo>
                  <a:pt x="42647" y="3736975"/>
                  <a:pt x="0" y="3694328"/>
                  <a:pt x="0" y="3641720"/>
                </a:cubicBezTo>
                <a:lnTo>
                  <a:pt x="0" y="95255"/>
                </a:lnTo>
                <a:cubicBezTo>
                  <a:pt x="0" y="42683"/>
                  <a:pt x="42683" y="0"/>
                  <a:pt x="95255"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21" name="Text 19"/>
          <p:cNvSpPr/>
          <p:nvPr/>
        </p:nvSpPr>
        <p:spPr>
          <a:xfrm>
            <a:off x="482600" y="3175000"/>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Min Filter</a:t>
            </a:r>
            <a:endParaRPr lang="en-US" sz="1600" dirty="0"/>
          </a:p>
        </p:txBody>
      </p:sp>
      <p:pic>
        <p:nvPicPr>
          <p:cNvPr id="49" name="Picture 48">
            <a:extLst>
              <a:ext uri="{FF2B5EF4-FFF2-40B4-BE49-F238E27FC236}">
                <a16:creationId xmlns:a16="http://schemas.microsoft.com/office/drawing/2014/main" id="{87892126-1416-10BA-709F-2138BFD55938}"/>
              </a:ext>
            </a:extLst>
          </p:cNvPr>
          <p:cNvPicPr>
            <a:picLocks noChangeAspect="1"/>
          </p:cNvPicPr>
          <p:nvPr/>
        </p:nvPicPr>
        <p:blipFill>
          <a:blip r:embed="rId3"/>
          <a:stretch>
            <a:fillRect/>
          </a:stretch>
        </p:blipFill>
        <p:spPr>
          <a:xfrm>
            <a:off x="1339156" y="1088629"/>
            <a:ext cx="1735237" cy="1749402"/>
          </a:xfrm>
          <a:prstGeom prst="rect">
            <a:avLst/>
          </a:prstGeom>
        </p:spPr>
      </p:pic>
      <p:pic>
        <p:nvPicPr>
          <p:cNvPr id="51" name="Picture 50">
            <a:extLst>
              <a:ext uri="{FF2B5EF4-FFF2-40B4-BE49-F238E27FC236}">
                <a16:creationId xmlns:a16="http://schemas.microsoft.com/office/drawing/2014/main" id="{04A1A71F-3128-8109-32F3-16874EC604EB}"/>
              </a:ext>
            </a:extLst>
          </p:cNvPr>
          <p:cNvPicPr>
            <a:picLocks noChangeAspect="1"/>
          </p:cNvPicPr>
          <p:nvPr/>
        </p:nvPicPr>
        <p:blipFill>
          <a:blip r:embed="rId4"/>
          <a:stretch>
            <a:fillRect/>
          </a:stretch>
        </p:blipFill>
        <p:spPr>
          <a:xfrm>
            <a:off x="323850" y="3460006"/>
            <a:ext cx="3535680" cy="2651760"/>
          </a:xfrm>
          <a:prstGeom prst="rect">
            <a:avLst/>
          </a:prstGeom>
        </p:spPr>
      </p:pic>
      <p:sp>
        <p:nvSpPr>
          <p:cNvPr id="52" name="Shape 18">
            <a:extLst>
              <a:ext uri="{FF2B5EF4-FFF2-40B4-BE49-F238E27FC236}">
                <a16:creationId xmlns:a16="http://schemas.microsoft.com/office/drawing/2014/main" id="{4008CC1E-3549-E003-BF4D-E3C99283C6E9}"/>
              </a:ext>
            </a:extLst>
          </p:cNvPr>
          <p:cNvSpPr/>
          <p:nvPr/>
        </p:nvSpPr>
        <p:spPr>
          <a:xfrm>
            <a:off x="6096000" y="3009900"/>
            <a:ext cx="5689600" cy="3736975"/>
          </a:xfrm>
          <a:custGeom>
            <a:avLst/>
            <a:gdLst/>
            <a:ahLst/>
            <a:cxnLst/>
            <a:rect l="l" t="t" r="r" b="b"/>
            <a:pathLst>
              <a:path w="5689600" h="3736975">
                <a:moveTo>
                  <a:pt x="95255" y="0"/>
                </a:moveTo>
                <a:lnTo>
                  <a:pt x="5594345" y="0"/>
                </a:lnTo>
                <a:cubicBezTo>
                  <a:pt x="5646953" y="0"/>
                  <a:pt x="5689600" y="42647"/>
                  <a:pt x="5689600" y="95255"/>
                </a:cubicBezTo>
                <a:lnTo>
                  <a:pt x="5689600" y="3641720"/>
                </a:lnTo>
                <a:cubicBezTo>
                  <a:pt x="5689600" y="3694328"/>
                  <a:pt x="5646953" y="3736975"/>
                  <a:pt x="5594345" y="3736975"/>
                </a:cubicBezTo>
                <a:lnTo>
                  <a:pt x="95255" y="3736975"/>
                </a:lnTo>
                <a:cubicBezTo>
                  <a:pt x="42647" y="3736975"/>
                  <a:pt x="0" y="3694328"/>
                  <a:pt x="0" y="3641720"/>
                </a:cubicBezTo>
                <a:lnTo>
                  <a:pt x="0" y="95255"/>
                </a:lnTo>
                <a:cubicBezTo>
                  <a:pt x="0" y="42683"/>
                  <a:pt x="42683" y="0"/>
                  <a:pt x="95255"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pic>
        <p:nvPicPr>
          <p:cNvPr id="54" name="Picture 53">
            <a:extLst>
              <a:ext uri="{FF2B5EF4-FFF2-40B4-BE49-F238E27FC236}">
                <a16:creationId xmlns:a16="http://schemas.microsoft.com/office/drawing/2014/main" id="{6BC1617B-7C29-5DA5-EAA1-B9D3A0F12A07}"/>
              </a:ext>
            </a:extLst>
          </p:cNvPr>
          <p:cNvPicPr>
            <a:picLocks noChangeAspect="1"/>
          </p:cNvPicPr>
          <p:nvPr/>
        </p:nvPicPr>
        <p:blipFill>
          <a:blip r:embed="rId5"/>
          <a:stretch>
            <a:fillRect/>
          </a:stretch>
        </p:blipFill>
        <p:spPr>
          <a:xfrm>
            <a:off x="5178673" y="1069609"/>
            <a:ext cx="1742282" cy="1756505"/>
          </a:xfrm>
          <a:prstGeom prst="rect">
            <a:avLst/>
          </a:prstGeom>
        </p:spPr>
      </p:pic>
      <p:sp>
        <p:nvSpPr>
          <p:cNvPr id="55" name="Text 19">
            <a:extLst>
              <a:ext uri="{FF2B5EF4-FFF2-40B4-BE49-F238E27FC236}">
                <a16:creationId xmlns:a16="http://schemas.microsoft.com/office/drawing/2014/main" id="{75890D09-C6FE-C91B-4FA6-354610D8CEE8}"/>
              </a:ext>
            </a:extLst>
          </p:cNvPr>
          <p:cNvSpPr/>
          <p:nvPr/>
        </p:nvSpPr>
        <p:spPr>
          <a:xfrm>
            <a:off x="5178673" y="3175000"/>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Max Filter</a:t>
            </a:r>
            <a:endParaRPr lang="en-US" sz="1600" dirty="0"/>
          </a:p>
        </p:txBody>
      </p:sp>
      <p:pic>
        <p:nvPicPr>
          <p:cNvPr id="57" name="Picture 56">
            <a:extLst>
              <a:ext uri="{FF2B5EF4-FFF2-40B4-BE49-F238E27FC236}">
                <a16:creationId xmlns:a16="http://schemas.microsoft.com/office/drawing/2014/main" id="{C0F731B3-1F27-9A19-DBF0-29E7D7924044}"/>
              </a:ext>
            </a:extLst>
          </p:cNvPr>
          <p:cNvPicPr>
            <a:picLocks noChangeAspect="1"/>
          </p:cNvPicPr>
          <p:nvPr/>
        </p:nvPicPr>
        <p:blipFill>
          <a:blip r:embed="rId6"/>
          <a:stretch>
            <a:fillRect/>
          </a:stretch>
        </p:blipFill>
        <p:spPr>
          <a:xfrm>
            <a:off x="4434067" y="3461593"/>
            <a:ext cx="3535680" cy="2651760"/>
          </a:xfrm>
          <a:prstGeom prst="rect">
            <a:avLst/>
          </a:prstGeom>
        </p:spPr>
      </p:pic>
      <p:pic>
        <p:nvPicPr>
          <p:cNvPr id="71" name="Picture 70">
            <a:extLst>
              <a:ext uri="{FF2B5EF4-FFF2-40B4-BE49-F238E27FC236}">
                <a16:creationId xmlns:a16="http://schemas.microsoft.com/office/drawing/2014/main" id="{E0166ED9-225E-6FC5-BC2E-9B68028DEA10}"/>
              </a:ext>
            </a:extLst>
          </p:cNvPr>
          <p:cNvPicPr>
            <a:picLocks noChangeAspect="1"/>
          </p:cNvPicPr>
          <p:nvPr/>
        </p:nvPicPr>
        <p:blipFill>
          <a:blip r:embed="rId7"/>
          <a:stretch>
            <a:fillRect/>
          </a:stretch>
        </p:blipFill>
        <p:spPr>
          <a:xfrm>
            <a:off x="8204398" y="3458625"/>
            <a:ext cx="3535699" cy="2651774"/>
          </a:xfrm>
          <a:prstGeom prst="rect">
            <a:avLst/>
          </a:prstGeom>
        </p:spPr>
      </p:pic>
      <p:pic>
        <p:nvPicPr>
          <p:cNvPr id="59" name="Picture 58">
            <a:extLst>
              <a:ext uri="{FF2B5EF4-FFF2-40B4-BE49-F238E27FC236}">
                <a16:creationId xmlns:a16="http://schemas.microsoft.com/office/drawing/2014/main" id="{0EA31EBE-4058-F883-6AA9-A528770C3EDF}"/>
              </a:ext>
            </a:extLst>
          </p:cNvPr>
          <p:cNvPicPr>
            <a:picLocks noChangeAspect="1"/>
          </p:cNvPicPr>
          <p:nvPr/>
        </p:nvPicPr>
        <p:blipFill>
          <a:blip r:embed="rId8"/>
          <a:stretch>
            <a:fillRect/>
          </a:stretch>
        </p:blipFill>
        <p:spPr>
          <a:xfrm>
            <a:off x="9036533" y="1066818"/>
            <a:ext cx="1830885" cy="1816060"/>
          </a:xfrm>
          <a:prstGeom prst="rect">
            <a:avLst/>
          </a:prstGeom>
        </p:spPr>
      </p:pic>
      <p:sp>
        <p:nvSpPr>
          <p:cNvPr id="58" name="Shape 13">
            <a:extLst>
              <a:ext uri="{FF2B5EF4-FFF2-40B4-BE49-F238E27FC236}">
                <a16:creationId xmlns:a16="http://schemas.microsoft.com/office/drawing/2014/main" id="{7AEA27F2-C389-4DEF-FA29-B27997C72DBA}"/>
              </a:ext>
            </a:extLst>
          </p:cNvPr>
          <p:cNvSpPr/>
          <p:nvPr/>
        </p:nvSpPr>
        <p:spPr>
          <a:xfrm>
            <a:off x="4140448" y="1069609"/>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5120" y="325120"/>
            <a:ext cx="11606784" cy="195072"/>
          </a:xfrm>
          <a:prstGeom prst="rect">
            <a:avLst/>
          </a:prstGeom>
          <a:noFill/>
          <a:ln/>
        </p:spPr>
        <p:txBody>
          <a:bodyPr wrap="square" lIns="0" tIns="0" rIns="0" bIns="0" rtlCol="0" anchor="ctr"/>
          <a:lstStyle/>
          <a:p>
            <a:pPr>
              <a:lnSpc>
                <a:spcPct val="130000"/>
              </a:lnSpc>
            </a:pPr>
            <a:r>
              <a:rPr lang="en-US" sz="1200" b="1" kern="0" spc="102" dirty="0">
                <a:solidFill>
                  <a:srgbClr val="B8A890"/>
                </a:solidFill>
                <a:latin typeface="Quattrocento Sans" pitchFamily="34" charset="0"/>
                <a:ea typeface="Quattrocento Sans" pitchFamily="34" charset="-122"/>
                <a:cs typeface="Quattrocento Sans" pitchFamily="34" charset="-120"/>
              </a:rPr>
              <a:t>SALT &amp; PEPPER NOISE</a:t>
            </a:r>
            <a:endParaRPr lang="en-US" sz="2400" dirty="0"/>
          </a:p>
        </p:txBody>
      </p:sp>
      <p:sp>
        <p:nvSpPr>
          <p:cNvPr id="3" name="Text 1"/>
          <p:cNvSpPr/>
          <p:nvPr/>
        </p:nvSpPr>
        <p:spPr>
          <a:xfrm>
            <a:off x="325120" y="585216"/>
            <a:ext cx="11688064" cy="325120"/>
          </a:xfrm>
          <a:prstGeom prst="rect">
            <a:avLst/>
          </a:prstGeom>
          <a:noFill/>
          <a:ln/>
        </p:spPr>
        <p:txBody>
          <a:bodyPr wrap="square" lIns="0" tIns="0" rIns="0" bIns="0" rtlCol="0" anchor="ctr"/>
          <a:lstStyle/>
          <a:p>
            <a:pPr>
              <a:lnSpc>
                <a:spcPct val="90000"/>
              </a:lnSpc>
            </a:pPr>
            <a:r>
              <a:rPr lang="en-US" sz="2304" b="1" dirty="0">
                <a:solidFill>
                  <a:srgbClr val="E0E2E5"/>
                </a:solidFill>
                <a:latin typeface="Liter" pitchFamily="34" charset="0"/>
                <a:ea typeface="Liter" pitchFamily="34" charset="-122"/>
                <a:cs typeface="Liter" pitchFamily="34" charset="-120"/>
              </a:rPr>
              <a:t>Filter Performance Analysis</a:t>
            </a:r>
            <a:endParaRPr lang="en-US" sz="1600" dirty="0"/>
          </a:p>
        </p:txBody>
      </p:sp>
      <p:sp>
        <p:nvSpPr>
          <p:cNvPr id="4" name="Shape 2"/>
          <p:cNvSpPr/>
          <p:nvPr/>
        </p:nvSpPr>
        <p:spPr>
          <a:xfrm>
            <a:off x="341376" y="1072896"/>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4A6C8C">
              <a:alpha val="10196"/>
            </a:srgbClr>
          </a:solidFill>
          <a:ln/>
        </p:spPr>
        <p:txBody>
          <a:bodyPr/>
          <a:lstStyle/>
          <a:p>
            <a:endParaRPr lang="en-US"/>
          </a:p>
        </p:txBody>
      </p:sp>
      <p:sp>
        <p:nvSpPr>
          <p:cNvPr id="5" name="Shape 3"/>
          <p:cNvSpPr/>
          <p:nvPr/>
        </p:nvSpPr>
        <p:spPr>
          <a:xfrm>
            <a:off x="341376" y="1072896"/>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4A6C8C"/>
          </a:solidFill>
          <a:ln/>
        </p:spPr>
        <p:txBody>
          <a:bodyPr/>
          <a:lstStyle/>
          <a:p>
            <a:endParaRPr lang="en-US"/>
          </a:p>
        </p:txBody>
      </p:sp>
      <p:sp>
        <p:nvSpPr>
          <p:cNvPr id="6" name="Shape 4"/>
          <p:cNvSpPr/>
          <p:nvPr/>
        </p:nvSpPr>
        <p:spPr>
          <a:xfrm>
            <a:off x="487680" y="1202944"/>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4A6C8C"/>
          </a:solidFill>
          <a:ln/>
        </p:spPr>
        <p:txBody>
          <a:bodyPr/>
          <a:lstStyle/>
          <a:p>
            <a:endParaRPr lang="en-US"/>
          </a:p>
        </p:txBody>
      </p:sp>
      <p:sp>
        <p:nvSpPr>
          <p:cNvPr id="7" name="Text 5"/>
          <p:cNvSpPr/>
          <p:nvPr/>
        </p:nvSpPr>
        <p:spPr>
          <a:xfrm>
            <a:off x="451104" y="1202944"/>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8" name="Text 6"/>
          <p:cNvSpPr/>
          <p:nvPr/>
        </p:nvSpPr>
        <p:spPr>
          <a:xfrm>
            <a:off x="910336" y="1251712"/>
            <a:ext cx="1016000"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Median Filter</a:t>
            </a:r>
            <a:endParaRPr lang="en-US" sz="1600" dirty="0"/>
          </a:p>
        </p:txBody>
      </p:sp>
      <p:sp>
        <p:nvSpPr>
          <p:cNvPr id="9" name="Shape 7"/>
          <p:cNvSpPr/>
          <p:nvPr/>
        </p:nvSpPr>
        <p:spPr>
          <a:xfrm>
            <a:off x="5444947" y="1251712"/>
            <a:ext cx="438912" cy="227584"/>
          </a:xfrm>
          <a:custGeom>
            <a:avLst/>
            <a:gdLst/>
            <a:ahLst/>
            <a:cxnLst/>
            <a:rect l="l" t="t" r="r" b="b"/>
            <a:pathLst>
              <a:path w="438912" h="227584">
                <a:moveTo>
                  <a:pt x="32513" y="0"/>
                </a:moveTo>
                <a:lnTo>
                  <a:pt x="406399" y="0"/>
                </a:lnTo>
                <a:cubicBezTo>
                  <a:pt x="424344" y="0"/>
                  <a:pt x="438912" y="14568"/>
                  <a:pt x="438912" y="32513"/>
                </a:cubicBezTo>
                <a:lnTo>
                  <a:pt x="438912" y="195071"/>
                </a:lnTo>
                <a:cubicBezTo>
                  <a:pt x="438912" y="213016"/>
                  <a:pt x="424344" y="227584"/>
                  <a:pt x="406399" y="227584"/>
                </a:cubicBezTo>
                <a:lnTo>
                  <a:pt x="32513" y="227584"/>
                </a:lnTo>
                <a:cubicBezTo>
                  <a:pt x="14568" y="227584"/>
                  <a:pt x="0" y="213016"/>
                  <a:pt x="0" y="195071"/>
                </a:cubicBezTo>
                <a:lnTo>
                  <a:pt x="0" y="32513"/>
                </a:lnTo>
                <a:cubicBezTo>
                  <a:pt x="0" y="14568"/>
                  <a:pt x="14568" y="0"/>
                  <a:pt x="32513" y="0"/>
                </a:cubicBezTo>
                <a:close/>
              </a:path>
            </a:pathLst>
          </a:custGeom>
          <a:solidFill>
            <a:srgbClr val="B8A890"/>
          </a:solidFill>
          <a:ln/>
        </p:spPr>
        <p:txBody>
          <a:bodyPr/>
          <a:lstStyle/>
          <a:p>
            <a:endParaRPr lang="en-US"/>
          </a:p>
        </p:txBody>
      </p:sp>
      <p:sp>
        <p:nvSpPr>
          <p:cNvPr id="10" name="Text 8"/>
          <p:cNvSpPr/>
          <p:nvPr/>
        </p:nvSpPr>
        <p:spPr>
          <a:xfrm>
            <a:off x="5444947" y="1251712"/>
            <a:ext cx="495808" cy="227584"/>
          </a:xfrm>
          <a:prstGeom prst="rect">
            <a:avLst/>
          </a:prstGeom>
          <a:noFill/>
          <a:ln/>
        </p:spPr>
        <p:txBody>
          <a:bodyPr wrap="square" lIns="97536" tIns="32512" rIns="97536" bIns="32512" rtlCol="0" anchor="ctr"/>
          <a:lstStyle/>
          <a:p>
            <a:pPr>
              <a:lnSpc>
                <a:spcPct val="120000"/>
              </a:lnSpc>
            </a:pPr>
            <a:r>
              <a:rPr lang="en-US" sz="896" b="1" dirty="0">
                <a:solidFill>
                  <a:srgbClr val="1A1D21"/>
                </a:solidFill>
                <a:latin typeface="Quattrocento Sans" pitchFamily="34" charset="0"/>
                <a:ea typeface="Quattrocento Sans" pitchFamily="34" charset="-122"/>
                <a:cs typeface="Quattrocento Sans" pitchFamily="34" charset="-120"/>
              </a:rPr>
              <a:t>BEST</a:t>
            </a:r>
            <a:endParaRPr lang="en-US" sz="1600" dirty="0"/>
          </a:p>
        </p:txBody>
      </p:sp>
      <p:sp>
        <p:nvSpPr>
          <p:cNvPr id="11" name="Text 9"/>
          <p:cNvSpPr/>
          <p:nvPr/>
        </p:nvSpPr>
        <p:spPr>
          <a:xfrm>
            <a:off x="487680" y="1593088"/>
            <a:ext cx="5462016" cy="357632"/>
          </a:xfrm>
          <a:prstGeom prst="rect">
            <a:avLst/>
          </a:prstGeom>
          <a:noFill/>
          <a:ln/>
        </p:spPr>
        <p:txBody>
          <a:bodyPr wrap="square" lIns="0" tIns="0" rIns="0" bIns="0" rtlCol="0" anchor="ctr"/>
          <a:lstStyle/>
          <a:p>
            <a:pPr>
              <a:lnSpc>
                <a:spcPct val="110000"/>
              </a:lnSpc>
            </a:pPr>
            <a:r>
              <a:rPr lang="en-US" sz="1024" b="1" dirty="0">
                <a:solidFill>
                  <a:srgbClr val="4A6C8C"/>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Superior noise removal while preserving edges and fine details. Non-linear operation effectively removes extreme outlier pixels.</a:t>
            </a:r>
            <a:endParaRPr lang="en-US" sz="1600" dirty="0"/>
          </a:p>
        </p:txBody>
      </p:sp>
      <p:sp>
        <p:nvSpPr>
          <p:cNvPr id="12" name="Text 10"/>
          <p:cNvSpPr/>
          <p:nvPr/>
        </p:nvSpPr>
        <p:spPr>
          <a:xfrm>
            <a:off x="487680" y="2015744"/>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Mechanism:</a:t>
            </a:r>
            <a:r>
              <a:rPr lang="en-US" sz="896" dirty="0">
                <a:solidFill>
                  <a:srgbClr val="E0E2E5">
                    <a:alpha val="80000"/>
                  </a:srgbClr>
                </a:solidFill>
                <a:latin typeface="Quattrocento Sans" pitchFamily="34" charset="0"/>
                <a:ea typeface="Quattrocento Sans" pitchFamily="34" charset="-122"/>
                <a:cs typeface="Quattrocento Sans" pitchFamily="34" charset="-120"/>
              </a:rPr>
              <a:t> Replaces pixel with median of neighborhood. Robust to outliers without averaging artifacts.</a:t>
            </a:r>
            <a:endParaRPr lang="en-US" sz="1600" dirty="0"/>
          </a:p>
        </p:txBody>
      </p:sp>
      <p:sp>
        <p:nvSpPr>
          <p:cNvPr id="13" name="Shape 11"/>
          <p:cNvSpPr/>
          <p:nvPr/>
        </p:nvSpPr>
        <p:spPr>
          <a:xfrm>
            <a:off x="341376" y="2432304"/>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5A7D7C">
              <a:alpha val="10196"/>
            </a:srgbClr>
          </a:solidFill>
          <a:ln/>
        </p:spPr>
        <p:txBody>
          <a:bodyPr/>
          <a:lstStyle/>
          <a:p>
            <a:endParaRPr lang="en-US"/>
          </a:p>
        </p:txBody>
      </p:sp>
      <p:sp>
        <p:nvSpPr>
          <p:cNvPr id="14" name="Shape 12"/>
          <p:cNvSpPr/>
          <p:nvPr/>
        </p:nvSpPr>
        <p:spPr>
          <a:xfrm>
            <a:off x="341376" y="2432304"/>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5A7D7C"/>
          </a:solidFill>
          <a:ln/>
        </p:spPr>
        <p:txBody>
          <a:bodyPr/>
          <a:lstStyle/>
          <a:p>
            <a:endParaRPr lang="en-US"/>
          </a:p>
        </p:txBody>
      </p:sp>
      <p:sp>
        <p:nvSpPr>
          <p:cNvPr id="15" name="Shape 13"/>
          <p:cNvSpPr/>
          <p:nvPr/>
        </p:nvSpPr>
        <p:spPr>
          <a:xfrm>
            <a:off x="487680" y="2562352"/>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5A7D7C"/>
          </a:solidFill>
          <a:ln/>
        </p:spPr>
        <p:txBody>
          <a:bodyPr/>
          <a:lstStyle/>
          <a:p>
            <a:endParaRPr lang="en-US"/>
          </a:p>
        </p:txBody>
      </p:sp>
      <p:sp>
        <p:nvSpPr>
          <p:cNvPr id="16" name="Text 14"/>
          <p:cNvSpPr/>
          <p:nvPr/>
        </p:nvSpPr>
        <p:spPr>
          <a:xfrm>
            <a:off x="451104" y="2562352"/>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910336" y="2611120"/>
            <a:ext cx="788416"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Max Filter</a:t>
            </a:r>
            <a:endParaRPr lang="en-US" sz="1600" dirty="0"/>
          </a:p>
        </p:txBody>
      </p:sp>
      <p:sp>
        <p:nvSpPr>
          <p:cNvPr id="18" name="Text 16"/>
          <p:cNvSpPr/>
          <p:nvPr/>
        </p:nvSpPr>
        <p:spPr>
          <a:xfrm>
            <a:off x="487680" y="2952496"/>
            <a:ext cx="5462016" cy="357632"/>
          </a:xfrm>
          <a:prstGeom prst="rect">
            <a:avLst/>
          </a:prstGeom>
          <a:noFill/>
          <a:ln/>
        </p:spPr>
        <p:txBody>
          <a:bodyPr wrap="square" lIns="0" tIns="0" rIns="0" bIns="0" rtlCol="0" anchor="ctr"/>
          <a:lstStyle/>
          <a:p>
            <a:pPr>
              <a:lnSpc>
                <a:spcPct val="110000"/>
              </a:lnSpc>
            </a:pPr>
            <a:r>
              <a:rPr lang="en-US" sz="1024" b="1" dirty="0">
                <a:solidFill>
                  <a:srgbClr val="5A7D7C"/>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Effective for pepper noise (dark pixels) but increases overall brightness and causes detail loss.</a:t>
            </a:r>
            <a:endParaRPr lang="en-US" sz="1600" dirty="0"/>
          </a:p>
        </p:txBody>
      </p:sp>
      <p:sp>
        <p:nvSpPr>
          <p:cNvPr id="19" name="Text 17"/>
          <p:cNvSpPr/>
          <p:nvPr/>
        </p:nvSpPr>
        <p:spPr>
          <a:xfrm>
            <a:off x="487680" y="3375152"/>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Mechanism:</a:t>
            </a:r>
            <a:r>
              <a:rPr lang="en-US" sz="896" dirty="0">
                <a:solidFill>
                  <a:srgbClr val="E0E2E5">
                    <a:alpha val="80000"/>
                  </a:srgbClr>
                </a:solidFill>
                <a:latin typeface="Quattrocento Sans" pitchFamily="34" charset="0"/>
                <a:ea typeface="Quattrocento Sans" pitchFamily="34" charset="-122"/>
                <a:cs typeface="Quattrocento Sans" pitchFamily="34" charset="-120"/>
              </a:rPr>
              <a:t> Selects maximum intensity value in neighborhood, eliminating dark outliers.</a:t>
            </a:r>
            <a:endParaRPr lang="en-US" sz="1600" dirty="0"/>
          </a:p>
        </p:txBody>
      </p:sp>
      <p:sp>
        <p:nvSpPr>
          <p:cNvPr id="20" name="Shape 18"/>
          <p:cNvSpPr/>
          <p:nvPr/>
        </p:nvSpPr>
        <p:spPr>
          <a:xfrm>
            <a:off x="341376" y="3791712"/>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B8A890">
              <a:alpha val="10196"/>
            </a:srgbClr>
          </a:solidFill>
          <a:ln/>
        </p:spPr>
        <p:txBody>
          <a:bodyPr/>
          <a:lstStyle/>
          <a:p>
            <a:endParaRPr lang="en-US"/>
          </a:p>
        </p:txBody>
      </p:sp>
      <p:sp>
        <p:nvSpPr>
          <p:cNvPr id="21" name="Shape 19"/>
          <p:cNvSpPr/>
          <p:nvPr/>
        </p:nvSpPr>
        <p:spPr>
          <a:xfrm>
            <a:off x="341376" y="3791712"/>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B8A890"/>
          </a:solidFill>
          <a:ln/>
        </p:spPr>
        <p:txBody>
          <a:bodyPr/>
          <a:lstStyle/>
          <a:p>
            <a:endParaRPr lang="en-US"/>
          </a:p>
        </p:txBody>
      </p:sp>
      <p:sp>
        <p:nvSpPr>
          <p:cNvPr id="22" name="Shape 20"/>
          <p:cNvSpPr/>
          <p:nvPr/>
        </p:nvSpPr>
        <p:spPr>
          <a:xfrm>
            <a:off x="487680" y="3921760"/>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B8A890"/>
          </a:solidFill>
          <a:ln/>
        </p:spPr>
        <p:txBody>
          <a:bodyPr/>
          <a:lstStyle/>
          <a:p>
            <a:endParaRPr lang="en-US"/>
          </a:p>
        </p:txBody>
      </p:sp>
      <p:sp>
        <p:nvSpPr>
          <p:cNvPr id="23" name="Text 21"/>
          <p:cNvSpPr/>
          <p:nvPr/>
        </p:nvSpPr>
        <p:spPr>
          <a:xfrm>
            <a:off x="451104" y="3921760"/>
            <a:ext cx="398272" cy="325120"/>
          </a:xfrm>
          <a:prstGeom prst="rect">
            <a:avLst/>
          </a:prstGeom>
          <a:noFill/>
          <a:ln/>
        </p:spPr>
        <p:txBody>
          <a:bodyPr wrap="square" lIns="0" tIns="0" rIns="0" bIns="0" rtlCol="0" anchor="ctr"/>
          <a:lstStyle/>
          <a:p>
            <a:pPr algn="ct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24" name="Text 22"/>
          <p:cNvSpPr/>
          <p:nvPr/>
        </p:nvSpPr>
        <p:spPr>
          <a:xfrm>
            <a:off x="910336" y="3970528"/>
            <a:ext cx="755904"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Min Filter</a:t>
            </a:r>
            <a:endParaRPr lang="en-US" sz="1600" dirty="0"/>
          </a:p>
        </p:txBody>
      </p:sp>
      <p:sp>
        <p:nvSpPr>
          <p:cNvPr id="25" name="Text 23"/>
          <p:cNvSpPr/>
          <p:nvPr/>
        </p:nvSpPr>
        <p:spPr>
          <a:xfrm>
            <a:off x="487680" y="4311904"/>
            <a:ext cx="5462016" cy="357632"/>
          </a:xfrm>
          <a:prstGeom prst="rect">
            <a:avLst/>
          </a:prstGeom>
          <a:noFill/>
          <a:ln/>
        </p:spPr>
        <p:txBody>
          <a:bodyPr wrap="square" lIns="0" tIns="0" rIns="0" bIns="0" rtlCol="0" anchor="ctr"/>
          <a:lstStyle/>
          <a:p>
            <a:pPr>
              <a:lnSpc>
                <a:spcPct val="110000"/>
              </a:lnSpc>
            </a:pPr>
            <a:r>
              <a:rPr lang="en-US" sz="1024" b="1" dirty="0">
                <a:solidFill>
                  <a:srgbClr val="B8A890"/>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Reduces salt noise (bright pixels) but darkens image and obscures low-intensity features.</a:t>
            </a:r>
            <a:endParaRPr lang="en-US" sz="1600" dirty="0"/>
          </a:p>
        </p:txBody>
      </p:sp>
      <p:sp>
        <p:nvSpPr>
          <p:cNvPr id="26" name="Text 24"/>
          <p:cNvSpPr/>
          <p:nvPr/>
        </p:nvSpPr>
        <p:spPr>
          <a:xfrm>
            <a:off x="487680" y="4734560"/>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Mechanism:</a:t>
            </a:r>
            <a:r>
              <a:rPr lang="en-US" sz="896" dirty="0">
                <a:solidFill>
                  <a:srgbClr val="E0E2E5">
                    <a:alpha val="80000"/>
                  </a:srgbClr>
                </a:solidFill>
                <a:latin typeface="Quattrocento Sans" pitchFamily="34" charset="0"/>
                <a:ea typeface="Quattrocento Sans" pitchFamily="34" charset="-122"/>
                <a:cs typeface="Quattrocento Sans" pitchFamily="34" charset="-120"/>
              </a:rPr>
              <a:t> Selects minimum intensity value, eliminating bright outliers.</a:t>
            </a:r>
            <a:endParaRPr lang="en-US" sz="1600" dirty="0"/>
          </a:p>
        </p:txBody>
      </p:sp>
      <p:sp>
        <p:nvSpPr>
          <p:cNvPr id="27" name="Shape 25"/>
          <p:cNvSpPr/>
          <p:nvPr/>
        </p:nvSpPr>
        <p:spPr>
          <a:xfrm>
            <a:off x="341376" y="5151120"/>
            <a:ext cx="5673344" cy="1048512"/>
          </a:xfrm>
          <a:custGeom>
            <a:avLst/>
            <a:gdLst/>
            <a:ahLst/>
            <a:cxnLst/>
            <a:rect l="l" t="t" r="r" b="b"/>
            <a:pathLst>
              <a:path w="5673344" h="1048512">
                <a:moveTo>
                  <a:pt x="32512" y="0"/>
                </a:moveTo>
                <a:lnTo>
                  <a:pt x="5575811" y="0"/>
                </a:lnTo>
                <a:cubicBezTo>
                  <a:pt x="5629677" y="0"/>
                  <a:pt x="5673344" y="43667"/>
                  <a:pt x="5673344" y="97533"/>
                </a:cubicBezTo>
                <a:lnTo>
                  <a:pt x="5673344" y="950979"/>
                </a:lnTo>
                <a:cubicBezTo>
                  <a:pt x="5673344" y="1004845"/>
                  <a:pt x="5629677" y="1048512"/>
                  <a:pt x="5575811" y="1048512"/>
                </a:cubicBezTo>
                <a:lnTo>
                  <a:pt x="32512" y="1048512"/>
                </a:lnTo>
                <a:cubicBezTo>
                  <a:pt x="14556" y="1048512"/>
                  <a:pt x="0" y="1033956"/>
                  <a:pt x="0" y="1016000"/>
                </a:cubicBezTo>
                <a:lnTo>
                  <a:pt x="0" y="32512"/>
                </a:lnTo>
                <a:cubicBezTo>
                  <a:pt x="0" y="14568"/>
                  <a:pt x="14568" y="0"/>
                  <a:pt x="32512" y="0"/>
                </a:cubicBezTo>
                <a:close/>
              </a:path>
            </a:pathLst>
          </a:custGeom>
          <a:solidFill>
            <a:srgbClr val="E0E2E5">
              <a:alpha val="5098"/>
            </a:srgbClr>
          </a:solidFill>
          <a:ln/>
        </p:spPr>
        <p:txBody>
          <a:bodyPr/>
          <a:lstStyle/>
          <a:p>
            <a:endParaRPr lang="en-US"/>
          </a:p>
        </p:txBody>
      </p:sp>
      <p:sp>
        <p:nvSpPr>
          <p:cNvPr id="28" name="Shape 26"/>
          <p:cNvSpPr/>
          <p:nvPr/>
        </p:nvSpPr>
        <p:spPr>
          <a:xfrm>
            <a:off x="341376" y="5151120"/>
            <a:ext cx="32512" cy="1048512"/>
          </a:xfrm>
          <a:custGeom>
            <a:avLst/>
            <a:gdLst/>
            <a:ahLst/>
            <a:cxnLst/>
            <a:rect l="l" t="t" r="r" b="b"/>
            <a:pathLst>
              <a:path w="32512" h="1048512">
                <a:moveTo>
                  <a:pt x="32512" y="0"/>
                </a:moveTo>
                <a:lnTo>
                  <a:pt x="32512" y="0"/>
                </a:lnTo>
                <a:lnTo>
                  <a:pt x="32512" y="1048512"/>
                </a:lnTo>
                <a:lnTo>
                  <a:pt x="32512" y="1048512"/>
                </a:lnTo>
                <a:cubicBezTo>
                  <a:pt x="14556" y="1048512"/>
                  <a:pt x="0" y="1033956"/>
                  <a:pt x="0" y="1016000"/>
                </a:cubicBezTo>
                <a:lnTo>
                  <a:pt x="0" y="32512"/>
                </a:lnTo>
                <a:cubicBezTo>
                  <a:pt x="0" y="14568"/>
                  <a:pt x="14568" y="0"/>
                  <a:pt x="32512" y="0"/>
                </a:cubicBezTo>
                <a:close/>
              </a:path>
            </a:pathLst>
          </a:custGeom>
          <a:solidFill>
            <a:srgbClr val="E0E2E5">
              <a:alpha val="20000"/>
            </a:srgbClr>
          </a:solidFill>
          <a:ln/>
        </p:spPr>
        <p:txBody>
          <a:bodyPr/>
          <a:lstStyle/>
          <a:p>
            <a:endParaRPr lang="en-US"/>
          </a:p>
        </p:txBody>
      </p:sp>
      <p:sp>
        <p:nvSpPr>
          <p:cNvPr id="29" name="Shape 27"/>
          <p:cNvSpPr/>
          <p:nvPr/>
        </p:nvSpPr>
        <p:spPr>
          <a:xfrm>
            <a:off x="487680" y="5281168"/>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E0E2E5">
              <a:alpha val="20000"/>
            </a:srgbClr>
          </a:solidFill>
          <a:ln/>
        </p:spPr>
        <p:txBody>
          <a:bodyPr/>
          <a:lstStyle/>
          <a:p>
            <a:endParaRPr lang="en-US"/>
          </a:p>
        </p:txBody>
      </p:sp>
      <p:sp>
        <p:nvSpPr>
          <p:cNvPr id="30" name="Text 28"/>
          <p:cNvSpPr/>
          <p:nvPr/>
        </p:nvSpPr>
        <p:spPr>
          <a:xfrm>
            <a:off x="451104" y="5281168"/>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31" name="Text 29"/>
          <p:cNvSpPr/>
          <p:nvPr/>
        </p:nvSpPr>
        <p:spPr>
          <a:xfrm>
            <a:off x="910336" y="5329936"/>
            <a:ext cx="1081024"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Average Filter</a:t>
            </a:r>
            <a:endParaRPr lang="en-US" sz="1600" dirty="0"/>
          </a:p>
        </p:txBody>
      </p:sp>
      <p:sp>
        <p:nvSpPr>
          <p:cNvPr id="32" name="Shape 30"/>
          <p:cNvSpPr/>
          <p:nvPr/>
        </p:nvSpPr>
        <p:spPr>
          <a:xfrm>
            <a:off x="5391302" y="5329936"/>
            <a:ext cx="495808" cy="227584"/>
          </a:xfrm>
          <a:custGeom>
            <a:avLst/>
            <a:gdLst/>
            <a:ahLst/>
            <a:cxnLst/>
            <a:rect l="l" t="t" r="r" b="b"/>
            <a:pathLst>
              <a:path w="495808" h="227584">
                <a:moveTo>
                  <a:pt x="32513" y="0"/>
                </a:moveTo>
                <a:lnTo>
                  <a:pt x="463295" y="0"/>
                </a:lnTo>
                <a:cubicBezTo>
                  <a:pt x="481252" y="0"/>
                  <a:pt x="495808" y="14556"/>
                  <a:pt x="495808" y="32513"/>
                </a:cubicBezTo>
                <a:lnTo>
                  <a:pt x="495808" y="195071"/>
                </a:lnTo>
                <a:cubicBezTo>
                  <a:pt x="495808" y="213028"/>
                  <a:pt x="481252" y="227584"/>
                  <a:pt x="463295" y="227584"/>
                </a:cubicBezTo>
                <a:lnTo>
                  <a:pt x="32513" y="227584"/>
                </a:lnTo>
                <a:cubicBezTo>
                  <a:pt x="14568" y="227584"/>
                  <a:pt x="0" y="213016"/>
                  <a:pt x="0" y="195071"/>
                </a:cubicBezTo>
                <a:lnTo>
                  <a:pt x="0" y="32513"/>
                </a:lnTo>
                <a:cubicBezTo>
                  <a:pt x="0" y="14568"/>
                  <a:pt x="14568" y="0"/>
                  <a:pt x="32513" y="0"/>
                </a:cubicBezTo>
                <a:close/>
              </a:path>
            </a:pathLst>
          </a:custGeom>
          <a:solidFill>
            <a:srgbClr val="E0E2E5">
              <a:alpha val="20000"/>
            </a:srgbClr>
          </a:solidFill>
          <a:ln/>
        </p:spPr>
        <p:txBody>
          <a:bodyPr/>
          <a:lstStyle/>
          <a:p>
            <a:endParaRPr lang="en-US"/>
          </a:p>
        </p:txBody>
      </p:sp>
      <p:sp>
        <p:nvSpPr>
          <p:cNvPr id="33" name="Text 31"/>
          <p:cNvSpPr/>
          <p:nvPr/>
        </p:nvSpPr>
        <p:spPr>
          <a:xfrm>
            <a:off x="5391302" y="5329936"/>
            <a:ext cx="552704" cy="227584"/>
          </a:xfrm>
          <a:prstGeom prst="rect">
            <a:avLst/>
          </a:prstGeom>
          <a:noFill/>
          <a:ln/>
        </p:spPr>
        <p:txBody>
          <a:bodyPr wrap="square" lIns="97536" tIns="32512" rIns="97536" bIns="32512" rtlCol="0" anchor="ctr"/>
          <a:lstStyle/>
          <a:p>
            <a:pPr>
              <a:lnSpc>
                <a:spcPct val="120000"/>
              </a:lnSpc>
            </a:pPr>
            <a:r>
              <a:rPr lang="en-US" sz="896" b="1" dirty="0">
                <a:solidFill>
                  <a:srgbClr val="E0E2E5"/>
                </a:solidFill>
                <a:latin typeface="Quattrocento Sans" pitchFamily="34" charset="0"/>
                <a:ea typeface="Quattrocento Sans" pitchFamily="34" charset="-122"/>
                <a:cs typeface="Quattrocento Sans" pitchFamily="34" charset="-120"/>
              </a:rPr>
              <a:t>POOR</a:t>
            </a:r>
            <a:endParaRPr lang="en-US" sz="1600" dirty="0"/>
          </a:p>
        </p:txBody>
      </p:sp>
      <p:sp>
        <p:nvSpPr>
          <p:cNvPr id="34" name="Text 32"/>
          <p:cNvSpPr/>
          <p:nvPr/>
        </p:nvSpPr>
        <p:spPr>
          <a:xfrm>
            <a:off x="487680" y="5671312"/>
            <a:ext cx="5462016" cy="178816"/>
          </a:xfrm>
          <a:prstGeom prst="rect">
            <a:avLst/>
          </a:prstGeom>
          <a:noFill/>
          <a:ln/>
        </p:spPr>
        <p:txBody>
          <a:bodyPr wrap="square" lIns="0" tIns="0" rIns="0" bIns="0" rtlCol="0" anchor="ctr"/>
          <a:lstStyle/>
          <a:p>
            <a:pPr>
              <a:lnSpc>
                <a:spcPct val="110000"/>
              </a:lnSpc>
            </a:pPr>
            <a:r>
              <a:rPr lang="en-US" sz="1024" b="1" dirty="0">
                <a:solidFill>
                  <a:srgbClr val="E0E2E5">
                    <a:alpha val="70000"/>
                  </a:srgbClr>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Ineffective, causes significant blurring without adequate noise removal.</a:t>
            </a:r>
            <a:endParaRPr lang="en-US" sz="1600" dirty="0"/>
          </a:p>
        </p:txBody>
      </p:sp>
      <p:sp>
        <p:nvSpPr>
          <p:cNvPr id="35" name="Text 33"/>
          <p:cNvSpPr/>
          <p:nvPr/>
        </p:nvSpPr>
        <p:spPr>
          <a:xfrm>
            <a:off x="487680" y="5915152"/>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Mechanism:</a:t>
            </a:r>
            <a:r>
              <a:rPr lang="en-US" sz="896" dirty="0">
                <a:solidFill>
                  <a:srgbClr val="E0E2E5">
                    <a:alpha val="80000"/>
                  </a:srgbClr>
                </a:solidFill>
                <a:latin typeface="Quattrocento Sans" pitchFamily="34" charset="0"/>
                <a:ea typeface="Quattrocento Sans" pitchFamily="34" charset="-122"/>
                <a:cs typeface="Quattrocento Sans" pitchFamily="34" charset="-120"/>
              </a:rPr>
              <a:t> Linear averaging spreads noise energy rather than removing it.</a:t>
            </a:r>
            <a:endParaRPr lang="en-US" sz="1600" dirty="0"/>
          </a:p>
        </p:txBody>
      </p:sp>
      <p:sp>
        <p:nvSpPr>
          <p:cNvPr id="36" name="Shape 34"/>
          <p:cNvSpPr/>
          <p:nvPr/>
        </p:nvSpPr>
        <p:spPr>
          <a:xfrm>
            <a:off x="6182259" y="1076147"/>
            <a:ext cx="5687974" cy="2379878"/>
          </a:xfrm>
          <a:custGeom>
            <a:avLst/>
            <a:gdLst/>
            <a:ahLst/>
            <a:cxnLst/>
            <a:rect l="l" t="t" r="r" b="b"/>
            <a:pathLst>
              <a:path w="5687974" h="2379878">
                <a:moveTo>
                  <a:pt x="97527" y="0"/>
                </a:moveTo>
                <a:lnTo>
                  <a:pt x="5590447" y="0"/>
                </a:lnTo>
                <a:cubicBezTo>
                  <a:pt x="5644310" y="0"/>
                  <a:pt x="5687974" y="43665"/>
                  <a:pt x="5687974" y="97527"/>
                </a:cubicBezTo>
                <a:lnTo>
                  <a:pt x="5687974" y="2282351"/>
                </a:lnTo>
                <a:cubicBezTo>
                  <a:pt x="5687974" y="2336214"/>
                  <a:pt x="5644310" y="2379878"/>
                  <a:pt x="5590447" y="2379878"/>
                </a:cubicBezTo>
                <a:lnTo>
                  <a:pt x="97527" y="2379878"/>
                </a:lnTo>
                <a:cubicBezTo>
                  <a:pt x="43665" y="2379878"/>
                  <a:pt x="0" y="2336214"/>
                  <a:pt x="0" y="2282351"/>
                </a:cubicBezTo>
                <a:lnTo>
                  <a:pt x="0" y="97527"/>
                </a:lnTo>
                <a:cubicBezTo>
                  <a:pt x="0" y="43701"/>
                  <a:pt x="43701" y="0"/>
                  <a:pt x="97527"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37" name="Shape 35"/>
          <p:cNvSpPr/>
          <p:nvPr/>
        </p:nvSpPr>
        <p:spPr>
          <a:xfrm>
            <a:off x="6368390" y="1274471"/>
            <a:ext cx="162560" cy="162560"/>
          </a:xfrm>
          <a:custGeom>
            <a:avLst/>
            <a:gdLst/>
            <a:ahLst/>
            <a:cxnLst/>
            <a:rect l="l" t="t" r="r" b="b"/>
            <a:pathLst>
              <a:path w="162560" h="162560">
                <a:moveTo>
                  <a:pt x="45815" y="0"/>
                </a:moveTo>
                <a:lnTo>
                  <a:pt x="116935" y="0"/>
                </a:lnTo>
                <a:cubicBezTo>
                  <a:pt x="125349" y="0"/>
                  <a:pt x="132207" y="6922"/>
                  <a:pt x="131890" y="15304"/>
                </a:cubicBezTo>
                <a:cubicBezTo>
                  <a:pt x="131826" y="16986"/>
                  <a:pt x="131763" y="18669"/>
                  <a:pt x="131667" y="20320"/>
                </a:cubicBezTo>
                <a:lnTo>
                  <a:pt x="147415" y="20320"/>
                </a:lnTo>
                <a:cubicBezTo>
                  <a:pt x="155702" y="20320"/>
                  <a:pt x="163005" y="27178"/>
                  <a:pt x="162370" y="36132"/>
                </a:cubicBezTo>
                <a:cubicBezTo>
                  <a:pt x="159988" y="69056"/>
                  <a:pt x="143161" y="87154"/>
                  <a:pt x="124905" y="96615"/>
                </a:cubicBezTo>
                <a:cubicBezTo>
                  <a:pt x="119888" y="99219"/>
                  <a:pt x="114776" y="101156"/>
                  <a:pt x="109919" y="102584"/>
                </a:cubicBezTo>
                <a:cubicBezTo>
                  <a:pt x="103505" y="111665"/>
                  <a:pt x="96838" y="116459"/>
                  <a:pt x="91535" y="119031"/>
                </a:cubicBezTo>
                <a:lnTo>
                  <a:pt x="91535" y="142240"/>
                </a:lnTo>
                <a:lnTo>
                  <a:pt x="111855" y="142240"/>
                </a:lnTo>
                <a:cubicBezTo>
                  <a:pt x="117475" y="142240"/>
                  <a:pt x="122015" y="146780"/>
                  <a:pt x="122015" y="152400"/>
                </a:cubicBezTo>
                <a:cubicBezTo>
                  <a:pt x="122015" y="158020"/>
                  <a:pt x="117475" y="162560"/>
                  <a:pt x="111855" y="162560"/>
                </a:cubicBezTo>
                <a:lnTo>
                  <a:pt x="50895" y="162560"/>
                </a:lnTo>
                <a:cubicBezTo>
                  <a:pt x="45276" y="162560"/>
                  <a:pt x="40735" y="158020"/>
                  <a:pt x="40735" y="152400"/>
                </a:cubicBezTo>
                <a:cubicBezTo>
                  <a:pt x="40735" y="146780"/>
                  <a:pt x="45276" y="142240"/>
                  <a:pt x="50895" y="142240"/>
                </a:cubicBezTo>
                <a:lnTo>
                  <a:pt x="71215" y="142240"/>
                </a:lnTo>
                <a:lnTo>
                  <a:pt x="71215" y="119031"/>
                </a:lnTo>
                <a:cubicBezTo>
                  <a:pt x="66135" y="116586"/>
                  <a:pt x="59817" y="112046"/>
                  <a:pt x="53658" y="103695"/>
                </a:cubicBezTo>
                <a:cubicBezTo>
                  <a:pt x="47816" y="102172"/>
                  <a:pt x="41466" y="99854"/>
                  <a:pt x="35274" y="96361"/>
                </a:cubicBezTo>
                <a:cubicBezTo>
                  <a:pt x="18098" y="86741"/>
                  <a:pt x="2604" y="68612"/>
                  <a:pt x="381" y="36068"/>
                </a:cubicBezTo>
                <a:cubicBezTo>
                  <a:pt x="-222" y="27146"/>
                  <a:pt x="7049" y="20288"/>
                  <a:pt x="15335" y="20288"/>
                </a:cubicBezTo>
                <a:lnTo>
                  <a:pt x="31083" y="20288"/>
                </a:lnTo>
                <a:cubicBezTo>
                  <a:pt x="30988" y="18637"/>
                  <a:pt x="30925" y="16986"/>
                  <a:pt x="30861" y="15272"/>
                </a:cubicBezTo>
                <a:cubicBezTo>
                  <a:pt x="30544" y="6858"/>
                  <a:pt x="37402" y="-32"/>
                  <a:pt x="45815" y="-32"/>
                </a:cubicBezTo>
                <a:close/>
                <a:moveTo>
                  <a:pt x="32226" y="35560"/>
                </a:moveTo>
                <a:lnTo>
                  <a:pt x="15589" y="35560"/>
                </a:lnTo>
                <a:cubicBezTo>
                  <a:pt x="17558" y="62452"/>
                  <a:pt x="29909" y="75914"/>
                  <a:pt x="42640" y="83058"/>
                </a:cubicBezTo>
                <a:cubicBezTo>
                  <a:pt x="38068" y="71215"/>
                  <a:pt x="34290" y="55753"/>
                  <a:pt x="32226" y="35560"/>
                </a:cubicBezTo>
                <a:close/>
                <a:moveTo>
                  <a:pt x="120650" y="81534"/>
                </a:moveTo>
                <a:cubicBezTo>
                  <a:pt x="133509" y="73978"/>
                  <a:pt x="145129" y="60547"/>
                  <a:pt x="147098" y="35560"/>
                </a:cubicBezTo>
                <a:lnTo>
                  <a:pt x="130493" y="35560"/>
                </a:lnTo>
                <a:cubicBezTo>
                  <a:pt x="128524" y="54896"/>
                  <a:pt x="124968" y="69914"/>
                  <a:pt x="120650" y="81534"/>
                </a:cubicBezTo>
                <a:close/>
              </a:path>
            </a:pathLst>
          </a:custGeom>
          <a:solidFill>
            <a:srgbClr val="B8A890"/>
          </a:solidFill>
          <a:ln/>
        </p:spPr>
        <p:txBody>
          <a:bodyPr/>
          <a:lstStyle/>
          <a:p>
            <a:endParaRPr lang="en-US"/>
          </a:p>
        </p:txBody>
      </p:sp>
      <p:sp>
        <p:nvSpPr>
          <p:cNvPr id="38" name="Text 36"/>
          <p:cNvSpPr/>
          <p:nvPr/>
        </p:nvSpPr>
        <p:spPr>
          <a:xfrm>
            <a:off x="6551270" y="1241959"/>
            <a:ext cx="5234432"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Optimal Solution</a:t>
            </a:r>
            <a:endParaRPr lang="en-US" sz="1600" dirty="0"/>
          </a:p>
        </p:txBody>
      </p:sp>
      <p:sp>
        <p:nvSpPr>
          <p:cNvPr id="39" name="Shape 37"/>
          <p:cNvSpPr/>
          <p:nvPr/>
        </p:nvSpPr>
        <p:spPr>
          <a:xfrm>
            <a:off x="6348070" y="1567079"/>
            <a:ext cx="5356352" cy="747776"/>
          </a:xfrm>
          <a:custGeom>
            <a:avLst/>
            <a:gdLst/>
            <a:ahLst/>
            <a:cxnLst/>
            <a:rect l="l" t="t" r="r" b="b"/>
            <a:pathLst>
              <a:path w="5356352" h="747776">
                <a:moveTo>
                  <a:pt x="65027" y="0"/>
                </a:moveTo>
                <a:lnTo>
                  <a:pt x="5291325" y="0"/>
                </a:lnTo>
                <a:cubicBezTo>
                  <a:pt x="5327239" y="0"/>
                  <a:pt x="5356352" y="29113"/>
                  <a:pt x="5356352" y="65027"/>
                </a:cubicBezTo>
                <a:lnTo>
                  <a:pt x="5356352" y="682749"/>
                </a:lnTo>
                <a:cubicBezTo>
                  <a:pt x="5356352" y="718663"/>
                  <a:pt x="5327239" y="747776"/>
                  <a:pt x="5291325" y="747776"/>
                </a:cubicBezTo>
                <a:lnTo>
                  <a:pt x="65027" y="747776"/>
                </a:lnTo>
                <a:cubicBezTo>
                  <a:pt x="29113" y="747776"/>
                  <a:pt x="0" y="718663"/>
                  <a:pt x="0" y="682749"/>
                </a:cubicBezTo>
                <a:lnTo>
                  <a:pt x="0" y="65027"/>
                </a:lnTo>
                <a:cubicBezTo>
                  <a:pt x="0" y="29113"/>
                  <a:pt x="29113" y="0"/>
                  <a:pt x="65027" y="0"/>
                </a:cubicBezTo>
                <a:close/>
              </a:path>
            </a:pathLst>
          </a:custGeom>
          <a:solidFill>
            <a:srgbClr val="4A6C8C">
              <a:alpha val="20000"/>
            </a:srgbClr>
          </a:solidFill>
          <a:ln/>
        </p:spPr>
        <p:txBody>
          <a:bodyPr/>
          <a:lstStyle/>
          <a:p>
            <a:endParaRPr lang="en-US"/>
          </a:p>
        </p:txBody>
      </p:sp>
      <p:sp>
        <p:nvSpPr>
          <p:cNvPr id="40" name="Text 38"/>
          <p:cNvSpPr/>
          <p:nvPr/>
        </p:nvSpPr>
        <p:spPr>
          <a:xfrm>
            <a:off x="6429350" y="1697127"/>
            <a:ext cx="5193792" cy="260096"/>
          </a:xfrm>
          <a:prstGeom prst="rect">
            <a:avLst/>
          </a:prstGeom>
          <a:noFill/>
          <a:ln/>
        </p:spPr>
        <p:txBody>
          <a:bodyPr wrap="square" lIns="0" tIns="0" rIns="0" bIns="0" rtlCol="0" anchor="ctr"/>
          <a:lstStyle/>
          <a:p>
            <a:pPr algn="ctr">
              <a:lnSpc>
                <a:spcPct val="110000"/>
              </a:lnSpc>
            </a:pPr>
            <a:r>
              <a:rPr lang="en-US" sz="1536" b="1" dirty="0">
                <a:solidFill>
                  <a:srgbClr val="4A6C8C"/>
                </a:solidFill>
                <a:latin typeface="Quattrocento Sans" pitchFamily="34" charset="0"/>
                <a:ea typeface="Quattrocento Sans" pitchFamily="34" charset="-122"/>
                <a:cs typeface="Quattrocento Sans" pitchFamily="34" charset="-120"/>
              </a:rPr>
              <a:t>Median Filter</a:t>
            </a:r>
            <a:endParaRPr lang="en-US" sz="1600" dirty="0"/>
          </a:p>
        </p:txBody>
      </p:sp>
      <p:sp>
        <p:nvSpPr>
          <p:cNvPr id="41" name="Text 39"/>
          <p:cNvSpPr/>
          <p:nvPr/>
        </p:nvSpPr>
        <p:spPr>
          <a:xfrm>
            <a:off x="6445606" y="1989634"/>
            <a:ext cx="5161280" cy="195072"/>
          </a:xfrm>
          <a:prstGeom prst="rect">
            <a:avLst/>
          </a:prstGeom>
          <a:noFill/>
          <a:ln/>
        </p:spPr>
        <p:txBody>
          <a:bodyPr wrap="square" lIns="0" tIns="0" rIns="0" bIns="0" rtlCol="0" anchor="ctr"/>
          <a:lstStyle/>
          <a:p>
            <a:pPr algn="ct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Best for Salt &amp; Pepper Noise</a:t>
            </a:r>
            <a:endParaRPr lang="en-US" sz="1600" dirty="0"/>
          </a:p>
        </p:txBody>
      </p:sp>
      <p:sp>
        <p:nvSpPr>
          <p:cNvPr id="42" name="Shape 40"/>
          <p:cNvSpPr/>
          <p:nvPr/>
        </p:nvSpPr>
        <p:spPr>
          <a:xfrm>
            <a:off x="6364326" y="2444802"/>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3" name="Text 41"/>
          <p:cNvSpPr/>
          <p:nvPr/>
        </p:nvSpPr>
        <p:spPr>
          <a:xfrm>
            <a:off x="6575654" y="2412290"/>
            <a:ext cx="1853184"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Preserves edges and fine details</a:t>
            </a:r>
            <a:endParaRPr lang="en-US" sz="1600" dirty="0"/>
          </a:p>
        </p:txBody>
      </p:sp>
      <p:sp>
        <p:nvSpPr>
          <p:cNvPr id="44" name="Shape 42"/>
          <p:cNvSpPr/>
          <p:nvPr/>
        </p:nvSpPr>
        <p:spPr>
          <a:xfrm>
            <a:off x="6364326" y="2672386"/>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5" name="Text 43"/>
          <p:cNvSpPr/>
          <p:nvPr/>
        </p:nvSpPr>
        <p:spPr>
          <a:xfrm>
            <a:off x="6575654" y="2639874"/>
            <a:ext cx="2145792"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Removes extreme outliers effectively</a:t>
            </a:r>
            <a:endParaRPr lang="en-US" sz="1600" dirty="0"/>
          </a:p>
        </p:txBody>
      </p:sp>
      <p:sp>
        <p:nvSpPr>
          <p:cNvPr id="46" name="Shape 44"/>
          <p:cNvSpPr/>
          <p:nvPr/>
        </p:nvSpPr>
        <p:spPr>
          <a:xfrm>
            <a:off x="6364326" y="2899970"/>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7" name="Text 45"/>
          <p:cNvSpPr/>
          <p:nvPr/>
        </p:nvSpPr>
        <p:spPr>
          <a:xfrm>
            <a:off x="6575654" y="2867458"/>
            <a:ext cx="1658112"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No brightness/darkness bias</a:t>
            </a:r>
            <a:endParaRPr lang="en-US" sz="1600" dirty="0"/>
          </a:p>
        </p:txBody>
      </p:sp>
      <p:sp>
        <p:nvSpPr>
          <p:cNvPr id="48" name="Shape 46"/>
          <p:cNvSpPr/>
          <p:nvPr/>
        </p:nvSpPr>
        <p:spPr>
          <a:xfrm>
            <a:off x="6364326" y="3127554"/>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9" name="Text 47"/>
          <p:cNvSpPr/>
          <p:nvPr/>
        </p:nvSpPr>
        <p:spPr>
          <a:xfrm>
            <a:off x="6575654" y="3095042"/>
            <a:ext cx="2308352"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Maintains original histogram distribution</a:t>
            </a:r>
            <a:endParaRPr lang="en-US" sz="1600" dirty="0"/>
          </a:p>
        </p:txBody>
      </p:sp>
      <p:sp>
        <p:nvSpPr>
          <p:cNvPr id="50" name="Shape 48"/>
          <p:cNvSpPr/>
          <p:nvPr/>
        </p:nvSpPr>
        <p:spPr>
          <a:xfrm>
            <a:off x="6182259" y="3592474"/>
            <a:ext cx="5687974" cy="2282342"/>
          </a:xfrm>
          <a:custGeom>
            <a:avLst/>
            <a:gdLst/>
            <a:ahLst/>
            <a:cxnLst/>
            <a:rect l="l" t="t" r="r" b="b"/>
            <a:pathLst>
              <a:path w="5687974" h="2282342">
                <a:moveTo>
                  <a:pt x="97547" y="0"/>
                </a:moveTo>
                <a:lnTo>
                  <a:pt x="5590427" y="0"/>
                </a:lnTo>
                <a:cubicBezTo>
                  <a:pt x="5644301" y="0"/>
                  <a:pt x="5687974" y="43673"/>
                  <a:pt x="5687974" y="97547"/>
                </a:cubicBezTo>
                <a:lnTo>
                  <a:pt x="5687974" y="2184795"/>
                </a:lnTo>
                <a:cubicBezTo>
                  <a:pt x="5687974" y="2238669"/>
                  <a:pt x="5644301" y="2282342"/>
                  <a:pt x="5590427" y="2282342"/>
                </a:cubicBezTo>
                <a:lnTo>
                  <a:pt x="97547" y="2282342"/>
                </a:lnTo>
                <a:cubicBezTo>
                  <a:pt x="43673" y="2282342"/>
                  <a:pt x="0" y="2238669"/>
                  <a:pt x="0" y="2184795"/>
                </a:cubicBezTo>
                <a:lnTo>
                  <a:pt x="0" y="97547"/>
                </a:lnTo>
                <a:cubicBezTo>
                  <a:pt x="0" y="43673"/>
                  <a:pt x="43673" y="0"/>
                  <a:pt x="97547"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51" name="Text 49"/>
          <p:cNvSpPr/>
          <p:nvPr/>
        </p:nvSpPr>
        <p:spPr>
          <a:xfrm>
            <a:off x="6348070" y="3758287"/>
            <a:ext cx="5437632"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Performance Ranking</a:t>
            </a:r>
            <a:endParaRPr lang="en-US" sz="1600" dirty="0"/>
          </a:p>
        </p:txBody>
      </p:sp>
      <p:sp>
        <p:nvSpPr>
          <p:cNvPr id="52" name="Shape 50"/>
          <p:cNvSpPr/>
          <p:nvPr/>
        </p:nvSpPr>
        <p:spPr>
          <a:xfrm>
            <a:off x="6348070" y="4083407"/>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4A6C8C">
              <a:alpha val="20000"/>
            </a:srgbClr>
          </a:solidFill>
          <a:ln/>
        </p:spPr>
        <p:txBody>
          <a:bodyPr/>
          <a:lstStyle/>
          <a:p>
            <a:endParaRPr lang="en-US"/>
          </a:p>
        </p:txBody>
      </p:sp>
      <p:sp>
        <p:nvSpPr>
          <p:cNvPr id="53" name="Text 51"/>
          <p:cNvSpPr/>
          <p:nvPr/>
        </p:nvSpPr>
        <p:spPr>
          <a:xfrm>
            <a:off x="6413094" y="4148431"/>
            <a:ext cx="121920" cy="227584"/>
          </a:xfrm>
          <a:prstGeom prst="rect">
            <a:avLst/>
          </a:prstGeom>
          <a:noFill/>
          <a:ln/>
        </p:spPr>
        <p:txBody>
          <a:bodyPr wrap="square" lIns="0" tIns="0" rIns="0" bIns="0" rtlCol="0" anchor="ctr"/>
          <a:lstStyle/>
          <a:p>
            <a:pPr>
              <a:lnSpc>
                <a:spcPct val="130000"/>
              </a:lnSpc>
            </a:pPr>
            <a:r>
              <a:rPr lang="en-US" sz="1152" b="1" dirty="0">
                <a:solidFill>
                  <a:srgbClr val="B8A890"/>
                </a:solidFill>
                <a:latin typeface="Quattrocento Sans" pitchFamily="34" charset="0"/>
                <a:ea typeface="Quattrocento Sans" pitchFamily="34" charset="-122"/>
                <a:cs typeface="Quattrocento Sans" pitchFamily="34" charset="-120"/>
              </a:rPr>
              <a:t>1</a:t>
            </a:r>
            <a:endParaRPr lang="en-US" sz="1600" dirty="0"/>
          </a:p>
        </p:txBody>
      </p:sp>
      <p:sp>
        <p:nvSpPr>
          <p:cNvPr id="54" name="Text 52"/>
          <p:cNvSpPr/>
          <p:nvPr/>
        </p:nvSpPr>
        <p:spPr>
          <a:xfrm>
            <a:off x="6557061" y="4164687"/>
            <a:ext cx="788416" cy="195072"/>
          </a:xfrm>
          <a:prstGeom prst="rect">
            <a:avLst/>
          </a:prstGeom>
          <a:noFill/>
          <a:ln/>
        </p:spPr>
        <p:txBody>
          <a:bodyPr wrap="square" lIns="0" tIns="0" rIns="0" bIns="0" rtlCol="0" anchor="ctr"/>
          <a:lstStyle/>
          <a:p>
            <a:pPr>
              <a:lnSpc>
                <a:spcPct val="130000"/>
              </a:lnSpc>
            </a:pPr>
            <a:r>
              <a:rPr lang="en-US" sz="1024" b="1" dirty="0">
                <a:solidFill>
                  <a:srgbClr val="E0E2E5"/>
                </a:solidFill>
                <a:latin typeface="Quattrocento Sans" pitchFamily="34" charset="0"/>
                <a:ea typeface="Quattrocento Sans" pitchFamily="34" charset="-122"/>
                <a:cs typeface="Quattrocento Sans" pitchFamily="34" charset="-120"/>
              </a:rPr>
              <a:t>Median Filter</a:t>
            </a:r>
            <a:endParaRPr lang="en-US" sz="1600" dirty="0"/>
          </a:p>
        </p:txBody>
      </p:sp>
      <p:sp>
        <p:nvSpPr>
          <p:cNvPr id="55" name="Shape 53"/>
          <p:cNvSpPr/>
          <p:nvPr/>
        </p:nvSpPr>
        <p:spPr>
          <a:xfrm>
            <a:off x="10986110" y="4229711"/>
            <a:ext cx="650240" cy="65024"/>
          </a:xfrm>
          <a:custGeom>
            <a:avLst/>
            <a:gdLst/>
            <a:ahLst/>
            <a:cxnLst/>
            <a:rect l="l" t="t" r="r" b="b"/>
            <a:pathLst>
              <a:path w="650240" h="65024">
                <a:moveTo>
                  <a:pt x="32512" y="0"/>
                </a:moveTo>
                <a:lnTo>
                  <a:pt x="617728" y="0"/>
                </a:lnTo>
                <a:cubicBezTo>
                  <a:pt x="635684" y="0"/>
                  <a:pt x="650240" y="14556"/>
                  <a:pt x="650240" y="32512"/>
                </a:cubicBezTo>
                <a:lnTo>
                  <a:pt x="650240" y="32512"/>
                </a:lnTo>
                <a:cubicBezTo>
                  <a:pt x="650240" y="50468"/>
                  <a:pt x="635684" y="65024"/>
                  <a:pt x="617728" y="65024"/>
                </a:cubicBezTo>
                <a:lnTo>
                  <a:pt x="32512" y="65024"/>
                </a:lnTo>
                <a:cubicBezTo>
                  <a:pt x="14568" y="65024"/>
                  <a:pt x="0" y="50456"/>
                  <a:pt x="0" y="32512"/>
                </a:cubicBezTo>
                <a:lnTo>
                  <a:pt x="0" y="32512"/>
                </a:lnTo>
                <a:cubicBezTo>
                  <a:pt x="0" y="14568"/>
                  <a:pt x="14568" y="0"/>
                  <a:pt x="32512" y="0"/>
                </a:cubicBezTo>
                <a:close/>
              </a:path>
            </a:pathLst>
          </a:custGeom>
          <a:solidFill>
            <a:srgbClr val="4A6C8C"/>
          </a:solidFill>
          <a:ln/>
        </p:spPr>
        <p:txBody>
          <a:bodyPr/>
          <a:lstStyle/>
          <a:p>
            <a:endParaRPr lang="en-US"/>
          </a:p>
        </p:txBody>
      </p:sp>
      <p:sp>
        <p:nvSpPr>
          <p:cNvPr id="56" name="Shape 54"/>
          <p:cNvSpPr/>
          <p:nvPr/>
        </p:nvSpPr>
        <p:spPr>
          <a:xfrm>
            <a:off x="6348070" y="4506063"/>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5A7D7C">
              <a:alpha val="10196"/>
            </a:srgbClr>
          </a:solidFill>
          <a:ln/>
        </p:spPr>
        <p:txBody>
          <a:bodyPr/>
          <a:lstStyle/>
          <a:p>
            <a:endParaRPr lang="en-US"/>
          </a:p>
        </p:txBody>
      </p:sp>
      <p:sp>
        <p:nvSpPr>
          <p:cNvPr id="57" name="Text 55"/>
          <p:cNvSpPr/>
          <p:nvPr/>
        </p:nvSpPr>
        <p:spPr>
          <a:xfrm>
            <a:off x="6413094" y="4571087"/>
            <a:ext cx="146304" cy="227584"/>
          </a:xfrm>
          <a:prstGeom prst="rect">
            <a:avLst/>
          </a:prstGeom>
          <a:noFill/>
          <a:ln/>
        </p:spPr>
        <p:txBody>
          <a:bodyPr wrap="square" lIns="0" tIns="0" rIns="0" bIns="0" rtlCol="0" anchor="ctr"/>
          <a:lstStyle/>
          <a:p>
            <a:pPr>
              <a:lnSpc>
                <a:spcPct val="130000"/>
              </a:lnSpc>
            </a:pPr>
            <a:r>
              <a:rPr lang="en-US" sz="1152" b="1" dirty="0">
                <a:solidFill>
                  <a:srgbClr val="E0E2E5">
                    <a:alpha val="70000"/>
                  </a:srgbClr>
                </a:solidFill>
                <a:latin typeface="Quattrocento Sans" pitchFamily="34" charset="0"/>
                <a:ea typeface="Quattrocento Sans" pitchFamily="34" charset="-122"/>
                <a:cs typeface="Quattrocento Sans" pitchFamily="34" charset="-120"/>
              </a:rPr>
              <a:t>2</a:t>
            </a:r>
            <a:endParaRPr lang="en-US" sz="1600" dirty="0"/>
          </a:p>
        </p:txBody>
      </p:sp>
      <p:sp>
        <p:nvSpPr>
          <p:cNvPr id="58" name="Text 56"/>
          <p:cNvSpPr/>
          <p:nvPr/>
        </p:nvSpPr>
        <p:spPr>
          <a:xfrm>
            <a:off x="6585102" y="4587343"/>
            <a:ext cx="617728" cy="195072"/>
          </a:xfrm>
          <a:prstGeom prst="rect">
            <a:avLst/>
          </a:prstGeom>
          <a:noFill/>
          <a:ln/>
        </p:spPr>
        <p:txBody>
          <a:bodyPr wrap="square" lIns="0" tIns="0" rIns="0" bIns="0" rtlCol="0" anchor="ctr"/>
          <a:lstStyle/>
          <a:p>
            <a:pPr>
              <a:lnSpc>
                <a:spcPct val="130000"/>
              </a:lnSpc>
            </a:pPr>
            <a:r>
              <a:rPr lang="en-US" sz="1024" dirty="0">
                <a:solidFill>
                  <a:srgbClr val="E0E2E5">
                    <a:alpha val="80000"/>
                  </a:srgbClr>
                </a:solidFill>
                <a:latin typeface="Quattrocento Sans" pitchFamily="34" charset="0"/>
                <a:ea typeface="Quattrocento Sans" pitchFamily="34" charset="-122"/>
                <a:cs typeface="Quattrocento Sans" pitchFamily="34" charset="-120"/>
              </a:rPr>
              <a:t>Max Filter</a:t>
            </a:r>
            <a:endParaRPr lang="en-US" sz="1600" dirty="0"/>
          </a:p>
        </p:txBody>
      </p:sp>
      <p:sp>
        <p:nvSpPr>
          <p:cNvPr id="59" name="Shape 57"/>
          <p:cNvSpPr/>
          <p:nvPr/>
        </p:nvSpPr>
        <p:spPr>
          <a:xfrm>
            <a:off x="11181182" y="4652367"/>
            <a:ext cx="455168" cy="65024"/>
          </a:xfrm>
          <a:custGeom>
            <a:avLst/>
            <a:gdLst/>
            <a:ahLst/>
            <a:cxnLst/>
            <a:rect l="l" t="t" r="r" b="b"/>
            <a:pathLst>
              <a:path w="455168" h="65024">
                <a:moveTo>
                  <a:pt x="32512" y="0"/>
                </a:moveTo>
                <a:lnTo>
                  <a:pt x="422656" y="0"/>
                </a:lnTo>
                <a:cubicBezTo>
                  <a:pt x="440612" y="0"/>
                  <a:pt x="455168" y="14556"/>
                  <a:pt x="455168" y="32512"/>
                </a:cubicBezTo>
                <a:lnTo>
                  <a:pt x="455168" y="32512"/>
                </a:lnTo>
                <a:cubicBezTo>
                  <a:pt x="455168" y="50468"/>
                  <a:pt x="440612" y="65024"/>
                  <a:pt x="422656" y="65024"/>
                </a:cubicBezTo>
                <a:lnTo>
                  <a:pt x="32512" y="65024"/>
                </a:lnTo>
                <a:cubicBezTo>
                  <a:pt x="14568" y="65024"/>
                  <a:pt x="0" y="50456"/>
                  <a:pt x="0" y="32512"/>
                </a:cubicBezTo>
                <a:lnTo>
                  <a:pt x="0" y="32512"/>
                </a:lnTo>
                <a:cubicBezTo>
                  <a:pt x="0" y="14568"/>
                  <a:pt x="14568" y="0"/>
                  <a:pt x="32512" y="0"/>
                </a:cubicBezTo>
                <a:close/>
              </a:path>
            </a:pathLst>
          </a:custGeom>
          <a:solidFill>
            <a:srgbClr val="5A7D7C"/>
          </a:solidFill>
          <a:ln/>
        </p:spPr>
        <p:txBody>
          <a:bodyPr/>
          <a:lstStyle/>
          <a:p>
            <a:endParaRPr lang="en-US"/>
          </a:p>
        </p:txBody>
      </p:sp>
      <p:sp>
        <p:nvSpPr>
          <p:cNvPr id="60" name="Shape 58"/>
          <p:cNvSpPr/>
          <p:nvPr/>
        </p:nvSpPr>
        <p:spPr>
          <a:xfrm>
            <a:off x="6348070" y="4928719"/>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B8A890">
              <a:alpha val="10196"/>
            </a:srgbClr>
          </a:solidFill>
          <a:ln/>
        </p:spPr>
        <p:txBody>
          <a:bodyPr/>
          <a:lstStyle/>
          <a:p>
            <a:endParaRPr lang="en-US"/>
          </a:p>
        </p:txBody>
      </p:sp>
      <p:sp>
        <p:nvSpPr>
          <p:cNvPr id="61" name="Text 59"/>
          <p:cNvSpPr/>
          <p:nvPr/>
        </p:nvSpPr>
        <p:spPr>
          <a:xfrm>
            <a:off x="6413094" y="4993743"/>
            <a:ext cx="154432" cy="227584"/>
          </a:xfrm>
          <a:prstGeom prst="rect">
            <a:avLst/>
          </a:prstGeom>
          <a:noFill/>
          <a:ln/>
        </p:spPr>
        <p:txBody>
          <a:bodyPr wrap="square" lIns="0" tIns="0" rIns="0" bIns="0" rtlCol="0" anchor="ctr"/>
          <a:lstStyle/>
          <a:p>
            <a:pPr>
              <a:lnSpc>
                <a:spcPct val="130000"/>
              </a:lnSpc>
            </a:pPr>
            <a:r>
              <a:rPr lang="en-US" sz="1152" b="1" dirty="0">
                <a:solidFill>
                  <a:srgbClr val="E0E2E5">
                    <a:alpha val="70000"/>
                  </a:srgbClr>
                </a:solidFill>
                <a:latin typeface="Quattrocento Sans" pitchFamily="34" charset="0"/>
                <a:ea typeface="Quattrocento Sans" pitchFamily="34" charset="-122"/>
                <a:cs typeface="Quattrocento Sans" pitchFamily="34" charset="-120"/>
              </a:rPr>
              <a:t>3</a:t>
            </a:r>
            <a:endParaRPr lang="en-US" sz="1600" dirty="0"/>
          </a:p>
        </p:txBody>
      </p:sp>
      <p:sp>
        <p:nvSpPr>
          <p:cNvPr id="62" name="Text 60"/>
          <p:cNvSpPr/>
          <p:nvPr/>
        </p:nvSpPr>
        <p:spPr>
          <a:xfrm>
            <a:off x="6588963" y="5009999"/>
            <a:ext cx="585216" cy="195072"/>
          </a:xfrm>
          <a:prstGeom prst="rect">
            <a:avLst/>
          </a:prstGeom>
          <a:noFill/>
          <a:ln/>
        </p:spPr>
        <p:txBody>
          <a:bodyPr wrap="square" lIns="0" tIns="0" rIns="0" bIns="0" rtlCol="0" anchor="ctr"/>
          <a:lstStyle/>
          <a:p>
            <a:pPr>
              <a:lnSpc>
                <a:spcPct val="130000"/>
              </a:lnSpc>
            </a:pPr>
            <a:r>
              <a:rPr lang="en-US" sz="1024" dirty="0">
                <a:solidFill>
                  <a:srgbClr val="E0E2E5">
                    <a:alpha val="80000"/>
                  </a:srgbClr>
                </a:solidFill>
                <a:latin typeface="Quattrocento Sans" pitchFamily="34" charset="0"/>
                <a:ea typeface="Quattrocento Sans" pitchFamily="34" charset="-122"/>
                <a:cs typeface="Quattrocento Sans" pitchFamily="34" charset="-120"/>
              </a:rPr>
              <a:t>Min Filter</a:t>
            </a:r>
            <a:endParaRPr lang="en-US" sz="1600" dirty="0"/>
          </a:p>
        </p:txBody>
      </p:sp>
      <p:sp>
        <p:nvSpPr>
          <p:cNvPr id="63" name="Shape 61"/>
          <p:cNvSpPr/>
          <p:nvPr/>
        </p:nvSpPr>
        <p:spPr>
          <a:xfrm>
            <a:off x="11181182" y="5075023"/>
            <a:ext cx="455168" cy="65024"/>
          </a:xfrm>
          <a:custGeom>
            <a:avLst/>
            <a:gdLst/>
            <a:ahLst/>
            <a:cxnLst/>
            <a:rect l="l" t="t" r="r" b="b"/>
            <a:pathLst>
              <a:path w="455168" h="65024">
                <a:moveTo>
                  <a:pt x="32512" y="0"/>
                </a:moveTo>
                <a:lnTo>
                  <a:pt x="422656" y="0"/>
                </a:lnTo>
                <a:cubicBezTo>
                  <a:pt x="440612" y="0"/>
                  <a:pt x="455168" y="14556"/>
                  <a:pt x="455168" y="32512"/>
                </a:cubicBezTo>
                <a:lnTo>
                  <a:pt x="455168" y="32512"/>
                </a:lnTo>
                <a:cubicBezTo>
                  <a:pt x="455168" y="50468"/>
                  <a:pt x="440612" y="65024"/>
                  <a:pt x="422656" y="65024"/>
                </a:cubicBezTo>
                <a:lnTo>
                  <a:pt x="32512" y="65024"/>
                </a:lnTo>
                <a:cubicBezTo>
                  <a:pt x="14568" y="65024"/>
                  <a:pt x="0" y="50456"/>
                  <a:pt x="0" y="32512"/>
                </a:cubicBezTo>
                <a:lnTo>
                  <a:pt x="0" y="32512"/>
                </a:lnTo>
                <a:cubicBezTo>
                  <a:pt x="0" y="14568"/>
                  <a:pt x="14568" y="0"/>
                  <a:pt x="32512" y="0"/>
                </a:cubicBezTo>
                <a:close/>
              </a:path>
            </a:pathLst>
          </a:custGeom>
          <a:solidFill>
            <a:srgbClr val="B8A890"/>
          </a:solidFill>
          <a:ln/>
        </p:spPr>
        <p:txBody>
          <a:bodyPr/>
          <a:lstStyle/>
          <a:p>
            <a:endParaRPr lang="en-US"/>
          </a:p>
        </p:txBody>
      </p:sp>
      <p:sp>
        <p:nvSpPr>
          <p:cNvPr id="64" name="Shape 62"/>
          <p:cNvSpPr/>
          <p:nvPr/>
        </p:nvSpPr>
        <p:spPr>
          <a:xfrm>
            <a:off x="6348070" y="5351375"/>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E0E2E5">
              <a:alpha val="10196"/>
            </a:srgbClr>
          </a:solidFill>
          <a:ln/>
        </p:spPr>
        <p:txBody>
          <a:bodyPr/>
          <a:lstStyle/>
          <a:p>
            <a:endParaRPr lang="en-US"/>
          </a:p>
        </p:txBody>
      </p:sp>
      <p:sp>
        <p:nvSpPr>
          <p:cNvPr id="65" name="Text 63"/>
          <p:cNvSpPr/>
          <p:nvPr/>
        </p:nvSpPr>
        <p:spPr>
          <a:xfrm>
            <a:off x="6413094" y="5416399"/>
            <a:ext cx="146304" cy="227584"/>
          </a:xfrm>
          <a:prstGeom prst="rect">
            <a:avLst/>
          </a:prstGeom>
          <a:noFill/>
          <a:ln/>
        </p:spPr>
        <p:txBody>
          <a:bodyPr wrap="square" lIns="0" tIns="0" rIns="0" bIns="0" rtlCol="0" anchor="ctr"/>
          <a:lstStyle/>
          <a:p>
            <a:pPr>
              <a:lnSpc>
                <a:spcPct val="130000"/>
              </a:lnSpc>
            </a:pPr>
            <a:r>
              <a:rPr lang="en-US" sz="1152" b="1" dirty="0">
                <a:solidFill>
                  <a:srgbClr val="E0E2E5">
                    <a:alpha val="50000"/>
                  </a:srgbClr>
                </a:solidFill>
                <a:latin typeface="Quattrocento Sans" pitchFamily="34" charset="0"/>
                <a:ea typeface="Quattrocento Sans" pitchFamily="34" charset="-122"/>
                <a:cs typeface="Quattrocento Sans" pitchFamily="34" charset="-120"/>
              </a:rPr>
              <a:t>4</a:t>
            </a:r>
            <a:endParaRPr lang="en-US" sz="1600" dirty="0"/>
          </a:p>
        </p:txBody>
      </p:sp>
      <p:sp>
        <p:nvSpPr>
          <p:cNvPr id="66" name="Text 64"/>
          <p:cNvSpPr/>
          <p:nvPr/>
        </p:nvSpPr>
        <p:spPr>
          <a:xfrm>
            <a:off x="6585001" y="5432655"/>
            <a:ext cx="837184" cy="195072"/>
          </a:xfrm>
          <a:prstGeom prst="rect">
            <a:avLst/>
          </a:prstGeom>
          <a:noFill/>
          <a:ln/>
        </p:spPr>
        <p:txBody>
          <a:bodyPr wrap="square" lIns="0" tIns="0" rIns="0" bIns="0" rtlCol="0" anchor="ctr"/>
          <a:lstStyle/>
          <a:p>
            <a:pPr>
              <a:lnSpc>
                <a:spcPct val="130000"/>
              </a:lnSpc>
            </a:pPr>
            <a:r>
              <a:rPr lang="en-US" sz="1024" dirty="0">
                <a:solidFill>
                  <a:srgbClr val="E0E2E5">
                    <a:alpha val="60000"/>
                  </a:srgbClr>
                </a:solidFill>
                <a:latin typeface="Quattrocento Sans" pitchFamily="34" charset="0"/>
                <a:ea typeface="Quattrocento Sans" pitchFamily="34" charset="-122"/>
                <a:cs typeface="Quattrocento Sans" pitchFamily="34" charset="-120"/>
              </a:rPr>
              <a:t>Average Filter</a:t>
            </a:r>
            <a:endParaRPr lang="en-US" sz="1600" dirty="0"/>
          </a:p>
        </p:txBody>
      </p:sp>
      <p:sp>
        <p:nvSpPr>
          <p:cNvPr id="67" name="Shape 65"/>
          <p:cNvSpPr/>
          <p:nvPr/>
        </p:nvSpPr>
        <p:spPr>
          <a:xfrm>
            <a:off x="11376254" y="5497679"/>
            <a:ext cx="260096" cy="65024"/>
          </a:xfrm>
          <a:custGeom>
            <a:avLst/>
            <a:gdLst/>
            <a:ahLst/>
            <a:cxnLst/>
            <a:rect l="l" t="t" r="r" b="b"/>
            <a:pathLst>
              <a:path w="260096" h="65024">
                <a:moveTo>
                  <a:pt x="32512" y="0"/>
                </a:moveTo>
                <a:lnTo>
                  <a:pt x="227584" y="0"/>
                </a:lnTo>
                <a:cubicBezTo>
                  <a:pt x="245540" y="0"/>
                  <a:pt x="260096" y="14556"/>
                  <a:pt x="260096" y="32512"/>
                </a:cubicBezTo>
                <a:lnTo>
                  <a:pt x="260096" y="32512"/>
                </a:lnTo>
                <a:cubicBezTo>
                  <a:pt x="260096" y="50468"/>
                  <a:pt x="245540" y="65024"/>
                  <a:pt x="227584" y="65024"/>
                </a:cubicBezTo>
                <a:lnTo>
                  <a:pt x="32512" y="65024"/>
                </a:lnTo>
                <a:cubicBezTo>
                  <a:pt x="14568" y="65024"/>
                  <a:pt x="0" y="50456"/>
                  <a:pt x="0" y="32512"/>
                </a:cubicBezTo>
                <a:lnTo>
                  <a:pt x="0" y="32512"/>
                </a:lnTo>
                <a:cubicBezTo>
                  <a:pt x="0" y="14568"/>
                  <a:pt x="14568" y="0"/>
                  <a:pt x="32512" y="0"/>
                </a:cubicBezTo>
                <a:close/>
              </a:path>
            </a:pathLst>
          </a:custGeom>
          <a:solidFill>
            <a:srgbClr val="E0E2E5">
              <a:alpha val="30196"/>
            </a:srgbClr>
          </a:solidFill>
          <a:ln/>
        </p:spPr>
        <p:txBody>
          <a:bodyPr/>
          <a:lstStyle/>
          <a:p>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200" b="1" kern="0" spc="100" dirty="0">
                <a:solidFill>
                  <a:srgbClr val="B8A890"/>
                </a:solidFill>
                <a:latin typeface="Quattrocento Sans" pitchFamily="34" charset="0"/>
                <a:ea typeface="Quattrocento Sans" pitchFamily="34" charset="-122"/>
                <a:cs typeface="Quattrocento Sans" pitchFamily="34" charset="-120"/>
              </a:rPr>
              <a:t>GAUSSIAN NOISE</a:t>
            </a:r>
            <a:endParaRPr lang="en-US" sz="24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Liter" pitchFamily="34" charset="0"/>
                <a:ea typeface="Liter" pitchFamily="34" charset="-122"/>
                <a:cs typeface="Liter" pitchFamily="34" charset="-120"/>
              </a:rPr>
              <a:t>Visual Comparison &amp; Histogram Analysis</a:t>
            </a:r>
            <a:endParaRPr lang="en-US" sz="1600" dirty="0"/>
          </a:p>
        </p:txBody>
      </p:sp>
      <p:sp>
        <p:nvSpPr>
          <p:cNvPr id="4" name="Shape 2"/>
          <p:cNvSpPr/>
          <p:nvPr/>
        </p:nvSpPr>
        <p:spPr>
          <a:xfrm>
            <a:off x="320675"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5" name="Text 3"/>
          <p:cNvSpPr/>
          <p:nvPr/>
        </p:nvSpPr>
        <p:spPr>
          <a:xfrm>
            <a:off x="320675" y="838197"/>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Original </a:t>
            </a:r>
            <a:endParaRPr lang="en-US" sz="1600" dirty="0"/>
          </a:p>
        </p:txBody>
      </p:sp>
      <p:sp>
        <p:nvSpPr>
          <p:cNvPr id="8" name="Text 6"/>
          <p:cNvSpPr/>
          <p:nvPr/>
        </p:nvSpPr>
        <p:spPr>
          <a:xfrm>
            <a:off x="423069"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80000"/>
                  </a:srgbClr>
                </a:solidFill>
                <a:latin typeface="Quattrocento Sans" pitchFamily="34" charset="0"/>
                <a:ea typeface="Quattrocento Sans" pitchFamily="34" charset="-122"/>
                <a:cs typeface="Quattrocento Sans" pitchFamily="34" charset="-120"/>
              </a:rPr>
              <a:t>Gaussian distributed variations</a:t>
            </a:r>
            <a:endParaRPr lang="en-US" sz="1600" dirty="0"/>
          </a:p>
        </p:txBody>
      </p:sp>
      <p:sp>
        <p:nvSpPr>
          <p:cNvPr id="9" name="Shape 7"/>
          <p:cNvSpPr/>
          <p:nvPr/>
        </p:nvSpPr>
        <p:spPr>
          <a:xfrm>
            <a:off x="8106767" y="1050925"/>
            <a:ext cx="3751263" cy="1790700"/>
          </a:xfrm>
          <a:custGeom>
            <a:avLst/>
            <a:gdLst/>
            <a:ahLst/>
            <a:cxnLst/>
            <a:rect l="l" t="t" r="r" b="b"/>
            <a:pathLst>
              <a:path w="3751263" h="1790700">
                <a:moveTo>
                  <a:pt x="95247" y="0"/>
                </a:moveTo>
                <a:lnTo>
                  <a:pt x="3656015" y="0"/>
                </a:lnTo>
                <a:cubicBezTo>
                  <a:pt x="3708619" y="0"/>
                  <a:pt x="3751263" y="42644"/>
                  <a:pt x="3751263" y="95247"/>
                </a:cubicBezTo>
                <a:lnTo>
                  <a:pt x="3751263" y="1695453"/>
                </a:lnTo>
                <a:cubicBezTo>
                  <a:pt x="3751263" y="1748056"/>
                  <a:pt x="3708619" y="1790700"/>
                  <a:pt x="3656015" y="1790700"/>
                </a:cubicBezTo>
                <a:lnTo>
                  <a:pt x="95247" y="1790700"/>
                </a:lnTo>
                <a:cubicBezTo>
                  <a:pt x="42644" y="1790700"/>
                  <a:pt x="0" y="1748056"/>
                  <a:pt x="0" y="1695453"/>
                </a:cubicBezTo>
                <a:lnTo>
                  <a:pt x="0" y="95247"/>
                </a:lnTo>
                <a:cubicBezTo>
                  <a:pt x="0" y="42644"/>
                  <a:pt x="42644" y="0"/>
                  <a:pt x="95247" y="0"/>
                </a:cubicBezTo>
                <a:close/>
              </a:path>
            </a:pathLst>
          </a:custGeom>
          <a:solidFill>
            <a:srgbClr val="4A6C8C">
              <a:alpha val="10196"/>
            </a:srgbClr>
          </a:solidFill>
          <a:ln w="20320">
            <a:solidFill>
              <a:srgbClr val="4A6C8C"/>
            </a:solidFill>
            <a:prstDash val="solid"/>
          </a:ln>
        </p:spPr>
        <p:txBody>
          <a:bodyPr/>
          <a:lstStyle/>
          <a:p>
            <a:endParaRPr lang="en-US"/>
          </a:p>
        </p:txBody>
      </p:sp>
      <p:sp>
        <p:nvSpPr>
          <p:cNvPr id="11" name="Text 9"/>
          <p:cNvSpPr/>
          <p:nvPr/>
        </p:nvSpPr>
        <p:spPr>
          <a:xfrm>
            <a:off x="8340625" y="822328"/>
            <a:ext cx="3373438" cy="222250"/>
          </a:xfrm>
          <a:prstGeom prst="rect">
            <a:avLst/>
          </a:prstGeom>
          <a:noFill/>
          <a:ln/>
        </p:spPr>
        <p:txBody>
          <a:bodyPr wrap="square" lIns="0" tIns="0" rIns="0" bIns="0" rtlCol="0" anchor="ctr"/>
          <a:lstStyle/>
          <a:p>
            <a:pPr algn="ctr">
              <a:lnSpc>
                <a:spcPct val="130000"/>
              </a:lnSpc>
            </a:pPr>
            <a:r>
              <a:rPr lang="en-US" sz="1125" b="1" dirty="0">
                <a:solidFill>
                  <a:srgbClr val="4A6C8C"/>
                </a:solidFill>
                <a:latin typeface="Liter" pitchFamily="34" charset="0"/>
                <a:ea typeface="Liter" pitchFamily="34" charset="-122"/>
                <a:cs typeface="Liter" pitchFamily="34" charset="-120"/>
              </a:rPr>
              <a:t>Arithmetic Mean</a:t>
            </a:r>
            <a:endParaRPr lang="en-US" sz="1600" dirty="0"/>
          </a:p>
        </p:txBody>
      </p:sp>
      <p:sp>
        <p:nvSpPr>
          <p:cNvPr id="15" name="Shape 13"/>
          <p:cNvSpPr/>
          <p:nvPr/>
        </p:nvSpPr>
        <p:spPr>
          <a:xfrm>
            <a:off x="4157068" y="1060447"/>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dirty="0"/>
          </a:p>
        </p:txBody>
      </p:sp>
      <p:sp>
        <p:nvSpPr>
          <p:cNvPr id="16" name="Text 14"/>
          <p:cNvSpPr/>
          <p:nvPr/>
        </p:nvSpPr>
        <p:spPr>
          <a:xfrm>
            <a:off x="4285853" y="828672"/>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Gaussian Noise</a:t>
            </a:r>
            <a:endParaRPr lang="en-US" sz="1600" dirty="0"/>
          </a:p>
        </p:txBody>
      </p:sp>
      <p:sp>
        <p:nvSpPr>
          <p:cNvPr id="19" name="Text 17"/>
          <p:cNvSpPr/>
          <p:nvPr/>
        </p:nvSpPr>
        <p:spPr>
          <a:xfrm>
            <a:off x="8212336"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70000"/>
                  </a:srgbClr>
                </a:solidFill>
                <a:latin typeface="Quattrocento Sans" pitchFamily="34" charset="0"/>
                <a:ea typeface="Quattrocento Sans" pitchFamily="34" charset="-122"/>
                <a:cs typeface="Quattrocento Sans" pitchFamily="34" charset="-120"/>
              </a:rPr>
              <a:t>Ineffective for Gaussian</a:t>
            </a:r>
            <a:endParaRPr lang="en-US" sz="1600" dirty="0"/>
          </a:p>
        </p:txBody>
      </p:sp>
      <p:sp>
        <p:nvSpPr>
          <p:cNvPr id="20" name="Shape 18"/>
          <p:cNvSpPr/>
          <p:nvPr/>
        </p:nvSpPr>
        <p:spPr>
          <a:xfrm>
            <a:off x="320675" y="3013072"/>
            <a:ext cx="5689600" cy="3749677"/>
          </a:xfrm>
          <a:custGeom>
            <a:avLst/>
            <a:gdLst/>
            <a:ahLst/>
            <a:cxnLst/>
            <a:rect l="l" t="t" r="r" b="b"/>
            <a:pathLst>
              <a:path w="5689600" h="2228850">
                <a:moveTo>
                  <a:pt x="95261" y="0"/>
                </a:moveTo>
                <a:lnTo>
                  <a:pt x="5594339" y="0"/>
                </a:lnTo>
                <a:cubicBezTo>
                  <a:pt x="5646950" y="0"/>
                  <a:pt x="5689600" y="42650"/>
                  <a:pt x="5689600" y="95261"/>
                </a:cubicBezTo>
                <a:lnTo>
                  <a:pt x="5689600" y="2133589"/>
                </a:lnTo>
                <a:cubicBezTo>
                  <a:pt x="5689600" y="2186200"/>
                  <a:pt x="5646950" y="2228850"/>
                  <a:pt x="5594339" y="2228850"/>
                </a:cubicBezTo>
                <a:lnTo>
                  <a:pt x="95261" y="2228850"/>
                </a:lnTo>
                <a:cubicBezTo>
                  <a:pt x="42650" y="2228850"/>
                  <a:pt x="0" y="2186200"/>
                  <a:pt x="0" y="2133589"/>
                </a:cubicBezTo>
                <a:lnTo>
                  <a:pt x="0" y="95261"/>
                </a:lnTo>
                <a:cubicBezTo>
                  <a:pt x="0" y="42685"/>
                  <a:pt x="42685" y="0"/>
                  <a:pt x="95261"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21" name="Text 19"/>
          <p:cNvSpPr/>
          <p:nvPr/>
        </p:nvSpPr>
        <p:spPr>
          <a:xfrm>
            <a:off x="482600" y="3204844"/>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Original</a:t>
            </a:r>
            <a:endParaRPr lang="en-US" sz="1600" dirty="0"/>
          </a:p>
        </p:txBody>
      </p:sp>
      <p:pic>
        <p:nvPicPr>
          <p:cNvPr id="49" name="Picture 48">
            <a:extLst>
              <a:ext uri="{FF2B5EF4-FFF2-40B4-BE49-F238E27FC236}">
                <a16:creationId xmlns:a16="http://schemas.microsoft.com/office/drawing/2014/main" id="{73AFF0E0-68F5-38F3-99E9-876494A7D28B}"/>
              </a:ext>
            </a:extLst>
          </p:cNvPr>
          <p:cNvPicPr>
            <a:picLocks noChangeAspect="1"/>
          </p:cNvPicPr>
          <p:nvPr/>
        </p:nvPicPr>
        <p:blipFill>
          <a:blip r:embed="rId3"/>
          <a:stretch>
            <a:fillRect/>
          </a:stretch>
        </p:blipFill>
        <p:spPr>
          <a:xfrm>
            <a:off x="1321194" y="1085850"/>
            <a:ext cx="1766100" cy="1758950"/>
          </a:xfrm>
          <a:prstGeom prst="rect">
            <a:avLst/>
          </a:prstGeom>
        </p:spPr>
      </p:pic>
      <p:sp>
        <p:nvSpPr>
          <p:cNvPr id="50" name="Shape 18">
            <a:extLst>
              <a:ext uri="{FF2B5EF4-FFF2-40B4-BE49-F238E27FC236}">
                <a16:creationId xmlns:a16="http://schemas.microsoft.com/office/drawing/2014/main" id="{DE2CF8C8-0DFE-C152-CC73-49292F5776BE}"/>
              </a:ext>
            </a:extLst>
          </p:cNvPr>
          <p:cNvSpPr/>
          <p:nvPr/>
        </p:nvSpPr>
        <p:spPr>
          <a:xfrm>
            <a:off x="6181129" y="3006919"/>
            <a:ext cx="5689600" cy="3749677"/>
          </a:xfrm>
          <a:custGeom>
            <a:avLst/>
            <a:gdLst/>
            <a:ahLst/>
            <a:cxnLst/>
            <a:rect l="l" t="t" r="r" b="b"/>
            <a:pathLst>
              <a:path w="5689600" h="2228850">
                <a:moveTo>
                  <a:pt x="95261" y="0"/>
                </a:moveTo>
                <a:lnTo>
                  <a:pt x="5594339" y="0"/>
                </a:lnTo>
                <a:cubicBezTo>
                  <a:pt x="5646950" y="0"/>
                  <a:pt x="5689600" y="42650"/>
                  <a:pt x="5689600" y="95261"/>
                </a:cubicBezTo>
                <a:lnTo>
                  <a:pt x="5689600" y="2133589"/>
                </a:lnTo>
                <a:cubicBezTo>
                  <a:pt x="5689600" y="2186200"/>
                  <a:pt x="5646950" y="2228850"/>
                  <a:pt x="5594339" y="2228850"/>
                </a:cubicBezTo>
                <a:lnTo>
                  <a:pt x="95261" y="2228850"/>
                </a:lnTo>
                <a:cubicBezTo>
                  <a:pt x="42650" y="2228850"/>
                  <a:pt x="0" y="2186200"/>
                  <a:pt x="0" y="2133589"/>
                </a:cubicBezTo>
                <a:lnTo>
                  <a:pt x="0" y="95261"/>
                </a:lnTo>
                <a:cubicBezTo>
                  <a:pt x="0" y="42685"/>
                  <a:pt x="42685" y="0"/>
                  <a:pt x="95261"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pic>
        <p:nvPicPr>
          <p:cNvPr id="52" name="Picture 51">
            <a:extLst>
              <a:ext uri="{FF2B5EF4-FFF2-40B4-BE49-F238E27FC236}">
                <a16:creationId xmlns:a16="http://schemas.microsoft.com/office/drawing/2014/main" id="{418259AC-5711-344F-E9F5-4F21E40A6C66}"/>
              </a:ext>
            </a:extLst>
          </p:cNvPr>
          <p:cNvPicPr>
            <a:picLocks noChangeAspect="1"/>
          </p:cNvPicPr>
          <p:nvPr/>
        </p:nvPicPr>
        <p:blipFill>
          <a:blip r:embed="rId4"/>
          <a:stretch>
            <a:fillRect/>
          </a:stretch>
        </p:blipFill>
        <p:spPr>
          <a:xfrm>
            <a:off x="482600" y="3754119"/>
            <a:ext cx="3535680" cy="2651760"/>
          </a:xfrm>
          <a:prstGeom prst="rect">
            <a:avLst/>
          </a:prstGeom>
        </p:spPr>
      </p:pic>
      <p:pic>
        <p:nvPicPr>
          <p:cNvPr id="54" name="Picture 53">
            <a:extLst>
              <a:ext uri="{FF2B5EF4-FFF2-40B4-BE49-F238E27FC236}">
                <a16:creationId xmlns:a16="http://schemas.microsoft.com/office/drawing/2014/main" id="{C2622DB1-BCFD-9AAC-FDCF-8DBF428E7106}"/>
              </a:ext>
            </a:extLst>
          </p:cNvPr>
          <p:cNvPicPr>
            <a:picLocks noChangeAspect="1"/>
          </p:cNvPicPr>
          <p:nvPr/>
        </p:nvPicPr>
        <p:blipFill>
          <a:blip r:embed="rId5"/>
          <a:stretch>
            <a:fillRect/>
          </a:stretch>
        </p:blipFill>
        <p:spPr>
          <a:xfrm>
            <a:off x="5212949" y="1085964"/>
            <a:ext cx="1766101" cy="1784233"/>
          </a:xfrm>
          <a:prstGeom prst="rect">
            <a:avLst/>
          </a:prstGeom>
        </p:spPr>
      </p:pic>
      <p:sp>
        <p:nvSpPr>
          <p:cNvPr id="55" name="Text 19">
            <a:extLst>
              <a:ext uri="{FF2B5EF4-FFF2-40B4-BE49-F238E27FC236}">
                <a16:creationId xmlns:a16="http://schemas.microsoft.com/office/drawing/2014/main" id="{D26B5C93-19C4-D892-8A3A-2FE7CB0B930A}"/>
              </a:ext>
            </a:extLst>
          </p:cNvPr>
          <p:cNvSpPr/>
          <p:nvPr/>
        </p:nvSpPr>
        <p:spPr>
          <a:xfrm>
            <a:off x="5135165" y="3168650"/>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Gaussian</a:t>
            </a:r>
            <a:endParaRPr lang="en-US" sz="1600" dirty="0"/>
          </a:p>
        </p:txBody>
      </p:sp>
      <p:pic>
        <p:nvPicPr>
          <p:cNvPr id="57" name="Picture 56">
            <a:extLst>
              <a:ext uri="{FF2B5EF4-FFF2-40B4-BE49-F238E27FC236}">
                <a16:creationId xmlns:a16="http://schemas.microsoft.com/office/drawing/2014/main" id="{0D478A93-105D-C638-9B1A-6CF4F91F4A51}"/>
              </a:ext>
            </a:extLst>
          </p:cNvPr>
          <p:cNvPicPr>
            <a:picLocks noChangeAspect="1"/>
          </p:cNvPicPr>
          <p:nvPr/>
        </p:nvPicPr>
        <p:blipFill>
          <a:blip r:embed="rId6"/>
          <a:stretch>
            <a:fillRect/>
          </a:stretch>
        </p:blipFill>
        <p:spPr>
          <a:xfrm>
            <a:off x="4328159" y="3757294"/>
            <a:ext cx="3535680" cy="2651760"/>
          </a:xfrm>
          <a:prstGeom prst="rect">
            <a:avLst/>
          </a:prstGeom>
        </p:spPr>
      </p:pic>
      <p:sp>
        <p:nvSpPr>
          <p:cNvPr id="58" name="Text 19">
            <a:extLst>
              <a:ext uri="{FF2B5EF4-FFF2-40B4-BE49-F238E27FC236}">
                <a16:creationId xmlns:a16="http://schemas.microsoft.com/office/drawing/2014/main" id="{84A989CF-3ABA-710A-DF1B-A4894C11B01A}"/>
              </a:ext>
            </a:extLst>
          </p:cNvPr>
          <p:cNvSpPr/>
          <p:nvPr/>
        </p:nvSpPr>
        <p:spPr>
          <a:xfrm>
            <a:off x="9135468" y="3168650"/>
            <a:ext cx="1855994" cy="222249"/>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Arithmetic</a:t>
            </a:r>
            <a:endParaRPr lang="en-US" sz="1600" dirty="0"/>
          </a:p>
        </p:txBody>
      </p:sp>
      <p:pic>
        <p:nvPicPr>
          <p:cNvPr id="60" name="Picture 59">
            <a:extLst>
              <a:ext uri="{FF2B5EF4-FFF2-40B4-BE49-F238E27FC236}">
                <a16:creationId xmlns:a16="http://schemas.microsoft.com/office/drawing/2014/main" id="{C9E9C810-35D9-CC04-87C2-DB131CF52DF8}"/>
              </a:ext>
            </a:extLst>
          </p:cNvPr>
          <p:cNvPicPr>
            <a:picLocks noChangeAspect="1"/>
          </p:cNvPicPr>
          <p:nvPr/>
        </p:nvPicPr>
        <p:blipFill>
          <a:blip r:embed="rId7"/>
          <a:stretch>
            <a:fillRect/>
          </a:stretch>
        </p:blipFill>
        <p:spPr>
          <a:xfrm>
            <a:off x="9099347" y="1057785"/>
            <a:ext cx="1766101" cy="1776980"/>
          </a:xfrm>
          <a:prstGeom prst="rect">
            <a:avLst/>
          </a:prstGeom>
        </p:spPr>
      </p:pic>
      <p:pic>
        <p:nvPicPr>
          <p:cNvPr id="62" name="Picture 61">
            <a:extLst>
              <a:ext uri="{FF2B5EF4-FFF2-40B4-BE49-F238E27FC236}">
                <a16:creationId xmlns:a16="http://schemas.microsoft.com/office/drawing/2014/main" id="{40825FE1-1590-9F00-1EF0-B4B318E2978D}"/>
              </a:ext>
            </a:extLst>
          </p:cNvPr>
          <p:cNvPicPr>
            <a:picLocks noChangeAspect="1"/>
          </p:cNvPicPr>
          <p:nvPr/>
        </p:nvPicPr>
        <p:blipFill>
          <a:blip r:embed="rId8"/>
          <a:stretch>
            <a:fillRect/>
          </a:stretch>
        </p:blipFill>
        <p:spPr>
          <a:xfrm>
            <a:off x="8178383" y="3752533"/>
            <a:ext cx="3535680" cy="265176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a:extLst>
            <a:ext uri="{FF2B5EF4-FFF2-40B4-BE49-F238E27FC236}">
              <a16:creationId xmlns:a16="http://schemas.microsoft.com/office/drawing/2014/main" id="{E384513A-33F0-18B3-D10C-D9382F57B4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959ED8-0766-4EB3-A98D-F295E4CBD3A6}"/>
              </a:ext>
            </a:extLst>
          </p:cNvPr>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B8A890"/>
                </a:solidFill>
                <a:latin typeface="Quattrocento Sans" pitchFamily="34" charset="0"/>
                <a:ea typeface="Quattrocento Sans" pitchFamily="34" charset="-122"/>
                <a:cs typeface="Quattrocento Sans" pitchFamily="34" charset="-120"/>
              </a:rPr>
              <a:t>GAUSSIAN NOISE</a:t>
            </a:r>
            <a:endParaRPr lang="en-US" sz="1600" dirty="0"/>
          </a:p>
        </p:txBody>
      </p:sp>
      <p:sp>
        <p:nvSpPr>
          <p:cNvPr id="3" name="Text 1">
            <a:extLst>
              <a:ext uri="{FF2B5EF4-FFF2-40B4-BE49-F238E27FC236}">
                <a16:creationId xmlns:a16="http://schemas.microsoft.com/office/drawing/2014/main" id="{96C47C2A-C24D-991B-5942-0C8E643A2ED9}"/>
              </a:ext>
            </a:extLst>
          </p:cNvPr>
          <p:cNvSpPr/>
          <p:nvPr/>
        </p:nvSpPr>
        <p:spPr>
          <a:xfrm>
            <a:off x="317500" y="580831"/>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Liter" pitchFamily="34" charset="0"/>
                <a:ea typeface="Liter" pitchFamily="34" charset="-122"/>
                <a:cs typeface="Liter" pitchFamily="34" charset="-120"/>
              </a:rPr>
              <a:t>Visual Comparison &amp; Histogram Analysis</a:t>
            </a:r>
            <a:endParaRPr lang="en-US" sz="1600" dirty="0"/>
          </a:p>
        </p:txBody>
      </p:sp>
      <p:sp>
        <p:nvSpPr>
          <p:cNvPr id="4" name="Shape 2">
            <a:extLst>
              <a:ext uri="{FF2B5EF4-FFF2-40B4-BE49-F238E27FC236}">
                <a16:creationId xmlns:a16="http://schemas.microsoft.com/office/drawing/2014/main" id="{BE723A1C-D3D7-12E2-D7F0-B1E4299AAC3E}"/>
              </a:ext>
            </a:extLst>
          </p:cNvPr>
          <p:cNvSpPr/>
          <p:nvPr/>
        </p:nvSpPr>
        <p:spPr>
          <a:xfrm>
            <a:off x="320675"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5" name="Text 3">
            <a:extLst>
              <a:ext uri="{FF2B5EF4-FFF2-40B4-BE49-F238E27FC236}">
                <a16:creationId xmlns:a16="http://schemas.microsoft.com/office/drawing/2014/main" id="{4FFC0F72-7AB1-162D-BC24-2D509E9CDA4F}"/>
              </a:ext>
            </a:extLst>
          </p:cNvPr>
          <p:cNvSpPr/>
          <p:nvPr/>
        </p:nvSpPr>
        <p:spPr>
          <a:xfrm>
            <a:off x="415131" y="835023"/>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rPr>
              <a:t>Average Filter</a:t>
            </a:r>
            <a:endParaRPr lang="en-US" sz="1600" dirty="0"/>
          </a:p>
        </p:txBody>
      </p:sp>
      <p:sp>
        <p:nvSpPr>
          <p:cNvPr id="8" name="Text 6">
            <a:extLst>
              <a:ext uri="{FF2B5EF4-FFF2-40B4-BE49-F238E27FC236}">
                <a16:creationId xmlns:a16="http://schemas.microsoft.com/office/drawing/2014/main" id="{7A1685A8-3E1C-72F9-8C34-7733B3B7DAAB}"/>
              </a:ext>
            </a:extLst>
          </p:cNvPr>
          <p:cNvSpPr/>
          <p:nvPr/>
        </p:nvSpPr>
        <p:spPr>
          <a:xfrm>
            <a:off x="423069"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80000"/>
                  </a:srgbClr>
                </a:solidFill>
                <a:latin typeface="Quattrocento Sans" pitchFamily="34" charset="0"/>
                <a:ea typeface="Quattrocento Sans" pitchFamily="34" charset="-122"/>
                <a:cs typeface="Quattrocento Sans" pitchFamily="34" charset="-120"/>
              </a:rPr>
              <a:t>Gaussian distributed variations</a:t>
            </a:r>
            <a:endParaRPr lang="en-US" sz="1600" dirty="0"/>
          </a:p>
        </p:txBody>
      </p:sp>
      <p:sp>
        <p:nvSpPr>
          <p:cNvPr id="15" name="Shape 13">
            <a:extLst>
              <a:ext uri="{FF2B5EF4-FFF2-40B4-BE49-F238E27FC236}">
                <a16:creationId xmlns:a16="http://schemas.microsoft.com/office/drawing/2014/main" id="{EFC7DA3E-C600-D31A-FB1D-5B449110C98C}"/>
              </a:ext>
            </a:extLst>
          </p:cNvPr>
          <p:cNvSpPr/>
          <p:nvPr/>
        </p:nvSpPr>
        <p:spPr>
          <a:xfrm>
            <a:off x="8109942" y="1060256"/>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a:p>
        </p:txBody>
      </p:sp>
      <p:sp>
        <p:nvSpPr>
          <p:cNvPr id="16" name="Text 14">
            <a:extLst>
              <a:ext uri="{FF2B5EF4-FFF2-40B4-BE49-F238E27FC236}">
                <a16:creationId xmlns:a16="http://schemas.microsoft.com/office/drawing/2014/main" id="{9AA0A6C2-40AF-9634-03DC-D0DF3A011D9D}"/>
              </a:ext>
            </a:extLst>
          </p:cNvPr>
          <p:cNvSpPr/>
          <p:nvPr/>
        </p:nvSpPr>
        <p:spPr>
          <a:xfrm>
            <a:off x="8213725" y="838198"/>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Median Filter</a:t>
            </a:r>
            <a:endParaRPr lang="en-US" sz="1600" dirty="0"/>
          </a:p>
        </p:txBody>
      </p:sp>
      <p:sp>
        <p:nvSpPr>
          <p:cNvPr id="19" name="Text 17">
            <a:extLst>
              <a:ext uri="{FF2B5EF4-FFF2-40B4-BE49-F238E27FC236}">
                <a16:creationId xmlns:a16="http://schemas.microsoft.com/office/drawing/2014/main" id="{6E3CAF5C-7B4D-177C-900F-CB0E2AFA14D5}"/>
              </a:ext>
            </a:extLst>
          </p:cNvPr>
          <p:cNvSpPr/>
          <p:nvPr/>
        </p:nvSpPr>
        <p:spPr>
          <a:xfrm>
            <a:off x="8212336" y="2546348"/>
            <a:ext cx="3556000" cy="158750"/>
          </a:xfrm>
          <a:prstGeom prst="rect">
            <a:avLst/>
          </a:prstGeom>
          <a:noFill/>
          <a:ln/>
        </p:spPr>
        <p:txBody>
          <a:bodyPr wrap="square" lIns="0" tIns="0" rIns="0" bIns="0" rtlCol="0" anchor="ctr"/>
          <a:lstStyle/>
          <a:p>
            <a:pPr algn="ctr">
              <a:lnSpc>
                <a:spcPct val="120000"/>
              </a:lnSpc>
            </a:pPr>
            <a:r>
              <a:rPr lang="en-US" sz="875" dirty="0">
                <a:solidFill>
                  <a:srgbClr val="E0E2E5">
                    <a:alpha val="70000"/>
                  </a:srgbClr>
                </a:solidFill>
                <a:latin typeface="Quattrocento Sans" pitchFamily="34" charset="0"/>
                <a:ea typeface="Quattrocento Sans" pitchFamily="34" charset="-122"/>
                <a:cs typeface="Quattrocento Sans" pitchFamily="34" charset="-120"/>
              </a:rPr>
              <a:t>Ineffective for Gaussian</a:t>
            </a:r>
            <a:endParaRPr lang="en-US" sz="1600" dirty="0"/>
          </a:p>
        </p:txBody>
      </p:sp>
      <p:sp>
        <p:nvSpPr>
          <p:cNvPr id="20" name="Shape 18">
            <a:extLst>
              <a:ext uri="{FF2B5EF4-FFF2-40B4-BE49-F238E27FC236}">
                <a16:creationId xmlns:a16="http://schemas.microsoft.com/office/drawing/2014/main" id="{5817A7A5-5180-91B9-D867-9F5899362C36}"/>
              </a:ext>
            </a:extLst>
          </p:cNvPr>
          <p:cNvSpPr/>
          <p:nvPr/>
        </p:nvSpPr>
        <p:spPr>
          <a:xfrm>
            <a:off x="320675" y="3013072"/>
            <a:ext cx="5689600" cy="3733603"/>
          </a:xfrm>
          <a:custGeom>
            <a:avLst/>
            <a:gdLst/>
            <a:ahLst/>
            <a:cxnLst/>
            <a:rect l="l" t="t" r="r" b="b"/>
            <a:pathLst>
              <a:path w="5689600" h="2228850">
                <a:moveTo>
                  <a:pt x="95261" y="0"/>
                </a:moveTo>
                <a:lnTo>
                  <a:pt x="5594339" y="0"/>
                </a:lnTo>
                <a:cubicBezTo>
                  <a:pt x="5646950" y="0"/>
                  <a:pt x="5689600" y="42650"/>
                  <a:pt x="5689600" y="95261"/>
                </a:cubicBezTo>
                <a:lnTo>
                  <a:pt x="5689600" y="2133589"/>
                </a:lnTo>
                <a:cubicBezTo>
                  <a:pt x="5689600" y="2186200"/>
                  <a:pt x="5646950" y="2228850"/>
                  <a:pt x="5594339" y="2228850"/>
                </a:cubicBezTo>
                <a:lnTo>
                  <a:pt x="95261" y="2228850"/>
                </a:lnTo>
                <a:cubicBezTo>
                  <a:pt x="42650" y="2228850"/>
                  <a:pt x="0" y="2186200"/>
                  <a:pt x="0" y="2133589"/>
                </a:cubicBezTo>
                <a:lnTo>
                  <a:pt x="0" y="95261"/>
                </a:lnTo>
                <a:cubicBezTo>
                  <a:pt x="0" y="42685"/>
                  <a:pt x="42685" y="0"/>
                  <a:pt x="95261"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21" name="Text 19">
            <a:extLst>
              <a:ext uri="{FF2B5EF4-FFF2-40B4-BE49-F238E27FC236}">
                <a16:creationId xmlns:a16="http://schemas.microsoft.com/office/drawing/2014/main" id="{112CBD82-2058-F6B1-7D4C-F7296D02AB37}"/>
              </a:ext>
            </a:extLst>
          </p:cNvPr>
          <p:cNvSpPr/>
          <p:nvPr/>
        </p:nvSpPr>
        <p:spPr>
          <a:xfrm>
            <a:off x="482600" y="3175000"/>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Average Filter</a:t>
            </a:r>
            <a:endParaRPr lang="en-US" sz="1600" dirty="0"/>
          </a:p>
        </p:txBody>
      </p:sp>
      <p:pic>
        <p:nvPicPr>
          <p:cNvPr id="49" name="Picture 48">
            <a:extLst>
              <a:ext uri="{FF2B5EF4-FFF2-40B4-BE49-F238E27FC236}">
                <a16:creationId xmlns:a16="http://schemas.microsoft.com/office/drawing/2014/main" id="{D8EF4645-101F-AEA7-0805-27B30B085A73}"/>
              </a:ext>
            </a:extLst>
          </p:cNvPr>
          <p:cNvPicPr>
            <a:picLocks noChangeAspect="1"/>
          </p:cNvPicPr>
          <p:nvPr/>
        </p:nvPicPr>
        <p:blipFill>
          <a:blip r:embed="rId3"/>
          <a:stretch>
            <a:fillRect/>
          </a:stretch>
        </p:blipFill>
        <p:spPr>
          <a:xfrm>
            <a:off x="1376961" y="1083468"/>
            <a:ext cx="1749818" cy="1731963"/>
          </a:xfrm>
          <a:prstGeom prst="rect">
            <a:avLst/>
          </a:prstGeom>
        </p:spPr>
      </p:pic>
      <p:sp>
        <p:nvSpPr>
          <p:cNvPr id="50" name="Shape 13">
            <a:extLst>
              <a:ext uri="{FF2B5EF4-FFF2-40B4-BE49-F238E27FC236}">
                <a16:creationId xmlns:a16="http://schemas.microsoft.com/office/drawing/2014/main" id="{11992149-DAC5-9502-208C-90EAB6F3D28C}"/>
              </a:ext>
            </a:extLst>
          </p:cNvPr>
          <p:cNvSpPr/>
          <p:nvPr/>
        </p:nvSpPr>
        <p:spPr>
          <a:xfrm>
            <a:off x="4218981" y="1050925"/>
            <a:ext cx="3760787" cy="1800225"/>
          </a:xfrm>
          <a:custGeom>
            <a:avLst/>
            <a:gdLst/>
            <a:ahLst/>
            <a:cxnLst/>
            <a:rect l="l" t="t" r="r" b="b"/>
            <a:pathLst>
              <a:path w="3760787" h="1800225">
                <a:moveTo>
                  <a:pt x="95250" y="0"/>
                </a:moveTo>
                <a:lnTo>
                  <a:pt x="3665538" y="0"/>
                </a:lnTo>
                <a:cubicBezTo>
                  <a:pt x="3718143" y="0"/>
                  <a:pt x="3760787" y="42645"/>
                  <a:pt x="3760787" y="95250"/>
                </a:cubicBezTo>
                <a:lnTo>
                  <a:pt x="3760787" y="1704975"/>
                </a:lnTo>
                <a:cubicBezTo>
                  <a:pt x="3760787" y="1757580"/>
                  <a:pt x="3718143" y="1800225"/>
                  <a:pt x="3665538" y="1800225"/>
                </a:cubicBezTo>
                <a:lnTo>
                  <a:pt x="95250" y="1800225"/>
                </a:lnTo>
                <a:cubicBezTo>
                  <a:pt x="42645" y="1800225"/>
                  <a:pt x="0" y="1757580"/>
                  <a:pt x="0" y="1704975"/>
                </a:cubicBezTo>
                <a:lnTo>
                  <a:pt x="0" y="95250"/>
                </a:lnTo>
                <a:cubicBezTo>
                  <a:pt x="0" y="42645"/>
                  <a:pt x="42645" y="0"/>
                  <a:pt x="95250" y="0"/>
                </a:cubicBezTo>
                <a:close/>
              </a:path>
            </a:pathLst>
          </a:custGeom>
          <a:solidFill>
            <a:srgbClr val="E0E2E5">
              <a:alpha val="5098"/>
            </a:srgbClr>
          </a:solidFill>
          <a:ln w="10160">
            <a:solidFill>
              <a:srgbClr val="E0E2E5">
                <a:alpha val="20000"/>
              </a:srgbClr>
            </a:solidFill>
            <a:prstDash val="solid"/>
          </a:ln>
        </p:spPr>
        <p:txBody>
          <a:bodyPr/>
          <a:lstStyle/>
          <a:p>
            <a:endParaRPr lang="en-US"/>
          </a:p>
        </p:txBody>
      </p:sp>
      <p:sp>
        <p:nvSpPr>
          <p:cNvPr id="51" name="Text 14">
            <a:extLst>
              <a:ext uri="{FF2B5EF4-FFF2-40B4-BE49-F238E27FC236}">
                <a16:creationId xmlns:a16="http://schemas.microsoft.com/office/drawing/2014/main" id="{2482B1F0-6ABA-D161-F588-45F75FA5734A}"/>
              </a:ext>
            </a:extLst>
          </p:cNvPr>
          <p:cNvSpPr/>
          <p:nvPr/>
        </p:nvSpPr>
        <p:spPr>
          <a:xfrm>
            <a:off x="4314428" y="809575"/>
            <a:ext cx="3571875" cy="222250"/>
          </a:xfrm>
          <a:prstGeom prst="rect">
            <a:avLst/>
          </a:prstGeom>
          <a:noFill/>
          <a:ln/>
        </p:spPr>
        <p:txBody>
          <a:bodyPr wrap="square" lIns="0" tIns="0" rIns="0" bIns="0" rtlCol="0" anchor="ctr"/>
          <a:lstStyle/>
          <a:p>
            <a:pPr algn="ctr">
              <a:lnSpc>
                <a:spcPct val="130000"/>
              </a:lnSpc>
            </a:pPr>
            <a:r>
              <a:rPr lang="en-US" sz="1125" b="1" dirty="0">
                <a:solidFill>
                  <a:srgbClr val="E0E2E5"/>
                </a:solidFill>
                <a:latin typeface="Liter" pitchFamily="34" charset="0"/>
                <a:ea typeface="Liter" pitchFamily="34" charset="-122"/>
                <a:cs typeface="Liter" pitchFamily="34" charset="-120"/>
              </a:rPr>
              <a:t> Harmonic Filter</a:t>
            </a:r>
            <a:endParaRPr lang="en-US" sz="1600" dirty="0"/>
          </a:p>
        </p:txBody>
      </p:sp>
      <p:sp>
        <p:nvSpPr>
          <p:cNvPr id="52" name="Shape 18">
            <a:extLst>
              <a:ext uri="{FF2B5EF4-FFF2-40B4-BE49-F238E27FC236}">
                <a16:creationId xmlns:a16="http://schemas.microsoft.com/office/drawing/2014/main" id="{711646B9-6525-27F3-9E92-497BBDF493DF}"/>
              </a:ext>
            </a:extLst>
          </p:cNvPr>
          <p:cNvSpPr/>
          <p:nvPr/>
        </p:nvSpPr>
        <p:spPr>
          <a:xfrm>
            <a:off x="6181727" y="3013072"/>
            <a:ext cx="5689600" cy="3733603"/>
          </a:xfrm>
          <a:custGeom>
            <a:avLst/>
            <a:gdLst/>
            <a:ahLst/>
            <a:cxnLst/>
            <a:rect l="l" t="t" r="r" b="b"/>
            <a:pathLst>
              <a:path w="5689600" h="2228850">
                <a:moveTo>
                  <a:pt x="95261" y="0"/>
                </a:moveTo>
                <a:lnTo>
                  <a:pt x="5594339" y="0"/>
                </a:lnTo>
                <a:cubicBezTo>
                  <a:pt x="5646950" y="0"/>
                  <a:pt x="5689600" y="42650"/>
                  <a:pt x="5689600" y="95261"/>
                </a:cubicBezTo>
                <a:lnTo>
                  <a:pt x="5689600" y="2133589"/>
                </a:lnTo>
                <a:cubicBezTo>
                  <a:pt x="5689600" y="2186200"/>
                  <a:pt x="5646950" y="2228850"/>
                  <a:pt x="5594339" y="2228850"/>
                </a:cubicBezTo>
                <a:lnTo>
                  <a:pt x="95261" y="2228850"/>
                </a:lnTo>
                <a:cubicBezTo>
                  <a:pt x="42650" y="2228850"/>
                  <a:pt x="0" y="2186200"/>
                  <a:pt x="0" y="2133589"/>
                </a:cubicBezTo>
                <a:lnTo>
                  <a:pt x="0" y="95261"/>
                </a:lnTo>
                <a:cubicBezTo>
                  <a:pt x="0" y="42685"/>
                  <a:pt x="42685" y="0"/>
                  <a:pt x="95261"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pic>
        <p:nvPicPr>
          <p:cNvPr id="54" name="Picture 53">
            <a:extLst>
              <a:ext uri="{FF2B5EF4-FFF2-40B4-BE49-F238E27FC236}">
                <a16:creationId xmlns:a16="http://schemas.microsoft.com/office/drawing/2014/main" id="{544410D2-3E8D-2573-1E68-7A9D4731E2EE}"/>
              </a:ext>
            </a:extLst>
          </p:cNvPr>
          <p:cNvPicPr>
            <a:picLocks noChangeAspect="1"/>
          </p:cNvPicPr>
          <p:nvPr/>
        </p:nvPicPr>
        <p:blipFill>
          <a:blip r:embed="rId4"/>
          <a:stretch>
            <a:fillRect/>
          </a:stretch>
        </p:blipFill>
        <p:spPr>
          <a:xfrm>
            <a:off x="415131" y="3649342"/>
            <a:ext cx="3535680" cy="2651760"/>
          </a:xfrm>
          <a:prstGeom prst="rect">
            <a:avLst/>
          </a:prstGeom>
        </p:spPr>
      </p:pic>
      <p:pic>
        <p:nvPicPr>
          <p:cNvPr id="56" name="Picture 55">
            <a:extLst>
              <a:ext uri="{FF2B5EF4-FFF2-40B4-BE49-F238E27FC236}">
                <a16:creationId xmlns:a16="http://schemas.microsoft.com/office/drawing/2014/main" id="{093A6716-92E0-EDB0-581D-C5661F351DAA}"/>
              </a:ext>
            </a:extLst>
          </p:cNvPr>
          <p:cNvPicPr>
            <a:picLocks noChangeAspect="1"/>
          </p:cNvPicPr>
          <p:nvPr/>
        </p:nvPicPr>
        <p:blipFill>
          <a:blip r:embed="rId5"/>
          <a:stretch>
            <a:fillRect/>
          </a:stretch>
        </p:blipFill>
        <p:spPr>
          <a:xfrm>
            <a:off x="5221091" y="1083468"/>
            <a:ext cx="1749818" cy="1739234"/>
          </a:xfrm>
          <a:prstGeom prst="rect">
            <a:avLst/>
          </a:prstGeom>
        </p:spPr>
      </p:pic>
      <p:pic>
        <p:nvPicPr>
          <p:cNvPr id="58" name="Picture 57">
            <a:extLst>
              <a:ext uri="{FF2B5EF4-FFF2-40B4-BE49-F238E27FC236}">
                <a16:creationId xmlns:a16="http://schemas.microsoft.com/office/drawing/2014/main" id="{ECACE822-C8DC-CFCD-18F8-EB79BF7E6D4B}"/>
              </a:ext>
            </a:extLst>
          </p:cNvPr>
          <p:cNvPicPr>
            <a:picLocks noChangeAspect="1"/>
          </p:cNvPicPr>
          <p:nvPr/>
        </p:nvPicPr>
        <p:blipFill>
          <a:blip r:embed="rId6"/>
          <a:stretch>
            <a:fillRect/>
          </a:stretch>
        </p:blipFill>
        <p:spPr>
          <a:xfrm>
            <a:off x="4242435" y="3649342"/>
            <a:ext cx="3535680" cy="2651760"/>
          </a:xfrm>
          <a:prstGeom prst="rect">
            <a:avLst/>
          </a:prstGeom>
        </p:spPr>
      </p:pic>
      <p:sp>
        <p:nvSpPr>
          <p:cNvPr id="59" name="Text 19">
            <a:extLst>
              <a:ext uri="{FF2B5EF4-FFF2-40B4-BE49-F238E27FC236}">
                <a16:creationId xmlns:a16="http://schemas.microsoft.com/office/drawing/2014/main" id="{C9E35925-B211-CA03-10AE-D3E89F36D469}"/>
              </a:ext>
            </a:extLst>
          </p:cNvPr>
          <p:cNvSpPr/>
          <p:nvPr/>
        </p:nvSpPr>
        <p:spPr>
          <a:xfrm>
            <a:off x="5163740" y="3092447"/>
            <a:ext cx="5445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a:t>
            </a:r>
            <a:r>
              <a:rPr lang="en-US" sz="1400" b="1" dirty="0">
                <a:solidFill>
                  <a:srgbClr val="E0E2E5"/>
                </a:solidFill>
                <a:latin typeface="Liter" pitchFamily="34" charset="0"/>
                <a:ea typeface="Liter" pitchFamily="34" charset="-122"/>
                <a:cs typeface="Liter" pitchFamily="34" charset="-120"/>
              </a:rPr>
              <a:t>Harmonic</a:t>
            </a:r>
            <a:r>
              <a:rPr lang="en-US" sz="1250" b="1" dirty="0">
                <a:solidFill>
                  <a:srgbClr val="E0E2E5"/>
                </a:solidFill>
                <a:latin typeface="Liter" pitchFamily="34" charset="0"/>
                <a:ea typeface="Liter" pitchFamily="34" charset="-122"/>
                <a:cs typeface="Liter" pitchFamily="34" charset="-120"/>
              </a:rPr>
              <a:t> Filter</a:t>
            </a:r>
            <a:endParaRPr lang="en-US" sz="1600" dirty="0"/>
          </a:p>
        </p:txBody>
      </p:sp>
      <p:pic>
        <p:nvPicPr>
          <p:cNvPr id="61" name="Picture 60">
            <a:extLst>
              <a:ext uri="{FF2B5EF4-FFF2-40B4-BE49-F238E27FC236}">
                <a16:creationId xmlns:a16="http://schemas.microsoft.com/office/drawing/2014/main" id="{97C74B1B-AD86-053C-5395-4AF0B44C7E08}"/>
              </a:ext>
            </a:extLst>
          </p:cNvPr>
          <p:cNvPicPr>
            <a:picLocks noChangeAspect="1"/>
          </p:cNvPicPr>
          <p:nvPr/>
        </p:nvPicPr>
        <p:blipFill>
          <a:blip r:embed="rId7"/>
          <a:stretch>
            <a:fillRect/>
          </a:stretch>
        </p:blipFill>
        <p:spPr>
          <a:xfrm>
            <a:off x="8157707" y="3634740"/>
            <a:ext cx="3535680" cy="2651760"/>
          </a:xfrm>
          <a:prstGeom prst="rect">
            <a:avLst/>
          </a:prstGeom>
        </p:spPr>
      </p:pic>
      <p:sp>
        <p:nvSpPr>
          <p:cNvPr id="62" name="Text 19">
            <a:extLst>
              <a:ext uri="{FF2B5EF4-FFF2-40B4-BE49-F238E27FC236}">
                <a16:creationId xmlns:a16="http://schemas.microsoft.com/office/drawing/2014/main" id="{11328FD5-7CD1-1180-6657-0C3FE44E70F3}"/>
              </a:ext>
            </a:extLst>
          </p:cNvPr>
          <p:cNvSpPr/>
          <p:nvPr/>
        </p:nvSpPr>
        <p:spPr>
          <a:xfrm>
            <a:off x="8849915" y="3025141"/>
            <a:ext cx="20034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Histogram Of </a:t>
            </a:r>
            <a:r>
              <a:rPr lang="en-US" sz="1400" b="1" dirty="0">
                <a:solidFill>
                  <a:srgbClr val="E0E2E5"/>
                </a:solidFill>
                <a:latin typeface="Liter" pitchFamily="34" charset="0"/>
                <a:ea typeface="Liter" pitchFamily="34" charset="-122"/>
                <a:cs typeface="Liter" pitchFamily="34" charset="-120"/>
              </a:rPr>
              <a:t>Median</a:t>
            </a:r>
            <a:r>
              <a:rPr lang="en-US" sz="1250" b="1" dirty="0">
                <a:solidFill>
                  <a:srgbClr val="E0E2E5"/>
                </a:solidFill>
                <a:latin typeface="Liter" pitchFamily="34" charset="0"/>
                <a:ea typeface="Liter" pitchFamily="34" charset="-122"/>
                <a:cs typeface="Liter" pitchFamily="34" charset="-120"/>
              </a:rPr>
              <a:t> Filter</a:t>
            </a:r>
            <a:endParaRPr lang="en-US" sz="1600" dirty="0"/>
          </a:p>
        </p:txBody>
      </p:sp>
      <p:pic>
        <p:nvPicPr>
          <p:cNvPr id="64" name="Picture 63">
            <a:extLst>
              <a:ext uri="{FF2B5EF4-FFF2-40B4-BE49-F238E27FC236}">
                <a16:creationId xmlns:a16="http://schemas.microsoft.com/office/drawing/2014/main" id="{7B3E1013-630D-A806-04ED-367C8F79E96E}"/>
              </a:ext>
            </a:extLst>
          </p:cNvPr>
          <p:cNvPicPr>
            <a:picLocks noChangeAspect="1"/>
          </p:cNvPicPr>
          <p:nvPr/>
        </p:nvPicPr>
        <p:blipFill>
          <a:blip r:embed="rId8"/>
          <a:stretch>
            <a:fillRect/>
          </a:stretch>
        </p:blipFill>
        <p:spPr>
          <a:xfrm>
            <a:off x="9194806" y="1083468"/>
            <a:ext cx="1749818" cy="1742791"/>
          </a:xfrm>
          <a:prstGeom prst="rect">
            <a:avLst/>
          </a:prstGeom>
        </p:spPr>
      </p:pic>
    </p:spTree>
    <p:extLst>
      <p:ext uri="{BB962C8B-B14F-4D97-AF65-F5344CB8AC3E}">
        <p14:creationId xmlns:p14="http://schemas.microsoft.com/office/powerpoint/2010/main" val="210436552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5120" y="325120"/>
            <a:ext cx="11606784" cy="195072"/>
          </a:xfrm>
          <a:prstGeom prst="rect">
            <a:avLst/>
          </a:prstGeom>
          <a:noFill/>
          <a:ln/>
        </p:spPr>
        <p:txBody>
          <a:bodyPr wrap="square" lIns="0" tIns="0" rIns="0" bIns="0" rtlCol="0" anchor="ctr"/>
          <a:lstStyle/>
          <a:p>
            <a:pPr>
              <a:lnSpc>
                <a:spcPct val="130000"/>
              </a:lnSpc>
            </a:pPr>
            <a:r>
              <a:rPr lang="en-US" sz="1024" b="1" kern="0" spc="102" dirty="0">
                <a:solidFill>
                  <a:srgbClr val="B8A890"/>
                </a:solidFill>
                <a:latin typeface="Quattrocento Sans" pitchFamily="34" charset="0"/>
                <a:ea typeface="Quattrocento Sans" pitchFamily="34" charset="-122"/>
                <a:cs typeface="Quattrocento Sans" pitchFamily="34" charset="-120"/>
              </a:rPr>
              <a:t>GAUSSIAN NOISE</a:t>
            </a:r>
            <a:endParaRPr lang="en-US" sz="1600" dirty="0"/>
          </a:p>
        </p:txBody>
      </p:sp>
      <p:sp>
        <p:nvSpPr>
          <p:cNvPr id="3" name="Text 1"/>
          <p:cNvSpPr/>
          <p:nvPr/>
        </p:nvSpPr>
        <p:spPr>
          <a:xfrm>
            <a:off x="325120" y="585216"/>
            <a:ext cx="11688064" cy="325120"/>
          </a:xfrm>
          <a:prstGeom prst="rect">
            <a:avLst/>
          </a:prstGeom>
          <a:noFill/>
          <a:ln/>
        </p:spPr>
        <p:txBody>
          <a:bodyPr wrap="square" lIns="0" tIns="0" rIns="0" bIns="0" rtlCol="0" anchor="ctr"/>
          <a:lstStyle/>
          <a:p>
            <a:pPr>
              <a:lnSpc>
                <a:spcPct val="90000"/>
              </a:lnSpc>
            </a:pPr>
            <a:r>
              <a:rPr lang="en-US" sz="2304" b="1" dirty="0">
                <a:solidFill>
                  <a:srgbClr val="E0E2E5"/>
                </a:solidFill>
                <a:latin typeface="Liter" pitchFamily="34" charset="0"/>
                <a:ea typeface="Liter" pitchFamily="34" charset="-122"/>
                <a:cs typeface="Liter" pitchFamily="34" charset="-120"/>
              </a:rPr>
              <a:t>Filter Performance Analysis</a:t>
            </a:r>
            <a:endParaRPr lang="en-US" sz="1600" dirty="0"/>
          </a:p>
        </p:txBody>
      </p:sp>
      <p:sp>
        <p:nvSpPr>
          <p:cNvPr id="4" name="Shape 2"/>
          <p:cNvSpPr/>
          <p:nvPr/>
        </p:nvSpPr>
        <p:spPr>
          <a:xfrm>
            <a:off x="341376" y="1072896"/>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4A6C8C">
              <a:alpha val="10196"/>
            </a:srgbClr>
          </a:solidFill>
          <a:ln/>
        </p:spPr>
        <p:txBody>
          <a:bodyPr/>
          <a:lstStyle/>
          <a:p>
            <a:endParaRPr lang="en-US"/>
          </a:p>
        </p:txBody>
      </p:sp>
      <p:sp>
        <p:nvSpPr>
          <p:cNvPr id="5" name="Shape 3"/>
          <p:cNvSpPr/>
          <p:nvPr/>
        </p:nvSpPr>
        <p:spPr>
          <a:xfrm>
            <a:off x="341376" y="1072896"/>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4A6C8C"/>
          </a:solidFill>
          <a:ln/>
        </p:spPr>
        <p:txBody>
          <a:bodyPr/>
          <a:lstStyle/>
          <a:p>
            <a:endParaRPr lang="en-US"/>
          </a:p>
        </p:txBody>
      </p:sp>
      <p:sp>
        <p:nvSpPr>
          <p:cNvPr id="6" name="Shape 4"/>
          <p:cNvSpPr/>
          <p:nvPr/>
        </p:nvSpPr>
        <p:spPr>
          <a:xfrm>
            <a:off x="487680" y="1202944"/>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4A6C8C"/>
          </a:solidFill>
          <a:ln/>
        </p:spPr>
        <p:txBody>
          <a:bodyPr/>
          <a:lstStyle/>
          <a:p>
            <a:endParaRPr lang="en-US"/>
          </a:p>
        </p:txBody>
      </p:sp>
      <p:sp>
        <p:nvSpPr>
          <p:cNvPr id="7" name="Text 5"/>
          <p:cNvSpPr/>
          <p:nvPr/>
        </p:nvSpPr>
        <p:spPr>
          <a:xfrm>
            <a:off x="451104" y="1202944"/>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8" name="Text 6"/>
          <p:cNvSpPr/>
          <p:nvPr/>
        </p:nvSpPr>
        <p:spPr>
          <a:xfrm>
            <a:off x="910336" y="1251712"/>
            <a:ext cx="1267968"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Arithmetic Mean</a:t>
            </a:r>
            <a:endParaRPr lang="en-US" sz="1600" dirty="0"/>
          </a:p>
        </p:txBody>
      </p:sp>
      <p:sp>
        <p:nvSpPr>
          <p:cNvPr id="9" name="Shape 7"/>
          <p:cNvSpPr/>
          <p:nvPr/>
        </p:nvSpPr>
        <p:spPr>
          <a:xfrm>
            <a:off x="5444947" y="1251712"/>
            <a:ext cx="438912" cy="227584"/>
          </a:xfrm>
          <a:custGeom>
            <a:avLst/>
            <a:gdLst/>
            <a:ahLst/>
            <a:cxnLst/>
            <a:rect l="l" t="t" r="r" b="b"/>
            <a:pathLst>
              <a:path w="438912" h="227584">
                <a:moveTo>
                  <a:pt x="32513" y="0"/>
                </a:moveTo>
                <a:lnTo>
                  <a:pt x="406399" y="0"/>
                </a:lnTo>
                <a:cubicBezTo>
                  <a:pt x="424344" y="0"/>
                  <a:pt x="438912" y="14568"/>
                  <a:pt x="438912" y="32513"/>
                </a:cubicBezTo>
                <a:lnTo>
                  <a:pt x="438912" y="195071"/>
                </a:lnTo>
                <a:cubicBezTo>
                  <a:pt x="438912" y="213016"/>
                  <a:pt x="424344" y="227584"/>
                  <a:pt x="406399" y="227584"/>
                </a:cubicBezTo>
                <a:lnTo>
                  <a:pt x="32513" y="227584"/>
                </a:lnTo>
                <a:cubicBezTo>
                  <a:pt x="14568" y="227584"/>
                  <a:pt x="0" y="213016"/>
                  <a:pt x="0" y="195071"/>
                </a:cubicBezTo>
                <a:lnTo>
                  <a:pt x="0" y="32513"/>
                </a:lnTo>
                <a:cubicBezTo>
                  <a:pt x="0" y="14568"/>
                  <a:pt x="14568" y="0"/>
                  <a:pt x="32513" y="0"/>
                </a:cubicBezTo>
                <a:close/>
              </a:path>
            </a:pathLst>
          </a:custGeom>
          <a:solidFill>
            <a:srgbClr val="B8A890"/>
          </a:solidFill>
          <a:ln/>
        </p:spPr>
        <p:txBody>
          <a:bodyPr/>
          <a:lstStyle/>
          <a:p>
            <a:endParaRPr lang="en-US"/>
          </a:p>
        </p:txBody>
      </p:sp>
      <p:sp>
        <p:nvSpPr>
          <p:cNvPr id="10" name="Text 8"/>
          <p:cNvSpPr/>
          <p:nvPr/>
        </p:nvSpPr>
        <p:spPr>
          <a:xfrm>
            <a:off x="5444947" y="1251712"/>
            <a:ext cx="495808" cy="227584"/>
          </a:xfrm>
          <a:prstGeom prst="rect">
            <a:avLst/>
          </a:prstGeom>
          <a:noFill/>
          <a:ln/>
        </p:spPr>
        <p:txBody>
          <a:bodyPr wrap="square" lIns="97536" tIns="32512" rIns="97536" bIns="32512" rtlCol="0" anchor="ctr"/>
          <a:lstStyle/>
          <a:p>
            <a:pPr>
              <a:lnSpc>
                <a:spcPct val="120000"/>
              </a:lnSpc>
            </a:pPr>
            <a:r>
              <a:rPr lang="en-US" sz="896" b="1" dirty="0">
                <a:solidFill>
                  <a:srgbClr val="1A1D21"/>
                </a:solidFill>
                <a:latin typeface="Quattrocento Sans" pitchFamily="34" charset="0"/>
                <a:ea typeface="Quattrocento Sans" pitchFamily="34" charset="-122"/>
                <a:cs typeface="Quattrocento Sans" pitchFamily="34" charset="-120"/>
              </a:rPr>
              <a:t>BEST</a:t>
            </a:r>
            <a:endParaRPr lang="en-US" sz="1600" dirty="0"/>
          </a:p>
        </p:txBody>
      </p:sp>
      <p:sp>
        <p:nvSpPr>
          <p:cNvPr id="11" name="Text 9"/>
          <p:cNvSpPr/>
          <p:nvPr/>
        </p:nvSpPr>
        <p:spPr>
          <a:xfrm>
            <a:off x="487680" y="1593088"/>
            <a:ext cx="5462016" cy="357632"/>
          </a:xfrm>
          <a:prstGeom prst="rect">
            <a:avLst/>
          </a:prstGeom>
          <a:noFill/>
          <a:ln/>
        </p:spPr>
        <p:txBody>
          <a:bodyPr wrap="square" lIns="0" tIns="0" rIns="0" bIns="0" rtlCol="0" anchor="ctr"/>
          <a:lstStyle/>
          <a:p>
            <a:pPr>
              <a:lnSpc>
                <a:spcPct val="110000"/>
              </a:lnSpc>
            </a:pPr>
            <a:r>
              <a:rPr lang="en-US" sz="1024" b="1" dirty="0">
                <a:solidFill>
                  <a:srgbClr val="4A6C8C"/>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Optimal balance of noise reduction and detail preservation. Effectively smooths Gaussian distributed variations.</a:t>
            </a:r>
            <a:endParaRPr lang="en-US" sz="1600" dirty="0"/>
          </a:p>
        </p:txBody>
      </p:sp>
      <p:sp>
        <p:nvSpPr>
          <p:cNvPr id="12" name="Text 10"/>
          <p:cNvSpPr/>
          <p:nvPr/>
        </p:nvSpPr>
        <p:spPr>
          <a:xfrm>
            <a:off x="487680" y="2015744"/>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Mechanism:</a:t>
            </a:r>
            <a:r>
              <a:rPr lang="en-US" sz="896" dirty="0">
                <a:solidFill>
                  <a:srgbClr val="E0E2E5">
                    <a:alpha val="80000"/>
                  </a:srgbClr>
                </a:solidFill>
                <a:latin typeface="Quattrocento Sans" pitchFamily="34" charset="0"/>
                <a:ea typeface="Quattrocento Sans" pitchFamily="34" charset="-122"/>
                <a:cs typeface="Quattrocento Sans" pitchFamily="34" charset="-120"/>
              </a:rPr>
              <a:t> Linear averaging reduces Gaussian variations. Optimal for normally distributed noise.</a:t>
            </a:r>
            <a:endParaRPr lang="en-US" sz="1600" dirty="0"/>
          </a:p>
        </p:txBody>
      </p:sp>
      <p:sp>
        <p:nvSpPr>
          <p:cNvPr id="13" name="Shape 11"/>
          <p:cNvSpPr/>
          <p:nvPr/>
        </p:nvSpPr>
        <p:spPr>
          <a:xfrm>
            <a:off x="341376" y="2432304"/>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5A7D7C">
              <a:alpha val="10196"/>
            </a:srgbClr>
          </a:solidFill>
          <a:ln/>
        </p:spPr>
        <p:txBody>
          <a:bodyPr/>
          <a:lstStyle/>
          <a:p>
            <a:endParaRPr lang="en-US"/>
          </a:p>
        </p:txBody>
      </p:sp>
      <p:sp>
        <p:nvSpPr>
          <p:cNvPr id="14" name="Shape 12"/>
          <p:cNvSpPr/>
          <p:nvPr/>
        </p:nvSpPr>
        <p:spPr>
          <a:xfrm>
            <a:off x="341376" y="2432304"/>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5A7D7C"/>
          </a:solidFill>
          <a:ln/>
        </p:spPr>
        <p:txBody>
          <a:bodyPr/>
          <a:lstStyle/>
          <a:p>
            <a:endParaRPr lang="en-US"/>
          </a:p>
        </p:txBody>
      </p:sp>
      <p:sp>
        <p:nvSpPr>
          <p:cNvPr id="15" name="Shape 13"/>
          <p:cNvSpPr/>
          <p:nvPr/>
        </p:nvSpPr>
        <p:spPr>
          <a:xfrm>
            <a:off x="487680" y="2562352"/>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5A7D7C"/>
          </a:solidFill>
          <a:ln/>
        </p:spPr>
        <p:txBody>
          <a:bodyPr/>
          <a:lstStyle/>
          <a:p>
            <a:endParaRPr lang="en-US"/>
          </a:p>
        </p:txBody>
      </p:sp>
      <p:sp>
        <p:nvSpPr>
          <p:cNvPr id="16" name="Text 14"/>
          <p:cNvSpPr/>
          <p:nvPr/>
        </p:nvSpPr>
        <p:spPr>
          <a:xfrm>
            <a:off x="451104" y="2562352"/>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910336" y="2611120"/>
            <a:ext cx="1081024"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Average Filter</a:t>
            </a:r>
            <a:endParaRPr lang="en-US" sz="1600" dirty="0"/>
          </a:p>
        </p:txBody>
      </p:sp>
      <p:sp>
        <p:nvSpPr>
          <p:cNvPr id="18" name="Text 16"/>
          <p:cNvSpPr/>
          <p:nvPr/>
        </p:nvSpPr>
        <p:spPr>
          <a:xfrm>
            <a:off x="487680" y="2952496"/>
            <a:ext cx="5462016" cy="357632"/>
          </a:xfrm>
          <a:prstGeom prst="rect">
            <a:avLst/>
          </a:prstGeom>
          <a:noFill/>
          <a:ln/>
        </p:spPr>
        <p:txBody>
          <a:bodyPr wrap="square" lIns="0" tIns="0" rIns="0" bIns="0" rtlCol="0" anchor="ctr"/>
          <a:lstStyle/>
          <a:p>
            <a:pPr>
              <a:lnSpc>
                <a:spcPct val="110000"/>
              </a:lnSpc>
            </a:pPr>
            <a:r>
              <a:rPr lang="en-US" sz="1024" b="1" dirty="0">
                <a:solidFill>
                  <a:srgbClr val="5A7D7C"/>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Moderate noise reduction but introduces noticeable blurring and edge degradation.</a:t>
            </a:r>
            <a:endParaRPr lang="en-US" sz="1600" dirty="0"/>
          </a:p>
        </p:txBody>
      </p:sp>
      <p:sp>
        <p:nvSpPr>
          <p:cNvPr id="19" name="Text 17"/>
          <p:cNvSpPr/>
          <p:nvPr/>
        </p:nvSpPr>
        <p:spPr>
          <a:xfrm>
            <a:off x="487680" y="3375152"/>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Limitation:</a:t>
            </a:r>
            <a:r>
              <a:rPr lang="en-US" sz="896" dirty="0">
                <a:solidFill>
                  <a:srgbClr val="E0E2E5">
                    <a:alpha val="80000"/>
                  </a:srgbClr>
                </a:solidFill>
                <a:latin typeface="Quattrocento Sans" pitchFamily="34" charset="0"/>
                <a:ea typeface="Quattrocento Sans" pitchFamily="34" charset="-122"/>
                <a:cs typeface="Quattrocento Sans" pitchFamily="34" charset="-120"/>
              </a:rPr>
              <a:t> Equal weighting causes excessive smoothing. Loses high-frequency details.</a:t>
            </a:r>
            <a:endParaRPr lang="en-US" sz="1600" dirty="0"/>
          </a:p>
        </p:txBody>
      </p:sp>
      <p:sp>
        <p:nvSpPr>
          <p:cNvPr id="20" name="Shape 18"/>
          <p:cNvSpPr/>
          <p:nvPr/>
        </p:nvSpPr>
        <p:spPr>
          <a:xfrm>
            <a:off x="341376" y="3791712"/>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B8A890">
              <a:alpha val="10196"/>
            </a:srgbClr>
          </a:solidFill>
          <a:ln/>
        </p:spPr>
        <p:txBody>
          <a:bodyPr/>
          <a:lstStyle/>
          <a:p>
            <a:endParaRPr lang="en-US"/>
          </a:p>
        </p:txBody>
      </p:sp>
      <p:sp>
        <p:nvSpPr>
          <p:cNvPr id="21" name="Shape 19"/>
          <p:cNvSpPr/>
          <p:nvPr/>
        </p:nvSpPr>
        <p:spPr>
          <a:xfrm>
            <a:off x="341376" y="3791712"/>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B8A890"/>
          </a:solidFill>
          <a:ln/>
        </p:spPr>
        <p:txBody>
          <a:bodyPr/>
          <a:lstStyle/>
          <a:p>
            <a:endParaRPr lang="en-US"/>
          </a:p>
        </p:txBody>
      </p:sp>
      <p:sp>
        <p:nvSpPr>
          <p:cNvPr id="22" name="Shape 20"/>
          <p:cNvSpPr/>
          <p:nvPr/>
        </p:nvSpPr>
        <p:spPr>
          <a:xfrm>
            <a:off x="487680" y="3921760"/>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B8A890"/>
          </a:solidFill>
          <a:ln/>
        </p:spPr>
        <p:txBody>
          <a:bodyPr/>
          <a:lstStyle/>
          <a:p>
            <a:endParaRPr lang="en-US"/>
          </a:p>
        </p:txBody>
      </p:sp>
      <p:sp>
        <p:nvSpPr>
          <p:cNvPr id="23" name="Text 21"/>
          <p:cNvSpPr/>
          <p:nvPr/>
        </p:nvSpPr>
        <p:spPr>
          <a:xfrm>
            <a:off x="451104" y="3921760"/>
            <a:ext cx="398272" cy="325120"/>
          </a:xfrm>
          <a:prstGeom prst="rect">
            <a:avLst/>
          </a:prstGeom>
          <a:noFill/>
          <a:ln/>
        </p:spPr>
        <p:txBody>
          <a:bodyPr wrap="square" lIns="0" tIns="0" rIns="0" bIns="0" rtlCol="0" anchor="ctr"/>
          <a:lstStyle/>
          <a:p>
            <a:pPr algn="ct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24" name="Text 22"/>
          <p:cNvSpPr/>
          <p:nvPr/>
        </p:nvSpPr>
        <p:spPr>
          <a:xfrm>
            <a:off x="910336" y="3970528"/>
            <a:ext cx="1219200"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Harmonic Mean</a:t>
            </a:r>
            <a:endParaRPr lang="en-US" sz="1600" dirty="0"/>
          </a:p>
        </p:txBody>
      </p:sp>
      <p:sp>
        <p:nvSpPr>
          <p:cNvPr id="25" name="Text 23"/>
          <p:cNvSpPr/>
          <p:nvPr/>
        </p:nvSpPr>
        <p:spPr>
          <a:xfrm>
            <a:off x="487680" y="4311904"/>
            <a:ext cx="5462016" cy="357632"/>
          </a:xfrm>
          <a:prstGeom prst="rect">
            <a:avLst/>
          </a:prstGeom>
          <a:noFill/>
          <a:ln/>
        </p:spPr>
        <p:txBody>
          <a:bodyPr wrap="square" lIns="0" tIns="0" rIns="0" bIns="0" rtlCol="0" anchor="ctr"/>
          <a:lstStyle/>
          <a:p>
            <a:pPr>
              <a:lnSpc>
                <a:spcPct val="110000"/>
              </a:lnSpc>
            </a:pPr>
            <a:r>
              <a:rPr lang="en-US" sz="1024" b="1" dirty="0">
                <a:solidFill>
                  <a:srgbClr val="B8A890"/>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Limited improvement, tends to darken image and perform poorly on high-noise scenarios.</a:t>
            </a:r>
            <a:endParaRPr lang="en-US" sz="1600" dirty="0"/>
          </a:p>
        </p:txBody>
      </p:sp>
      <p:sp>
        <p:nvSpPr>
          <p:cNvPr id="26" name="Text 24"/>
          <p:cNvSpPr/>
          <p:nvPr/>
        </p:nvSpPr>
        <p:spPr>
          <a:xfrm>
            <a:off x="487680" y="4734560"/>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Characteristics:</a:t>
            </a:r>
            <a:r>
              <a:rPr lang="en-US" sz="896" dirty="0">
                <a:solidFill>
                  <a:srgbClr val="E0E2E5">
                    <a:alpha val="80000"/>
                  </a:srgbClr>
                </a:solidFill>
                <a:latin typeface="Quattrocento Sans" pitchFamily="34" charset="0"/>
                <a:ea typeface="Quattrocento Sans" pitchFamily="34" charset="-122"/>
                <a:cs typeface="Quattrocento Sans" pitchFamily="34" charset="-120"/>
              </a:rPr>
              <a:t> Better for positive-value noise but has intensity bias issues.</a:t>
            </a:r>
            <a:endParaRPr lang="en-US" sz="1600" dirty="0"/>
          </a:p>
        </p:txBody>
      </p:sp>
      <p:sp>
        <p:nvSpPr>
          <p:cNvPr id="27" name="Shape 25"/>
          <p:cNvSpPr/>
          <p:nvPr/>
        </p:nvSpPr>
        <p:spPr>
          <a:xfrm>
            <a:off x="341376" y="5151120"/>
            <a:ext cx="5673344" cy="1227328"/>
          </a:xfrm>
          <a:custGeom>
            <a:avLst/>
            <a:gdLst/>
            <a:ahLst/>
            <a:cxnLst/>
            <a:rect l="l" t="t" r="r" b="b"/>
            <a:pathLst>
              <a:path w="5673344" h="1227328">
                <a:moveTo>
                  <a:pt x="32512" y="0"/>
                </a:moveTo>
                <a:lnTo>
                  <a:pt x="5575808" y="0"/>
                </a:lnTo>
                <a:cubicBezTo>
                  <a:pt x="5629676" y="0"/>
                  <a:pt x="5673344" y="43668"/>
                  <a:pt x="5673344" y="97536"/>
                </a:cubicBezTo>
                <a:lnTo>
                  <a:pt x="5673344" y="1129792"/>
                </a:lnTo>
                <a:cubicBezTo>
                  <a:pt x="5673344" y="1183660"/>
                  <a:pt x="5629676" y="1227328"/>
                  <a:pt x="5575808" y="1227328"/>
                </a:cubicBezTo>
                <a:lnTo>
                  <a:pt x="32512" y="1227328"/>
                </a:lnTo>
                <a:cubicBezTo>
                  <a:pt x="14556" y="1227328"/>
                  <a:pt x="0" y="1212772"/>
                  <a:pt x="0" y="1194816"/>
                </a:cubicBezTo>
                <a:lnTo>
                  <a:pt x="0" y="32512"/>
                </a:lnTo>
                <a:cubicBezTo>
                  <a:pt x="0" y="14556"/>
                  <a:pt x="14556" y="0"/>
                  <a:pt x="32512" y="0"/>
                </a:cubicBezTo>
                <a:close/>
              </a:path>
            </a:pathLst>
          </a:custGeom>
          <a:solidFill>
            <a:srgbClr val="E0E2E5">
              <a:alpha val="5098"/>
            </a:srgbClr>
          </a:solidFill>
          <a:ln/>
        </p:spPr>
        <p:txBody>
          <a:bodyPr/>
          <a:lstStyle/>
          <a:p>
            <a:endParaRPr lang="en-US"/>
          </a:p>
        </p:txBody>
      </p:sp>
      <p:sp>
        <p:nvSpPr>
          <p:cNvPr id="28" name="Shape 26"/>
          <p:cNvSpPr/>
          <p:nvPr/>
        </p:nvSpPr>
        <p:spPr>
          <a:xfrm>
            <a:off x="341376" y="5151120"/>
            <a:ext cx="32512" cy="1227328"/>
          </a:xfrm>
          <a:custGeom>
            <a:avLst/>
            <a:gdLst/>
            <a:ahLst/>
            <a:cxnLst/>
            <a:rect l="l" t="t" r="r" b="b"/>
            <a:pathLst>
              <a:path w="32512" h="1227328">
                <a:moveTo>
                  <a:pt x="32512" y="0"/>
                </a:moveTo>
                <a:lnTo>
                  <a:pt x="32512" y="0"/>
                </a:lnTo>
                <a:lnTo>
                  <a:pt x="32512" y="1227328"/>
                </a:lnTo>
                <a:lnTo>
                  <a:pt x="32512" y="1227328"/>
                </a:lnTo>
                <a:cubicBezTo>
                  <a:pt x="14556" y="1227328"/>
                  <a:pt x="0" y="1212772"/>
                  <a:pt x="0" y="1194816"/>
                </a:cubicBezTo>
                <a:lnTo>
                  <a:pt x="0" y="32512"/>
                </a:lnTo>
                <a:cubicBezTo>
                  <a:pt x="0" y="14568"/>
                  <a:pt x="14568" y="0"/>
                  <a:pt x="32512" y="0"/>
                </a:cubicBezTo>
                <a:close/>
              </a:path>
            </a:pathLst>
          </a:custGeom>
          <a:solidFill>
            <a:srgbClr val="E0E2E5">
              <a:alpha val="20000"/>
            </a:srgbClr>
          </a:solidFill>
          <a:ln/>
        </p:spPr>
        <p:txBody>
          <a:bodyPr/>
          <a:lstStyle/>
          <a:p>
            <a:endParaRPr lang="en-US"/>
          </a:p>
        </p:txBody>
      </p:sp>
      <p:sp>
        <p:nvSpPr>
          <p:cNvPr id="29" name="Shape 27"/>
          <p:cNvSpPr/>
          <p:nvPr/>
        </p:nvSpPr>
        <p:spPr>
          <a:xfrm>
            <a:off x="487680" y="5281168"/>
            <a:ext cx="325120" cy="325120"/>
          </a:xfrm>
          <a:custGeom>
            <a:avLst/>
            <a:gdLst/>
            <a:ahLst/>
            <a:cxnLst/>
            <a:rect l="l" t="t" r="r" b="b"/>
            <a:pathLst>
              <a:path w="325120" h="325120">
                <a:moveTo>
                  <a:pt x="162560" y="0"/>
                </a:moveTo>
                <a:lnTo>
                  <a:pt x="162560" y="0"/>
                </a:lnTo>
                <a:cubicBezTo>
                  <a:pt x="252279" y="0"/>
                  <a:pt x="325120" y="72841"/>
                  <a:pt x="325120" y="162560"/>
                </a:cubicBezTo>
                <a:lnTo>
                  <a:pt x="325120" y="162560"/>
                </a:lnTo>
                <a:cubicBezTo>
                  <a:pt x="325120" y="252279"/>
                  <a:pt x="252279" y="325120"/>
                  <a:pt x="162560" y="325120"/>
                </a:cubicBezTo>
                <a:lnTo>
                  <a:pt x="162560" y="325120"/>
                </a:lnTo>
                <a:cubicBezTo>
                  <a:pt x="72841" y="325120"/>
                  <a:pt x="0" y="252279"/>
                  <a:pt x="0" y="162560"/>
                </a:cubicBezTo>
                <a:lnTo>
                  <a:pt x="0" y="162560"/>
                </a:lnTo>
                <a:cubicBezTo>
                  <a:pt x="0" y="72841"/>
                  <a:pt x="72841" y="0"/>
                  <a:pt x="162560" y="0"/>
                </a:cubicBezTo>
                <a:close/>
              </a:path>
            </a:pathLst>
          </a:custGeom>
          <a:solidFill>
            <a:srgbClr val="E0E2E5">
              <a:alpha val="20000"/>
            </a:srgbClr>
          </a:solidFill>
          <a:ln/>
        </p:spPr>
        <p:txBody>
          <a:bodyPr/>
          <a:lstStyle/>
          <a:p>
            <a:endParaRPr lang="en-US"/>
          </a:p>
        </p:txBody>
      </p:sp>
      <p:sp>
        <p:nvSpPr>
          <p:cNvPr id="30" name="Text 28"/>
          <p:cNvSpPr/>
          <p:nvPr/>
        </p:nvSpPr>
        <p:spPr>
          <a:xfrm>
            <a:off x="451104" y="5281168"/>
            <a:ext cx="398272" cy="325120"/>
          </a:xfrm>
          <a:prstGeom prst="rect">
            <a:avLst/>
          </a:prstGeom>
          <a:noFill/>
          <a:ln/>
        </p:spPr>
        <p:txBody>
          <a:bodyPr wrap="square" lIns="0" tIns="0" rIns="0" bIns="0" rtlCol="0" anchor="ctr"/>
          <a:lstStyle/>
          <a:p>
            <a:pPr algn="ctr">
              <a:lnSpc>
                <a:spcPct val="130000"/>
              </a:lnSpc>
            </a:pPr>
            <a:r>
              <a:rPr lang="en-US" sz="1152" b="1"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31" name="Text 29"/>
          <p:cNvSpPr/>
          <p:nvPr/>
        </p:nvSpPr>
        <p:spPr>
          <a:xfrm>
            <a:off x="910336" y="5329936"/>
            <a:ext cx="1016000"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Median Filter</a:t>
            </a:r>
            <a:endParaRPr lang="en-US" sz="1600" dirty="0"/>
          </a:p>
        </p:txBody>
      </p:sp>
      <p:sp>
        <p:nvSpPr>
          <p:cNvPr id="32" name="Shape 30"/>
          <p:cNvSpPr/>
          <p:nvPr/>
        </p:nvSpPr>
        <p:spPr>
          <a:xfrm>
            <a:off x="5391302" y="5329936"/>
            <a:ext cx="495808" cy="227584"/>
          </a:xfrm>
          <a:custGeom>
            <a:avLst/>
            <a:gdLst/>
            <a:ahLst/>
            <a:cxnLst/>
            <a:rect l="l" t="t" r="r" b="b"/>
            <a:pathLst>
              <a:path w="495808" h="227584">
                <a:moveTo>
                  <a:pt x="32513" y="0"/>
                </a:moveTo>
                <a:lnTo>
                  <a:pt x="463295" y="0"/>
                </a:lnTo>
                <a:cubicBezTo>
                  <a:pt x="481252" y="0"/>
                  <a:pt x="495808" y="14556"/>
                  <a:pt x="495808" y="32513"/>
                </a:cubicBezTo>
                <a:lnTo>
                  <a:pt x="495808" y="195071"/>
                </a:lnTo>
                <a:cubicBezTo>
                  <a:pt x="495808" y="213028"/>
                  <a:pt x="481252" y="227584"/>
                  <a:pt x="463295" y="227584"/>
                </a:cubicBezTo>
                <a:lnTo>
                  <a:pt x="32513" y="227584"/>
                </a:lnTo>
                <a:cubicBezTo>
                  <a:pt x="14568" y="227584"/>
                  <a:pt x="0" y="213016"/>
                  <a:pt x="0" y="195071"/>
                </a:cubicBezTo>
                <a:lnTo>
                  <a:pt x="0" y="32513"/>
                </a:lnTo>
                <a:cubicBezTo>
                  <a:pt x="0" y="14568"/>
                  <a:pt x="14568" y="0"/>
                  <a:pt x="32513" y="0"/>
                </a:cubicBezTo>
                <a:close/>
              </a:path>
            </a:pathLst>
          </a:custGeom>
          <a:solidFill>
            <a:srgbClr val="E0E2E5">
              <a:alpha val="20000"/>
            </a:srgbClr>
          </a:solidFill>
          <a:ln/>
        </p:spPr>
        <p:txBody>
          <a:bodyPr/>
          <a:lstStyle/>
          <a:p>
            <a:endParaRPr lang="en-US"/>
          </a:p>
        </p:txBody>
      </p:sp>
      <p:sp>
        <p:nvSpPr>
          <p:cNvPr id="33" name="Text 31"/>
          <p:cNvSpPr/>
          <p:nvPr/>
        </p:nvSpPr>
        <p:spPr>
          <a:xfrm>
            <a:off x="5391302" y="5329936"/>
            <a:ext cx="552704" cy="227584"/>
          </a:xfrm>
          <a:prstGeom prst="rect">
            <a:avLst/>
          </a:prstGeom>
          <a:noFill/>
          <a:ln/>
        </p:spPr>
        <p:txBody>
          <a:bodyPr wrap="square" lIns="97536" tIns="32512" rIns="97536" bIns="32512" rtlCol="0" anchor="ctr"/>
          <a:lstStyle/>
          <a:p>
            <a:pPr>
              <a:lnSpc>
                <a:spcPct val="120000"/>
              </a:lnSpc>
            </a:pPr>
            <a:r>
              <a:rPr lang="en-US" sz="896" b="1" dirty="0">
                <a:solidFill>
                  <a:srgbClr val="E0E2E5"/>
                </a:solidFill>
                <a:latin typeface="Quattrocento Sans" pitchFamily="34" charset="0"/>
                <a:ea typeface="Quattrocento Sans" pitchFamily="34" charset="-122"/>
                <a:cs typeface="Quattrocento Sans" pitchFamily="34" charset="-120"/>
              </a:rPr>
              <a:t>POOR</a:t>
            </a:r>
            <a:endParaRPr lang="en-US" sz="1600" dirty="0"/>
          </a:p>
        </p:txBody>
      </p:sp>
      <p:sp>
        <p:nvSpPr>
          <p:cNvPr id="34" name="Text 32"/>
          <p:cNvSpPr/>
          <p:nvPr/>
        </p:nvSpPr>
        <p:spPr>
          <a:xfrm>
            <a:off x="487680" y="5671312"/>
            <a:ext cx="5462016" cy="357632"/>
          </a:xfrm>
          <a:prstGeom prst="rect">
            <a:avLst/>
          </a:prstGeom>
          <a:noFill/>
          <a:ln/>
        </p:spPr>
        <p:txBody>
          <a:bodyPr wrap="square" lIns="0" tIns="0" rIns="0" bIns="0" rtlCol="0" anchor="ctr"/>
          <a:lstStyle/>
          <a:p>
            <a:pPr>
              <a:lnSpc>
                <a:spcPct val="110000"/>
              </a:lnSpc>
            </a:pPr>
            <a:r>
              <a:rPr lang="en-US" sz="1024" b="1" dirty="0">
                <a:solidFill>
                  <a:srgbClr val="E0E2E5">
                    <a:alpha val="70000"/>
                  </a:srgbClr>
                </a:solidFill>
                <a:latin typeface="Quattrocento Sans" pitchFamily="34" charset="0"/>
                <a:ea typeface="Quattrocento Sans" pitchFamily="34" charset="-122"/>
                <a:cs typeface="Quattrocento Sans" pitchFamily="34" charset="-120"/>
              </a:rPr>
              <a:t>Performance:</a:t>
            </a:r>
            <a:r>
              <a:rPr lang="en-US" sz="1024" dirty="0">
                <a:solidFill>
                  <a:srgbClr val="E0E2E5">
                    <a:alpha val="90000"/>
                  </a:srgbClr>
                </a:solidFill>
                <a:latin typeface="Quattrocento Sans" pitchFamily="34" charset="0"/>
                <a:ea typeface="Quattrocento Sans" pitchFamily="34" charset="-122"/>
                <a:cs typeface="Quattrocento Sans" pitchFamily="34" charset="-120"/>
              </a:rPr>
              <a:t> Not effective for Gaussian noise. Designed for impulsive outliers, not normally distributed variations.</a:t>
            </a:r>
            <a:endParaRPr lang="en-US" sz="1600" dirty="0"/>
          </a:p>
        </p:txBody>
      </p:sp>
      <p:sp>
        <p:nvSpPr>
          <p:cNvPr id="35" name="Text 33"/>
          <p:cNvSpPr/>
          <p:nvPr/>
        </p:nvSpPr>
        <p:spPr>
          <a:xfrm>
            <a:off x="487680" y="6093968"/>
            <a:ext cx="5453888" cy="154432"/>
          </a:xfrm>
          <a:prstGeom prst="rect">
            <a:avLst/>
          </a:prstGeom>
          <a:noFill/>
          <a:ln/>
        </p:spPr>
        <p:txBody>
          <a:bodyPr wrap="square" lIns="0" tIns="0" rIns="0" bIns="0" rtlCol="0" anchor="ctr"/>
          <a:lstStyle/>
          <a:p>
            <a:pPr>
              <a:lnSpc>
                <a:spcPct val="110000"/>
              </a:lnSpc>
            </a:pPr>
            <a:r>
              <a:rPr lang="en-US" sz="896" b="1" dirty="0">
                <a:solidFill>
                  <a:srgbClr val="E0E2E5">
                    <a:alpha val="80000"/>
                  </a:srgbClr>
                </a:solidFill>
                <a:latin typeface="Quattrocento Sans" pitchFamily="34" charset="0"/>
                <a:ea typeface="Quattrocento Sans" pitchFamily="34" charset="-122"/>
                <a:cs typeface="Quattrocento Sans" pitchFamily="34" charset="-120"/>
              </a:rPr>
              <a:t>Issue:</a:t>
            </a:r>
            <a:r>
              <a:rPr lang="en-US" sz="896" dirty="0">
                <a:solidFill>
                  <a:srgbClr val="E0E2E5">
                    <a:alpha val="80000"/>
                  </a:srgbClr>
                </a:solidFill>
                <a:latin typeface="Quattrocento Sans" pitchFamily="34" charset="0"/>
                <a:ea typeface="Quattrocento Sans" pitchFamily="34" charset="-122"/>
                <a:cs typeface="Quattrocento Sans" pitchFamily="34" charset="-120"/>
              </a:rPr>
              <a:t> Ineffective for Gaussian variations as it preserves noise distribution.</a:t>
            </a:r>
            <a:endParaRPr lang="en-US" sz="1600" dirty="0"/>
          </a:p>
        </p:txBody>
      </p:sp>
      <p:sp>
        <p:nvSpPr>
          <p:cNvPr id="36" name="Shape 34"/>
          <p:cNvSpPr/>
          <p:nvPr/>
        </p:nvSpPr>
        <p:spPr>
          <a:xfrm>
            <a:off x="6182259" y="1076147"/>
            <a:ext cx="5687974" cy="2379878"/>
          </a:xfrm>
          <a:custGeom>
            <a:avLst/>
            <a:gdLst/>
            <a:ahLst/>
            <a:cxnLst/>
            <a:rect l="l" t="t" r="r" b="b"/>
            <a:pathLst>
              <a:path w="5687974" h="2379878">
                <a:moveTo>
                  <a:pt x="97527" y="0"/>
                </a:moveTo>
                <a:lnTo>
                  <a:pt x="5590447" y="0"/>
                </a:lnTo>
                <a:cubicBezTo>
                  <a:pt x="5644310" y="0"/>
                  <a:pt x="5687974" y="43665"/>
                  <a:pt x="5687974" y="97527"/>
                </a:cubicBezTo>
                <a:lnTo>
                  <a:pt x="5687974" y="2282351"/>
                </a:lnTo>
                <a:cubicBezTo>
                  <a:pt x="5687974" y="2336214"/>
                  <a:pt x="5644310" y="2379878"/>
                  <a:pt x="5590447" y="2379878"/>
                </a:cubicBezTo>
                <a:lnTo>
                  <a:pt x="97527" y="2379878"/>
                </a:lnTo>
                <a:cubicBezTo>
                  <a:pt x="43665" y="2379878"/>
                  <a:pt x="0" y="2336214"/>
                  <a:pt x="0" y="2282351"/>
                </a:cubicBezTo>
                <a:lnTo>
                  <a:pt x="0" y="97527"/>
                </a:lnTo>
                <a:cubicBezTo>
                  <a:pt x="0" y="43701"/>
                  <a:pt x="43701" y="0"/>
                  <a:pt x="97527"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37" name="Shape 35"/>
          <p:cNvSpPr/>
          <p:nvPr/>
        </p:nvSpPr>
        <p:spPr>
          <a:xfrm>
            <a:off x="6368390" y="1274469"/>
            <a:ext cx="162560" cy="162560"/>
          </a:xfrm>
          <a:custGeom>
            <a:avLst/>
            <a:gdLst/>
            <a:ahLst/>
            <a:cxnLst/>
            <a:rect l="l" t="t" r="r" b="b"/>
            <a:pathLst>
              <a:path w="162560" h="162560">
                <a:moveTo>
                  <a:pt x="45815" y="0"/>
                </a:moveTo>
                <a:lnTo>
                  <a:pt x="116935" y="0"/>
                </a:lnTo>
                <a:cubicBezTo>
                  <a:pt x="125349" y="0"/>
                  <a:pt x="132207" y="6922"/>
                  <a:pt x="131890" y="15304"/>
                </a:cubicBezTo>
                <a:cubicBezTo>
                  <a:pt x="131826" y="16986"/>
                  <a:pt x="131763" y="18669"/>
                  <a:pt x="131667" y="20320"/>
                </a:cubicBezTo>
                <a:lnTo>
                  <a:pt x="147415" y="20320"/>
                </a:lnTo>
                <a:cubicBezTo>
                  <a:pt x="155702" y="20320"/>
                  <a:pt x="163005" y="27178"/>
                  <a:pt x="162370" y="36132"/>
                </a:cubicBezTo>
                <a:cubicBezTo>
                  <a:pt x="159988" y="69056"/>
                  <a:pt x="143161" y="87154"/>
                  <a:pt x="124905" y="96615"/>
                </a:cubicBezTo>
                <a:cubicBezTo>
                  <a:pt x="119888" y="99219"/>
                  <a:pt x="114776" y="101156"/>
                  <a:pt x="109919" y="102584"/>
                </a:cubicBezTo>
                <a:cubicBezTo>
                  <a:pt x="103505" y="111665"/>
                  <a:pt x="96838" y="116459"/>
                  <a:pt x="91535" y="119031"/>
                </a:cubicBezTo>
                <a:lnTo>
                  <a:pt x="91535" y="142240"/>
                </a:lnTo>
                <a:lnTo>
                  <a:pt x="111855" y="142240"/>
                </a:lnTo>
                <a:cubicBezTo>
                  <a:pt x="117475" y="142240"/>
                  <a:pt x="122015" y="146780"/>
                  <a:pt x="122015" y="152400"/>
                </a:cubicBezTo>
                <a:cubicBezTo>
                  <a:pt x="122015" y="158020"/>
                  <a:pt x="117475" y="162560"/>
                  <a:pt x="111855" y="162560"/>
                </a:cubicBezTo>
                <a:lnTo>
                  <a:pt x="50895" y="162560"/>
                </a:lnTo>
                <a:cubicBezTo>
                  <a:pt x="45276" y="162560"/>
                  <a:pt x="40735" y="158020"/>
                  <a:pt x="40735" y="152400"/>
                </a:cubicBezTo>
                <a:cubicBezTo>
                  <a:pt x="40735" y="146780"/>
                  <a:pt x="45276" y="142240"/>
                  <a:pt x="50895" y="142240"/>
                </a:cubicBezTo>
                <a:lnTo>
                  <a:pt x="71215" y="142240"/>
                </a:lnTo>
                <a:lnTo>
                  <a:pt x="71215" y="119031"/>
                </a:lnTo>
                <a:cubicBezTo>
                  <a:pt x="66135" y="116586"/>
                  <a:pt x="59817" y="112046"/>
                  <a:pt x="53658" y="103695"/>
                </a:cubicBezTo>
                <a:cubicBezTo>
                  <a:pt x="47816" y="102172"/>
                  <a:pt x="41466" y="99854"/>
                  <a:pt x="35274" y="96361"/>
                </a:cubicBezTo>
                <a:cubicBezTo>
                  <a:pt x="18098" y="86741"/>
                  <a:pt x="2604" y="68612"/>
                  <a:pt x="381" y="36068"/>
                </a:cubicBezTo>
                <a:cubicBezTo>
                  <a:pt x="-222" y="27146"/>
                  <a:pt x="7049" y="20288"/>
                  <a:pt x="15335" y="20288"/>
                </a:cubicBezTo>
                <a:lnTo>
                  <a:pt x="31083" y="20288"/>
                </a:lnTo>
                <a:cubicBezTo>
                  <a:pt x="30988" y="18637"/>
                  <a:pt x="30925" y="16986"/>
                  <a:pt x="30861" y="15272"/>
                </a:cubicBezTo>
                <a:cubicBezTo>
                  <a:pt x="30544" y="6858"/>
                  <a:pt x="37402" y="-32"/>
                  <a:pt x="45815" y="-32"/>
                </a:cubicBezTo>
                <a:close/>
                <a:moveTo>
                  <a:pt x="32226" y="35560"/>
                </a:moveTo>
                <a:lnTo>
                  <a:pt x="15589" y="35560"/>
                </a:lnTo>
                <a:cubicBezTo>
                  <a:pt x="17558" y="62452"/>
                  <a:pt x="29909" y="75914"/>
                  <a:pt x="42640" y="83058"/>
                </a:cubicBezTo>
                <a:cubicBezTo>
                  <a:pt x="38068" y="71215"/>
                  <a:pt x="34290" y="55753"/>
                  <a:pt x="32226" y="35560"/>
                </a:cubicBezTo>
                <a:close/>
                <a:moveTo>
                  <a:pt x="120650" y="81534"/>
                </a:moveTo>
                <a:cubicBezTo>
                  <a:pt x="133509" y="73978"/>
                  <a:pt x="145129" y="60547"/>
                  <a:pt x="147098" y="35560"/>
                </a:cubicBezTo>
                <a:lnTo>
                  <a:pt x="130493" y="35560"/>
                </a:lnTo>
                <a:cubicBezTo>
                  <a:pt x="128524" y="54896"/>
                  <a:pt x="124968" y="69914"/>
                  <a:pt x="120650" y="81534"/>
                </a:cubicBezTo>
                <a:close/>
              </a:path>
            </a:pathLst>
          </a:custGeom>
          <a:solidFill>
            <a:srgbClr val="B8A890"/>
          </a:solidFill>
          <a:ln/>
        </p:spPr>
        <p:txBody>
          <a:bodyPr/>
          <a:lstStyle/>
          <a:p>
            <a:endParaRPr lang="en-US"/>
          </a:p>
        </p:txBody>
      </p:sp>
      <p:sp>
        <p:nvSpPr>
          <p:cNvPr id="38" name="Text 36"/>
          <p:cNvSpPr/>
          <p:nvPr/>
        </p:nvSpPr>
        <p:spPr>
          <a:xfrm>
            <a:off x="6551270" y="1241957"/>
            <a:ext cx="5234432"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Optimal Solution</a:t>
            </a:r>
            <a:endParaRPr lang="en-US" sz="1600" dirty="0"/>
          </a:p>
        </p:txBody>
      </p:sp>
      <p:sp>
        <p:nvSpPr>
          <p:cNvPr id="39" name="Shape 37"/>
          <p:cNvSpPr/>
          <p:nvPr/>
        </p:nvSpPr>
        <p:spPr>
          <a:xfrm>
            <a:off x="6348070" y="1567077"/>
            <a:ext cx="5356352" cy="747776"/>
          </a:xfrm>
          <a:custGeom>
            <a:avLst/>
            <a:gdLst/>
            <a:ahLst/>
            <a:cxnLst/>
            <a:rect l="l" t="t" r="r" b="b"/>
            <a:pathLst>
              <a:path w="5356352" h="747776">
                <a:moveTo>
                  <a:pt x="65027" y="0"/>
                </a:moveTo>
                <a:lnTo>
                  <a:pt x="5291325" y="0"/>
                </a:lnTo>
                <a:cubicBezTo>
                  <a:pt x="5327239" y="0"/>
                  <a:pt x="5356352" y="29113"/>
                  <a:pt x="5356352" y="65027"/>
                </a:cubicBezTo>
                <a:lnTo>
                  <a:pt x="5356352" y="682749"/>
                </a:lnTo>
                <a:cubicBezTo>
                  <a:pt x="5356352" y="718663"/>
                  <a:pt x="5327239" y="747776"/>
                  <a:pt x="5291325" y="747776"/>
                </a:cubicBezTo>
                <a:lnTo>
                  <a:pt x="65027" y="747776"/>
                </a:lnTo>
                <a:cubicBezTo>
                  <a:pt x="29113" y="747776"/>
                  <a:pt x="0" y="718663"/>
                  <a:pt x="0" y="682749"/>
                </a:cubicBezTo>
                <a:lnTo>
                  <a:pt x="0" y="65027"/>
                </a:lnTo>
                <a:cubicBezTo>
                  <a:pt x="0" y="29113"/>
                  <a:pt x="29113" y="0"/>
                  <a:pt x="65027" y="0"/>
                </a:cubicBezTo>
                <a:close/>
              </a:path>
            </a:pathLst>
          </a:custGeom>
          <a:solidFill>
            <a:srgbClr val="4A6C8C">
              <a:alpha val="20000"/>
            </a:srgbClr>
          </a:solidFill>
          <a:ln/>
        </p:spPr>
        <p:txBody>
          <a:bodyPr/>
          <a:lstStyle/>
          <a:p>
            <a:endParaRPr lang="en-US"/>
          </a:p>
        </p:txBody>
      </p:sp>
      <p:sp>
        <p:nvSpPr>
          <p:cNvPr id="40" name="Text 38"/>
          <p:cNvSpPr/>
          <p:nvPr/>
        </p:nvSpPr>
        <p:spPr>
          <a:xfrm>
            <a:off x="6429350" y="1697125"/>
            <a:ext cx="5193792" cy="260096"/>
          </a:xfrm>
          <a:prstGeom prst="rect">
            <a:avLst/>
          </a:prstGeom>
          <a:noFill/>
          <a:ln/>
        </p:spPr>
        <p:txBody>
          <a:bodyPr wrap="square" lIns="0" tIns="0" rIns="0" bIns="0" rtlCol="0" anchor="ctr"/>
          <a:lstStyle/>
          <a:p>
            <a:pPr algn="ctr">
              <a:lnSpc>
                <a:spcPct val="110000"/>
              </a:lnSpc>
            </a:pPr>
            <a:r>
              <a:rPr lang="en-US" sz="1536" b="1" dirty="0">
                <a:solidFill>
                  <a:srgbClr val="4A6C8C"/>
                </a:solidFill>
                <a:latin typeface="Quattrocento Sans" pitchFamily="34" charset="0"/>
                <a:ea typeface="Quattrocento Sans" pitchFamily="34" charset="-122"/>
                <a:cs typeface="Quattrocento Sans" pitchFamily="34" charset="-120"/>
              </a:rPr>
              <a:t>Arithmetic Mean Filter</a:t>
            </a:r>
            <a:endParaRPr lang="en-US" sz="1600" dirty="0"/>
          </a:p>
        </p:txBody>
      </p:sp>
      <p:sp>
        <p:nvSpPr>
          <p:cNvPr id="41" name="Text 39"/>
          <p:cNvSpPr/>
          <p:nvPr/>
        </p:nvSpPr>
        <p:spPr>
          <a:xfrm>
            <a:off x="6445606" y="1989634"/>
            <a:ext cx="5161280" cy="195072"/>
          </a:xfrm>
          <a:prstGeom prst="rect">
            <a:avLst/>
          </a:prstGeom>
          <a:noFill/>
          <a:ln/>
        </p:spPr>
        <p:txBody>
          <a:bodyPr wrap="square" lIns="0" tIns="0" rIns="0" bIns="0" rtlCol="0" anchor="ctr"/>
          <a:lstStyle/>
          <a:p>
            <a:pPr algn="ct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Best for Gaussian Noise</a:t>
            </a:r>
            <a:endParaRPr lang="en-US" sz="1600" dirty="0"/>
          </a:p>
        </p:txBody>
      </p:sp>
      <p:sp>
        <p:nvSpPr>
          <p:cNvPr id="42" name="Shape 40"/>
          <p:cNvSpPr/>
          <p:nvPr/>
        </p:nvSpPr>
        <p:spPr>
          <a:xfrm>
            <a:off x="6364326" y="2444802"/>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3" name="Text 41"/>
          <p:cNvSpPr/>
          <p:nvPr/>
        </p:nvSpPr>
        <p:spPr>
          <a:xfrm>
            <a:off x="6575654" y="2412290"/>
            <a:ext cx="1958848"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Optimal noise-variance reduction</a:t>
            </a:r>
            <a:endParaRPr lang="en-US" sz="1600" dirty="0"/>
          </a:p>
        </p:txBody>
      </p:sp>
      <p:sp>
        <p:nvSpPr>
          <p:cNvPr id="44" name="Shape 42"/>
          <p:cNvSpPr/>
          <p:nvPr/>
        </p:nvSpPr>
        <p:spPr>
          <a:xfrm>
            <a:off x="6364326" y="2672386"/>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5" name="Text 43"/>
          <p:cNvSpPr/>
          <p:nvPr/>
        </p:nvSpPr>
        <p:spPr>
          <a:xfrm>
            <a:off x="6575654" y="2639874"/>
            <a:ext cx="1885696"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Preserves low-frequency details</a:t>
            </a:r>
            <a:endParaRPr lang="en-US" sz="1600" dirty="0"/>
          </a:p>
        </p:txBody>
      </p:sp>
      <p:sp>
        <p:nvSpPr>
          <p:cNvPr id="46" name="Shape 44"/>
          <p:cNvSpPr/>
          <p:nvPr/>
        </p:nvSpPr>
        <p:spPr>
          <a:xfrm>
            <a:off x="6364326" y="2899970"/>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7" name="Text 45"/>
          <p:cNvSpPr/>
          <p:nvPr/>
        </p:nvSpPr>
        <p:spPr>
          <a:xfrm>
            <a:off x="6575654" y="2867458"/>
            <a:ext cx="2105152"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Mathematically optimal for Gaussian</a:t>
            </a:r>
            <a:endParaRPr lang="en-US" sz="1600" dirty="0"/>
          </a:p>
        </p:txBody>
      </p:sp>
      <p:sp>
        <p:nvSpPr>
          <p:cNvPr id="48" name="Shape 46"/>
          <p:cNvSpPr/>
          <p:nvPr/>
        </p:nvSpPr>
        <p:spPr>
          <a:xfrm>
            <a:off x="6364326" y="3127554"/>
            <a:ext cx="130048" cy="130048"/>
          </a:xfrm>
          <a:custGeom>
            <a:avLst/>
            <a:gdLst/>
            <a:ahLst/>
            <a:cxnLst/>
            <a:rect l="l" t="t" r="r" b="b"/>
            <a:pathLst>
              <a:path w="130048" h="130048">
                <a:moveTo>
                  <a:pt x="65024" y="130048"/>
                </a:moveTo>
                <a:cubicBezTo>
                  <a:pt x="100912" y="130048"/>
                  <a:pt x="130048" y="100912"/>
                  <a:pt x="130048" y="65024"/>
                </a:cubicBezTo>
                <a:cubicBezTo>
                  <a:pt x="130048" y="29136"/>
                  <a:pt x="100912" y="0"/>
                  <a:pt x="65024" y="0"/>
                </a:cubicBezTo>
                <a:cubicBezTo>
                  <a:pt x="29136" y="0"/>
                  <a:pt x="0" y="29136"/>
                  <a:pt x="0" y="65024"/>
                </a:cubicBezTo>
                <a:cubicBezTo>
                  <a:pt x="0" y="100912"/>
                  <a:pt x="29136" y="130048"/>
                  <a:pt x="65024" y="130048"/>
                </a:cubicBezTo>
                <a:close/>
                <a:moveTo>
                  <a:pt x="86462" y="54026"/>
                </a:moveTo>
                <a:lnTo>
                  <a:pt x="66142" y="86538"/>
                </a:lnTo>
                <a:cubicBezTo>
                  <a:pt x="65075" y="88240"/>
                  <a:pt x="63246" y="89306"/>
                  <a:pt x="61239" y="89408"/>
                </a:cubicBezTo>
                <a:cubicBezTo>
                  <a:pt x="59233" y="89510"/>
                  <a:pt x="57302" y="88595"/>
                  <a:pt x="56109" y="86970"/>
                </a:cubicBezTo>
                <a:lnTo>
                  <a:pt x="43917" y="70714"/>
                </a:lnTo>
                <a:cubicBezTo>
                  <a:pt x="41885" y="68021"/>
                  <a:pt x="42443" y="64211"/>
                  <a:pt x="45136" y="62179"/>
                </a:cubicBezTo>
                <a:cubicBezTo>
                  <a:pt x="47828" y="60147"/>
                  <a:pt x="51638" y="60706"/>
                  <a:pt x="53670" y="63398"/>
                </a:cubicBezTo>
                <a:lnTo>
                  <a:pt x="60528" y="72542"/>
                </a:lnTo>
                <a:lnTo>
                  <a:pt x="76124" y="47574"/>
                </a:lnTo>
                <a:cubicBezTo>
                  <a:pt x="77902" y="44729"/>
                  <a:pt x="81661" y="43840"/>
                  <a:pt x="84531" y="45644"/>
                </a:cubicBezTo>
                <a:cubicBezTo>
                  <a:pt x="87401" y="47447"/>
                  <a:pt x="88265" y="51181"/>
                  <a:pt x="86462" y="54051"/>
                </a:cubicBezTo>
                <a:close/>
              </a:path>
            </a:pathLst>
          </a:custGeom>
          <a:solidFill>
            <a:srgbClr val="B8A890"/>
          </a:solidFill>
          <a:ln/>
        </p:spPr>
        <p:txBody>
          <a:bodyPr/>
          <a:lstStyle/>
          <a:p>
            <a:endParaRPr lang="en-US"/>
          </a:p>
        </p:txBody>
      </p:sp>
      <p:sp>
        <p:nvSpPr>
          <p:cNvPr id="49" name="Text 47"/>
          <p:cNvSpPr/>
          <p:nvPr/>
        </p:nvSpPr>
        <p:spPr>
          <a:xfrm>
            <a:off x="6575654" y="3095042"/>
            <a:ext cx="1633728" cy="195072"/>
          </a:xfrm>
          <a:prstGeom prst="rect">
            <a:avLst/>
          </a:prstGeom>
          <a:noFill/>
          <a:ln/>
        </p:spPr>
        <p:txBody>
          <a:bodyPr wrap="square" lIns="0" tIns="0" rIns="0" bIns="0" rtlCol="0" anchor="ctr"/>
          <a:lstStyle/>
          <a:p>
            <a:pPr>
              <a:lnSpc>
                <a:spcPct val="130000"/>
              </a:lnSpc>
            </a:pPr>
            <a:r>
              <a:rPr lang="en-US" sz="1024" dirty="0">
                <a:solidFill>
                  <a:srgbClr val="E0E2E5">
                    <a:alpha val="90000"/>
                  </a:srgbClr>
                </a:solidFill>
                <a:latin typeface="Quattrocento Sans" pitchFamily="34" charset="0"/>
                <a:ea typeface="Quattrocento Sans" pitchFamily="34" charset="-122"/>
                <a:cs typeface="Quattrocento Sans" pitchFamily="34" charset="-120"/>
              </a:rPr>
              <a:t>Controlled smoothing effect</a:t>
            </a:r>
            <a:endParaRPr lang="en-US" sz="1600" dirty="0"/>
          </a:p>
        </p:txBody>
      </p:sp>
      <p:sp>
        <p:nvSpPr>
          <p:cNvPr id="50" name="Shape 48"/>
          <p:cNvSpPr/>
          <p:nvPr/>
        </p:nvSpPr>
        <p:spPr>
          <a:xfrm>
            <a:off x="6182259" y="3592474"/>
            <a:ext cx="5687974" cy="2282342"/>
          </a:xfrm>
          <a:custGeom>
            <a:avLst/>
            <a:gdLst/>
            <a:ahLst/>
            <a:cxnLst/>
            <a:rect l="l" t="t" r="r" b="b"/>
            <a:pathLst>
              <a:path w="5687974" h="2282342">
                <a:moveTo>
                  <a:pt x="97547" y="0"/>
                </a:moveTo>
                <a:lnTo>
                  <a:pt x="5590427" y="0"/>
                </a:lnTo>
                <a:cubicBezTo>
                  <a:pt x="5644301" y="0"/>
                  <a:pt x="5687974" y="43673"/>
                  <a:pt x="5687974" y="97547"/>
                </a:cubicBezTo>
                <a:lnTo>
                  <a:pt x="5687974" y="2184795"/>
                </a:lnTo>
                <a:cubicBezTo>
                  <a:pt x="5687974" y="2238669"/>
                  <a:pt x="5644301" y="2282342"/>
                  <a:pt x="5590427" y="2282342"/>
                </a:cubicBezTo>
                <a:lnTo>
                  <a:pt x="97547" y="2282342"/>
                </a:lnTo>
                <a:cubicBezTo>
                  <a:pt x="43673" y="2282342"/>
                  <a:pt x="0" y="2238669"/>
                  <a:pt x="0" y="2184795"/>
                </a:cubicBezTo>
                <a:lnTo>
                  <a:pt x="0" y="97547"/>
                </a:lnTo>
                <a:cubicBezTo>
                  <a:pt x="0" y="43673"/>
                  <a:pt x="43673" y="0"/>
                  <a:pt x="97547"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51" name="Text 49"/>
          <p:cNvSpPr/>
          <p:nvPr/>
        </p:nvSpPr>
        <p:spPr>
          <a:xfrm>
            <a:off x="6348070" y="3758287"/>
            <a:ext cx="5437632" cy="227584"/>
          </a:xfrm>
          <a:prstGeom prst="rect">
            <a:avLst/>
          </a:prstGeom>
          <a:noFill/>
          <a:ln/>
        </p:spPr>
        <p:txBody>
          <a:bodyPr wrap="square" lIns="0" tIns="0" rIns="0" bIns="0" rtlCol="0" anchor="ctr"/>
          <a:lstStyle/>
          <a:p>
            <a:pPr>
              <a:lnSpc>
                <a:spcPct val="120000"/>
              </a:lnSpc>
            </a:pPr>
            <a:r>
              <a:rPr lang="en-US" sz="1280" b="1" dirty="0">
                <a:solidFill>
                  <a:srgbClr val="E0E2E5"/>
                </a:solidFill>
                <a:latin typeface="Liter" pitchFamily="34" charset="0"/>
                <a:ea typeface="Liter" pitchFamily="34" charset="-122"/>
                <a:cs typeface="Liter" pitchFamily="34" charset="-120"/>
              </a:rPr>
              <a:t>Performance Ranking</a:t>
            </a:r>
            <a:endParaRPr lang="en-US" sz="1600" dirty="0"/>
          </a:p>
        </p:txBody>
      </p:sp>
      <p:sp>
        <p:nvSpPr>
          <p:cNvPr id="52" name="Shape 50"/>
          <p:cNvSpPr/>
          <p:nvPr/>
        </p:nvSpPr>
        <p:spPr>
          <a:xfrm>
            <a:off x="6348070" y="4083407"/>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4A6C8C">
              <a:alpha val="20000"/>
            </a:srgbClr>
          </a:solidFill>
          <a:ln/>
        </p:spPr>
        <p:txBody>
          <a:bodyPr/>
          <a:lstStyle/>
          <a:p>
            <a:endParaRPr lang="en-US"/>
          </a:p>
        </p:txBody>
      </p:sp>
      <p:sp>
        <p:nvSpPr>
          <p:cNvPr id="53" name="Text 51"/>
          <p:cNvSpPr/>
          <p:nvPr/>
        </p:nvSpPr>
        <p:spPr>
          <a:xfrm>
            <a:off x="6413094" y="4148431"/>
            <a:ext cx="121920" cy="227584"/>
          </a:xfrm>
          <a:prstGeom prst="rect">
            <a:avLst/>
          </a:prstGeom>
          <a:noFill/>
          <a:ln/>
        </p:spPr>
        <p:txBody>
          <a:bodyPr wrap="square" lIns="0" tIns="0" rIns="0" bIns="0" rtlCol="0" anchor="ctr"/>
          <a:lstStyle/>
          <a:p>
            <a:pPr>
              <a:lnSpc>
                <a:spcPct val="130000"/>
              </a:lnSpc>
            </a:pPr>
            <a:r>
              <a:rPr lang="en-US" sz="1152" b="1" dirty="0">
                <a:solidFill>
                  <a:srgbClr val="B8A890"/>
                </a:solidFill>
                <a:latin typeface="Quattrocento Sans" pitchFamily="34" charset="0"/>
                <a:ea typeface="Quattrocento Sans" pitchFamily="34" charset="-122"/>
                <a:cs typeface="Quattrocento Sans" pitchFamily="34" charset="-120"/>
              </a:rPr>
              <a:t>1</a:t>
            </a:r>
            <a:endParaRPr lang="en-US" sz="1600" dirty="0"/>
          </a:p>
        </p:txBody>
      </p:sp>
      <p:sp>
        <p:nvSpPr>
          <p:cNvPr id="54" name="Text 52"/>
          <p:cNvSpPr/>
          <p:nvPr/>
        </p:nvSpPr>
        <p:spPr>
          <a:xfrm>
            <a:off x="6557061" y="4164687"/>
            <a:ext cx="991616" cy="195072"/>
          </a:xfrm>
          <a:prstGeom prst="rect">
            <a:avLst/>
          </a:prstGeom>
          <a:noFill/>
          <a:ln/>
        </p:spPr>
        <p:txBody>
          <a:bodyPr wrap="square" lIns="0" tIns="0" rIns="0" bIns="0" rtlCol="0" anchor="ctr"/>
          <a:lstStyle/>
          <a:p>
            <a:pPr>
              <a:lnSpc>
                <a:spcPct val="130000"/>
              </a:lnSpc>
            </a:pPr>
            <a:r>
              <a:rPr lang="en-US" sz="1024" b="1" dirty="0">
                <a:solidFill>
                  <a:srgbClr val="E0E2E5"/>
                </a:solidFill>
                <a:latin typeface="Quattrocento Sans" pitchFamily="34" charset="0"/>
                <a:ea typeface="Quattrocento Sans" pitchFamily="34" charset="-122"/>
                <a:cs typeface="Quattrocento Sans" pitchFamily="34" charset="-120"/>
              </a:rPr>
              <a:t>Arithmetic Mean</a:t>
            </a:r>
            <a:endParaRPr lang="en-US" sz="1600" dirty="0"/>
          </a:p>
        </p:txBody>
      </p:sp>
      <p:sp>
        <p:nvSpPr>
          <p:cNvPr id="55" name="Shape 53"/>
          <p:cNvSpPr/>
          <p:nvPr/>
        </p:nvSpPr>
        <p:spPr>
          <a:xfrm>
            <a:off x="10986110" y="4229711"/>
            <a:ext cx="650240" cy="65024"/>
          </a:xfrm>
          <a:custGeom>
            <a:avLst/>
            <a:gdLst/>
            <a:ahLst/>
            <a:cxnLst/>
            <a:rect l="l" t="t" r="r" b="b"/>
            <a:pathLst>
              <a:path w="650240" h="65024">
                <a:moveTo>
                  <a:pt x="32512" y="0"/>
                </a:moveTo>
                <a:lnTo>
                  <a:pt x="617728" y="0"/>
                </a:lnTo>
                <a:cubicBezTo>
                  <a:pt x="635684" y="0"/>
                  <a:pt x="650240" y="14556"/>
                  <a:pt x="650240" y="32512"/>
                </a:cubicBezTo>
                <a:lnTo>
                  <a:pt x="650240" y="32512"/>
                </a:lnTo>
                <a:cubicBezTo>
                  <a:pt x="650240" y="50468"/>
                  <a:pt x="635684" y="65024"/>
                  <a:pt x="617728" y="65024"/>
                </a:cubicBezTo>
                <a:lnTo>
                  <a:pt x="32512" y="65024"/>
                </a:lnTo>
                <a:cubicBezTo>
                  <a:pt x="14568" y="65024"/>
                  <a:pt x="0" y="50456"/>
                  <a:pt x="0" y="32512"/>
                </a:cubicBezTo>
                <a:lnTo>
                  <a:pt x="0" y="32512"/>
                </a:lnTo>
                <a:cubicBezTo>
                  <a:pt x="0" y="14568"/>
                  <a:pt x="14568" y="0"/>
                  <a:pt x="32512" y="0"/>
                </a:cubicBezTo>
                <a:close/>
              </a:path>
            </a:pathLst>
          </a:custGeom>
          <a:solidFill>
            <a:srgbClr val="4A6C8C"/>
          </a:solidFill>
          <a:ln/>
        </p:spPr>
        <p:txBody>
          <a:bodyPr/>
          <a:lstStyle/>
          <a:p>
            <a:endParaRPr lang="en-US"/>
          </a:p>
        </p:txBody>
      </p:sp>
      <p:sp>
        <p:nvSpPr>
          <p:cNvPr id="56" name="Shape 54"/>
          <p:cNvSpPr/>
          <p:nvPr/>
        </p:nvSpPr>
        <p:spPr>
          <a:xfrm>
            <a:off x="6348070" y="4506063"/>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5A7D7C">
              <a:alpha val="10196"/>
            </a:srgbClr>
          </a:solidFill>
          <a:ln/>
        </p:spPr>
        <p:txBody>
          <a:bodyPr/>
          <a:lstStyle/>
          <a:p>
            <a:endParaRPr lang="en-US"/>
          </a:p>
        </p:txBody>
      </p:sp>
      <p:sp>
        <p:nvSpPr>
          <p:cNvPr id="57" name="Text 55"/>
          <p:cNvSpPr/>
          <p:nvPr/>
        </p:nvSpPr>
        <p:spPr>
          <a:xfrm>
            <a:off x="6413094" y="4571087"/>
            <a:ext cx="146304" cy="227584"/>
          </a:xfrm>
          <a:prstGeom prst="rect">
            <a:avLst/>
          </a:prstGeom>
          <a:noFill/>
          <a:ln/>
        </p:spPr>
        <p:txBody>
          <a:bodyPr wrap="square" lIns="0" tIns="0" rIns="0" bIns="0" rtlCol="0" anchor="ctr"/>
          <a:lstStyle/>
          <a:p>
            <a:pPr>
              <a:lnSpc>
                <a:spcPct val="130000"/>
              </a:lnSpc>
            </a:pPr>
            <a:r>
              <a:rPr lang="en-US" sz="1152" b="1" dirty="0">
                <a:solidFill>
                  <a:srgbClr val="E0E2E5">
                    <a:alpha val="70000"/>
                  </a:srgbClr>
                </a:solidFill>
                <a:latin typeface="Quattrocento Sans" pitchFamily="34" charset="0"/>
                <a:ea typeface="Quattrocento Sans" pitchFamily="34" charset="-122"/>
                <a:cs typeface="Quattrocento Sans" pitchFamily="34" charset="-120"/>
              </a:rPr>
              <a:t>2</a:t>
            </a:r>
            <a:endParaRPr lang="en-US" sz="1600" dirty="0"/>
          </a:p>
        </p:txBody>
      </p:sp>
      <p:sp>
        <p:nvSpPr>
          <p:cNvPr id="58" name="Text 56"/>
          <p:cNvSpPr/>
          <p:nvPr/>
        </p:nvSpPr>
        <p:spPr>
          <a:xfrm>
            <a:off x="6585102" y="4587343"/>
            <a:ext cx="837184" cy="195072"/>
          </a:xfrm>
          <a:prstGeom prst="rect">
            <a:avLst/>
          </a:prstGeom>
          <a:noFill/>
          <a:ln/>
        </p:spPr>
        <p:txBody>
          <a:bodyPr wrap="square" lIns="0" tIns="0" rIns="0" bIns="0" rtlCol="0" anchor="ctr"/>
          <a:lstStyle/>
          <a:p>
            <a:pPr>
              <a:lnSpc>
                <a:spcPct val="130000"/>
              </a:lnSpc>
            </a:pPr>
            <a:r>
              <a:rPr lang="en-US" sz="1024" dirty="0">
                <a:solidFill>
                  <a:srgbClr val="E0E2E5">
                    <a:alpha val="80000"/>
                  </a:srgbClr>
                </a:solidFill>
                <a:latin typeface="Quattrocento Sans" pitchFamily="34" charset="0"/>
                <a:ea typeface="Quattrocento Sans" pitchFamily="34" charset="-122"/>
                <a:cs typeface="Quattrocento Sans" pitchFamily="34" charset="-120"/>
              </a:rPr>
              <a:t>Average Filter</a:t>
            </a:r>
            <a:endParaRPr lang="en-US" sz="1600" dirty="0"/>
          </a:p>
        </p:txBody>
      </p:sp>
      <p:sp>
        <p:nvSpPr>
          <p:cNvPr id="59" name="Shape 57"/>
          <p:cNvSpPr/>
          <p:nvPr/>
        </p:nvSpPr>
        <p:spPr>
          <a:xfrm>
            <a:off x="11181182" y="4652367"/>
            <a:ext cx="455168" cy="65024"/>
          </a:xfrm>
          <a:custGeom>
            <a:avLst/>
            <a:gdLst/>
            <a:ahLst/>
            <a:cxnLst/>
            <a:rect l="l" t="t" r="r" b="b"/>
            <a:pathLst>
              <a:path w="455168" h="65024">
                <a:moveTo>
                  <a:pt x="32512" y="0"/>
                </a:moveTo>
                <a:lnTo>
                  <a:pt x="422656" y="0"/>
                </a:lnTo>
                <a:cubicBezTo>
                  <a:pt x="440612" y="0"/>
                  <a:pt x="455168" y="14556"/>
                  <a:pt x="455168" y="32512"/>
                </a:cubicBezTo>
                <a:lnTo>
                  <a:pt x="455168" y="32512"/>
                </a:lnTo>
                <a:cubicBezTo>
                  <a:pt x="455168" y="50468"/>
                  <a:pt x="440612" y="65024"/>
                  <a:pt x="422656" y="65024"/>
                </a:cubicBezTo>
                <a:lnTo>
                  <a:pt x="32512" y="65024"/>
                </a:lnTo>
                <a:cubicBezTo>
                  <a:pt x="14568" y="65024"/>
                  <a:pt x="0" y="50456"/>
                  <a:pt x="0" y="32512"/>
                </a:cubicBezTo>
                <a:lnTo>
                  <a:pt x="0" y="32512"/>
                </a:lnTo>
                <a:cubicBezTo>
                  <a:pt x="0" y="14568"/>
                  <a:pt x="14568" y="0"/>
                  <a:pt x="32512" y="0"/>
                </a:cubicBezTo>
                <a:close/>
              </a:path>
            </a:pathLst>
          </a:custGeom>
          <a:solidFill>
            <a:srgbClr val="5A7D7C"/>
          </a:solidFill>
          <a:ln/>
        </p:spPr>
        <p:txBody>
          <a:bodyPr/>
          <a:lstStyle/>
          <a:p>
            <a:endParaRPr lang="en-US"/>
          </a:p>
        </p:txBody>
      </p:sp>
      <p:sp>
        <p:nvSpPr>
          <p:cNvPr id="60" name="Shape 58"/>
          <p:cNvSpPr/>
          <p:nvPr/>
        </p:nvSpPr>
        <p:spPr>
          <a:xfrm>
            <a:off x="6348070" y="4928719"/>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B8A890">
              <a:alpha val="10196"/>
            </a:srgbClr>
          </a:solidFill>
          <a:ln/>
        </p:spPr>
        <p:txBody>
          <a:bodyPr/>
          <a:lstStyle/>
          <a:p>
            <a:endParaRPr lang="en-US"/>
          </a:p>
        </p:txBody>
      </p:sp>
      <p:sp>
        <p:nvSpPr>
          <p:cNvPr id="61" name="Text 59"/>
          <p:cNvSpPr/>
          <p:nvPr/>
        </p:nvSpPr>
        <p:spPr>
          <a:xfrm>
            <a:off x="6413094" y="4993743"/>
            <a:ext cx="154432" cy="227584"/>
          </a:xfrm>
          <a:prstGeom prst="rect">
            <a:avLst/>
          </a:prstGeom>
          <a:noFill/>
          <a:ln/>
        </p:spPr>
        <p:txBody>
          <a:bodyPr wrap="square" lIns="0" tIns="0" rIns="0" bIns="0" rtlCol="0" anchor="ctr"/>
          <a:lstStyle/>
          <a:p>
            <a:pPr>
              <a:lnSpc>
                <a:spcPct val="130000"/>
              </a:lnSpc>
            </a:pPr>
            <a:r>
              <a:rPr lang="en-US" sz="1152" b="1" dirty="0">
                <a:solidFill>
                  <a:srgbClr val="E0E2E5">
                    <a:alpha val="70000"/>
                  </a:srgbClr>
                </a:solidFill>
                <a:latin typeface="Quattrocento Sans" pitchFamily="34" charset="0"/>
                <a:ea typeface="Quattrocento Sans" pitchFamily="34" charset="-122"/>
                <a:cs typeface="Quattrocento Sans" pitchFamily="34" charset="-120"/>
              </a:rPr>
              <a:t>3</a:t>
            </a:r>
            <a:endParaRPr lang="en-US" sz="1600" dirty="0"/>
          </a:p>
        </p:txBody>
      </p:sp>
      <p:sp>
        <p:nvSpPr>
          <p:cNvPr id="62" name="Text 60"/>
          <p:cNvSpPr/>
          <p:nvPr/>
        </p:nvSpPr>
        <p:spPr>
          <a:xfrm>
            <a:off x="6588963" y="5009999"/>
            <a:ext cx="959104" cy="195072"/>
          </a:xfrm>
          <a:prstGeom prst="rect">
            <a:avLst/>
          </a:prstGeom>
          <a:noFill/>
          <a:ln/>
        </p:spPr>
        <p:txBody>
          <a:bodyPr wrap="square" lIns="0" tIns="0" rIns="0" bIns="0" rtlCol="0" anchor="ctr"/>
          <a:lstStyle/>
          <a:p>
            <a:pPr>
              <a:lnSpc>
                <a:spcPct val="130000"/>
              </a:lnSpc>
            </a:pPr>
            <a:r>
              <a:rPr lang="en-US" sz="1024" dirty="0">
                <a:solidFill>
                  <a:srgbClr val="E0E2E5">
                    <a:alpha val="80000"/>
                  </a:srgbClr>
                </a:solidFill>
                <a:latin typeface="Quattrocento Sans" pitchFamily="34" charset="0"/>
                <a:ea typeface="Quattrocento Sans" pitchFamily="34" charset="-122"/>
                <a:cs typeface="Quattrocento Sans" pitchFamily="34" charset="-120"/>
              </a:rPr>
              <a:t>Harmonic Mean</a:t>
            </a:r>
            <a:endParaRPr lang="en-US" sz="1600" dirty="0"/>
          </a:p>
        </p:txBody>
      </p:sp>
      <p:sp>
        <p:nvSpPr>
          <p:cNvPr id="63" name="Shape 61"/>
          <p:cNvSpPr/>
          <p:nvPr/>
        </p:nvSpPr>
        <p:spPr>
          <a:xfrm>
            <a:off x="11311230" y="5075023"/>
            <a:ext cx="325120" cy="65024"/>
          </a:xfrm>
          <a:custGeom>
            <a:avLst/>
            <a:gdLst/>
            <a:ahLst/>
            <a:cxnLst/>
            <a:rect l="l" t="t" r="r" b="b"/>
            <a:pathLst>
              <a:path w="325120" h="65024">
                <a:moveTo>
                  <a:pt x="32512" y="0"/>
                </a:moveTo>
                <a:lnTo>
                  <a:pt x="292608" y="0"/>
                </a:lnTo>
                <a:cubicBezTo>
                  <a:pt x="310564" y="0"/>
                  <a:pt x="325120" y="14556"/>
                  <a:pt x="325120" y="32512"/>
                </a:cubicBezTo>
                <a:lnTo>
                  <a:pt x="325120" y="32512"/>
                </a:lnTo>
                <a:cubicBezTo>
                  <a:pt x="325120" y="50468"/>
                  <a:pt x="310564" y="65024"/>
                  <a:pt x="292608" y="65024"/>
                </a:cubicBezTo>
                <a:lnTo>
                  <a:pt x="32512" y="65024"/>
                </a:lnTo>
                <a:cubicBezTo>
                  <a:pt x="14568" y="65024"/>
                  <a:pt x="0" y="50456"/>
                  <a:pt x="0" y="32512"/>
                </a:cubicBezTo>
                <a:lnTo>
                  <a:pt x="0" y="32512"/>
                </a:lnTo>
                <a:cubicBezTo>
                  <a:pt x="0" y="14568"/>
                  <a:pt x="14568" y="0"/>
                  <a:pt x="32512" y="0"/>
                </a:cubicBezTo>
                <a:close/>
              </a:path>
            </a:pathLst>
          </a:custGeom>
          <a:solidFill>
            <a:srgbClr val="B8A890"/>
          </a:solidFill>
          <a:ln/>
        </p:spPr>
        <p:txBody>
          <a:bodyPr/>
          <a:lstStyle/>
          <a:p>
            <a:endParaRPr lang="en-US"/>
          </a:p>
        </p:txBody>
      </p:sp>
      <p:sp>
        <p:nvSpPr>
          <p:cNvPr id="64" name="Shape 62"/>
          <p:cNvSpPr/>
          <p:nvPr/>
        </p:nvSpPr>
        <p:spPr>
          <a:xfrm>
            <a:off x="6348070" y="5351375"/>
            <a:ext cx="5356352" cy="357632"/>
          </a:xfrm>
          <a:custGeom>
            <a:avLst/>
            <a:gdLst/>
            <a:ahLst/>
            <a:cxnLst/>
            <a:rect l="l" t="t" r="r" b="b"/>
            <a:pathLst>
              <a:path w="5356352" h="357632">
                <a:moveTo>
                  <a:pt x="32512" y="0"/>
                </a:moveTo>
                <a:lnTo>
                  <a:pt x="5323840" y="0"/>
                </a:lnTo>
                <a:cubicBezTo>
                  <a:pt x="5341796" y="0"/>
                  <a:pt x="5356352" y="14556"/>
                  <a:pt x="5356352" y="32512"/>
                </a:cubicBezTo>
                <a:lnTo>
                  <a:pt x="5356352" y="325120"/>
                </a:lnTo>
                <a:cubicBezTo>
                  <a:pt x="5356352" y="343076"/>
                  <a:pt x="5341796" y="357632"/>
                  <a:pt x="5323840" y="357632"/>
                </a:cubicBezTo>
                <a:lnTo>
                  <a:pt x="32512" y="357632"/>
                </a:lnTo>
                <a:cubicBezTo>
                  <a:pt x="14568" y="357632"/>
                  <a:pt x="0" y="343064"/>
                  <a:pt x="0" y="325120"/>
                </a:cubicBezTo>
                <a:lnTo>
                  <a:pt x="0" y="32512"/>
                </a:lnTo>
                <a:cubicBezTo>
                  <a:pt x="0" y="14556"/>
                  <a:pt x="14556" y="0"/>
                  <a:pt x="32512" y="0"/>
                </a:cubicBezTo>
                <a:close/>
              </a:path>
            </a:pathLst>
          </a:custGeom>
          <a:solidFill>
            <a:srgbClr val="E0E2E5">
              <a:alpha val="10196"/>
            </a:srgbClr>
          </a:solidFill>
          <a:ln/>
        </p:spPr>
        <p:txBody>
          <a:bodyPr/>
          <a:lstStyle/>
          <a:p>
            <a:endParaRPr lang="en-US"/>
          </a:p>
        </p:txBody>
      </p:sp>
      <p:sp>
        <p:nvSpPr>
          <p:cNvPr id="65" name="Text 63"/>
          <p:cNvSpPr/>
          <p:nvPr/>
        </p:nvSpPr>
        <p:spPr>
          <a:xfrm>
            <a:off x="6413094" y="5416399"/>
            <a:ext cx="146304" cy="227584"/>
          </a:xfrm>
          <a:prstGeom prst="rect">
            <a:avLst/>
          </a:prstGeom>
          <a:noFill/>
          <a:ln/>
        </p:spPr>
        <p:txBody>
          <a:bodyPr wrap="square" lIns="0" tIns="0" rIns="0" bIns="0" rtlCol="0" anchor="ctr"/>
          <a:lstStyle/>
          <a:p>
            <a:pPr>
              <a:lnSpc>
                <a:spcPct val="130000"/>
              </a:lnSpc>
            </a:pPr>
            <a:r>
              <a:rPr lang="en-US" sz="1152" b="1" dirty="0">
                <a:solidFill>
                  <a:srgbClr val="E0E2E5">
                    <a:alpha val="50000"/>
                  </a:srgbClr>
                </a:solidFill>
                <a:latin typeface="Quattrocento Sans" pitchFamily="34" charset="0"/>
                <a:ea typeface="Quattrocento Sans" pitchFamily="34" charset="-122"/>
                <a:cs typeface="Quattrocento Sans" pitchFamily="34" charset="-120"/>
              </a:rPr>
              <a:t>4</a:t>
            </a:r>
            <a:endParaRPr lang="en-US" sz="1600" dirty="0"/>
          </a:p>
        </p:txBody>
      </p:sp>
      <p:sp>
        <p:nvSpPr>
          <p:cNvPr id="66" name="Text 64"/>
          <p:cNvSpPr/>
          <p:nvPr/>
        </p:nvSpPr>
        <p:spPr>
          <a:xfrm>
            <a:off x="6585001" y="5432655"/>
            <a:ext cx="788416" cy="195072"/>
          </a:xfrm>
          <a:prstGeom prst="rect">
            <a:avLst/>
          </a:prstGeom>
          <a:noFill/>
          <a:ln/>
        </p:spPr>
        <p:txBody>
          <a:bodyPr wrap="square" lIns="0" tIns="0" rIns="0" bIns="0" rtlCol="0" anchor="ctr"/>
          <a:lstStyle/>
          <a:p>
            <a:pPr>
              <a:lnSpc>
                <a:spcPct val="130000"/>
              </a:lnSpc>
            </a:pPr>
            <a:r>
              <a:rPr lang="en-US" sz="1024" dirty="0">
                <a:solidFill>
                  <a:srgbClr val="E0E2E5">
                    <a:alpha val="60000"/>
                  </a:srgbClr>
                </a:solidFill>
                <a:latin typeface="Quattrocento Sans" pitchFamily="34" charset="0"/>
                <a:ea typeface="Quattrocento Sans" pitchFamily="34" charset="-122"/>
                <a:cs typeface="Quattrocento Sans" pitchFamily="34" charset="-120"/>
              </a:rPr>
              <a:t>Median Filter</a:t>
            </a:r>
            <a:endParaRPr lang="en-US" sz="1600" dirty="0"/>
          </a:p>
        </p:txBody>
      </p:sp>
      <p:sp>
        <p:nvSpPr>
          <p:cNvPr id="67" name="Shape 65"/>
          <p:cNvSpPr/>
          <p:nvPr/>
        </p:nvSpPr>
        <p:spPr>
          <a:xfrm>
            <a:off x="11441278" y="5497679"/>
            <a:ext cx="195072" cy="65024"/>
          </a:xfrm>
          <a:custGeom>
            <a:avLst/>
            <a:gdLst/>
            <a:ahLst/>
            <a:cxnLst/>
            <a:rect l="l" t="t" r="r" b="b"/>
            <a:pathLst>
              <a:path w="195072" h="65024">
                <a:moveTo>
                  <a:pt x="32512" y="0"/>
                </a:moveTo>
                <a:lnTo>
                  <a:pt x="162560" y="0"/>
                </a:lnTo>
                <a:cubicBezTo>
                  <a:pt x="180516" y="0"/>
                  <a:pt x="195072" y="14556"/>
                  <a:pt x="195072" y="32512"/>
                </a:cubicBezTo>
                <a:lnTo>
                  <a:pt x="195072" y="32512"/>
                </a:lnTo>
                <a:cubicBezTo>
                  <a:pt x="195072" y="50468"/>
                  <a:pt x="180516" y="65024"/>
                  <a:pt x="162560" y="65024"/>
                </a:cubicBezTo>
                <a:lnTo>
                  <a:pt x="32512" y="65024"/>
                </a:lnTo>
                <a:cubicBezTo>
                  <a:pt x="14568" y="65024"/>
                  <a:pt x="0" y="50456"/>
                  <a:pt x="0" y="32512"/>
                </a:cubicBezTo>
                <a:lnTo>
                  <a:pt x="0" y="32512"/>
                </a:lnTo>
                <a:cubicBezTo>
                  <a:pt x="0" y="14568"/>
                  <a:pt x="14568" y="0"/>
                  <a:pt x="32512" y="0"/>
                </a:cubicBezTo>
                <a:close/>
              </a:path>
            </a:pathLst>
          </a:custGeom>
          <a:solidFill>
            <a:srgbClr val="E0E2E5">
              <a:alpha val="30196"/>
            </a:srgbClr>
          </a:solidFill>
          <a:ln/>
        </p:spPr>
        <p:txBody>
          <a:bodyPr/>
          <a:lstStyle/>
          <a:p>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towardsdatascience.com/c5bbbf24a511b4d0b9a8f23b2325695dfcd4bfe5.png"/>
          <p:cNvPicPr>
            <a:picLocks noChangeAspect="1"/>
          </p:cNvPicPr>
          <p:nvPr/>
        </p:nvPicPr>
        <p:blipFill>
          <a:blip r:embed="rId3">
            <a:alphaModFix amt="20000"/>
          </a:blip>
          <a:srcRect t="5982" b="5982"/>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8000"/>
                </a:srgbClr>
              </a:gs>
              <a:gs pos="50000">
                <a:srgbClr val="5A7D7C">
                  <a:alpha val="30000"/>
                </a:srgbClr>
              </a:gs>
              <a:gs pos="100000">
                <a:srgbClr val="1A1D21">
                  <a:alpha val="95000"/>
                </a:srgbClr>
              </a:gs>
            </a:gsLst>
            <a:lin ang="0" scaled="1"/>
          </a:gradFill>
          <a:ln>
            <a:noFill/>
          </a:ln>
        </p:spPr>
        <p:txBody>
          <a:bodyPr/>
          <a:lstStyle/>
          <a:p>
            <a:endParaRPr lang="en-US"/>
          </a:p>
        </p:txBody>
      </p:sp>
      <p:sp>
        <p:nvSpPr>
          <p:cNvPr id="4" name="Shape 1"/>
          <p:cNvSpPr/>
          <p:nvPr/>
        </p:nvSpPr>
        <p:spPr>
          <a:xfrm>
            <a:off x="381000" y="1269206"/>
            <a:ext cx="1866900" cy="571500"/>
          </a:xfrm>
          <a:custGeom>
            <a:avLst/>
            <a:gdLst/>
            <a:ahLst/>
            <a:cxnLst/>
            <a:rect l="l" t="t" r="r" b="b"/>
            <a:pathLst>
              <a:path w="1866900" h="571500">
                <a:moveTo>
                  <a:pt x="76198" y="0"/>
                </a:moveTo>
                <a:lnTo>
                  <a:pt x="1790702" y="0"/>
                </a:lnTo>
                <a:cubicBezTo>
                  <a:pt x="1832785" y="0"/>
                  <a:pt x="1866900" y="34115"/>
                  <a:pt x="1866900" y="76198"/>
                </a:cubicBezTo>
                <a:lnTo>
                  <a:pt x="1866900" y="495302"/>
                </a:lnTo>
                <a:cubicBezTo>
                  <a:pt x="1866900" y="537385"/>
                  <a:pt x="1832785" y="571500"/>
                  <a:pt x="1790702" y="571500"/>
                </a:cubicBezTo>
                <a:lnTo>
                  <a:pt x="76198" y="571500"/>
                </a:lnTo>
                <a:cubicBezTo>
                  <a:pt x="34115" y="571500"/>
                  <a:pt x="0" y="537385"/>
                  <a:pt x="0" y="495302"/>
                </a:cubicBezTo>
                <a:lnTo>
                  <a:pt x="0" y="76198"/>
                </a:lnTo>
                <a:cubicBezTo>
                  <a:pt x="0" y="34115"/>
                  <a:pt x="34115" y="0"/>
                  <a:pt x="76198" y="0"/>
                </a:cubicBezTo>
                <a:close/>
              </a:path>
            </a:pathLst>
          </a:custGeom>
          <a:solidFill>
            <a:srgbClr val="5A7D7C"/>
          </a:solidFill>
          <a:ln/>
        </p:spPr>
        <p:txBody>
          <a:bodyPr/>
          <a:lstStyle/>
          <a:p>
            <a:endParaRPr lang="en-US"/>
          </a:p>
        </p:txBody>
      </p:sp>
      <p:sp>
        <p:nvSpPr>
          <p:cNvPr id="5" name="Text 2"/>
          <p:cNvSpPr/>
          <p:nvPr/>
        </p:nvSpPr>
        <p:spPr>
          <a:xfrm>
            <a:off x="685800" y="1391124"/>
            <a:ext cx="1400770" cy="320040"/>
          </a:xfrm>
          <a:prstGeom prst="rect">
            <a:avLst/>
          </a:prstGeom>
          <a:noFill/>
          <a:ln/>
        </p:spPr>
        <p:txBody>
          <a:bodyPr wrap="square" lIns="0" tIns="0" rIns="0" bIns="0" rtlCol="0" anchor="ctr"/>
          <a:lstStyle/>
          <a:p>
            <a:pPr>
              <a:lnSpc>
                <a:spcPct val="100000"/>
              </a:lnSpc>
            </a:pPr>
            <a:r>
              <a:rPr lang="en-US" sz="2250" b="1" kern="0" spc="225" dirty="0">
                <a:solidFill>
                  <a:srgbClr val="E0E2E5"/>
                </a:solidFill>
                <a:latin typeface="Quattrocento Sans" pitchFamily="34" charset="0"/>
                <a:ea typeface="Quattrocento Sans" pitchFamily="34" charset="-122"/>
                <a:cs typeface="Quattrocento Sans" pitchFamily="34" charset="-120"/>
              </a:rPr>
              <a:t>PART 02</a:t>
            </a:r>
            <a:endParaRPr lang="en-US" sz="1600" dirty="0"/>
          </a:p>
        </p:txBody>
      </p:sp>
      <p:sp>
        <p:nvSpPr>
          <p:cNvPr id="6" name="Text 3"/>
          <p:cNvSpPr/>
          <p:nvPr/>
        </p:nvSpPr>
        <p:spPr>
          <a:xfrm>
            <a:off x="381000" y="2145502"/>
            <a:ext cx="11887200" cy="1828800"/>
          </a:xfrm>
          <a:prstGeom prst="rect">
            <a:avLst/>
          </a:prstGeom>
          <a:noFill/>
          <a:ln/>
        </p:spPr>
        <p:txBody>
          <a:bodyPr wrap="square" lIns="0" tIns="0" rIns="0" bIns="0" rtlCol="0" anchor="ctr"/>
          <a:lstStyle/>
          <a:p>
            <a:pPr>
              <a:lnSpc>
                <a:spcPct val="80000"/>
              </a:lnSpc>
            </a:pPr>
            <a:r>
              <a:rPr lang="en-US" sz="7200" b="1" dirty="0">
                <a:solidFill>
                  <a:srgbClr val="E0E2E5"/>
                </a:solidFill>
                <a:latin typeface="Liter" pitchFamily="34" charset="0"/>
                <a:ea typeface="Liter" pitchFamily="34" charset="-122"/>
                <a:cs typeface="Liter" pitchFamily="34" charset="-120"/>
              </a:rPr>
              <a:t>Morphological</a:t>
            </a:r>
            <a:endParaRPr lang="en-US" sz="1600" dirty="0"/>
          </a:p>
          <a:p>
            <a:pPr>
              <a:lnSpc>
                <a:spcPct val="80000"/>
              </a:lnSpc>
            </a:pPr>
            <a:r>
              <a:rPr lang="en-US" sz="7200" b="1" dirty="0">
                <a:solidFill>
                  <a:srgbClr val="E0E2E5"/>
                </a:solidFill>
                <a:latin typeface="Liter" pitchFamily="34" charset="0"/>
                <a:ea typeface="Liter" pitchFamily="34" charset="-122"/>
                <a:cs typeface="Liter" pitchFamily="34" charset="-120"/>
              </a:rPr>
              <a:t>Boundary Extraction</a:t>
            </a:r>
            <a:endParaRPr lang="en-US" sz="1600" dirty="0"/>
          </a:p>
        </p:txBody>
      </p:sp>
      <p:sp>
        <p:nvSpPr>
          <p:cNvPr id="7" name="Shape 4"/>
          <p:cNvSpPr/>
          <p:nvPr/>
        </p:nvSpPr>
        <p:spPr>
          <a:xfrm>
            <a:off x="381000" y="4279102"/>
            <a:ext cx="1524000" cy="76200"/>
          </a:xfrm>
          <a:custGeom>
            <a:avLst/>
            <a:gdLst/>
            <a:ahLst/>
            <a:cxnLst/>
            <a:rect l="l" t="t" r="r" b="b"/>
            <a:pathLst>
              <a:path w="1524000" h="76200">
                <a:moveTo>
                  <a:pt x="0" y="0"/>
                </a:moveTo>
                <a:lnTo>
                  <a:pt x="1524000" y="0"/>
                </a:lnTo>
                <a:lnTo>
                  <a:pt x="1524000" y="76200"/>
                </a:lnTo>
                <a:lnTo>
                  <a:pt x="0" y="76200"/>
                </a:lnTo>
                <a:lnTo>
                  <a:pt x="0" y="0"/>
                </a:lnTo>
                <a:close/>
              </a:path>
            </a:pathLst>
          </a:custGeom>
          <a:solidFill>
            <a:srgbClr val="B8A890"/>
          </a:solidFill>
          <a:ln/>
        </p:spPr>
        <p:txBody>
          <a:bodyPr/>
          <a:lstStyle/>
          <a:p>
            <a:endParaRPr lang="en-US"/>
          </a:p>
        </p:txBody>
      </p:sp>
      <p:sp>
        <p:nvSpPr>
          <p:cNvPr id="8" name="Text 5"/>
          <p:cNvSpPr/>
          <p:nvPr/>
        </p:nvSpPr>
        <p:spPr>
          <a:xfrm>
            <a:off x="381000" y="4660102"/>
            <a:ext cx="7458075" cy="933450"/>
          </a:xfrm>
          <a:prstGeom prst="rect">
            <a:avLst/>
          </a:prstGeom>
          <a:noFill/>
          <a:ln/>
        </p:spPr>
        <p:txBody>
          <a:bodyPr wrap="square" lIns="0" tIns="0" rIns="0" bIns="0" rtlCol="0" anchor="ctr"/>
          <a:lstStyle/>
          <a:p>
            <a:pPr>
              <a:lnSpc>
                <a:spcPct val="140000"/>
              </a:lnSpc>
            </a:pPr>
            <a:r>
              <a:rPr lang="en-US" sz="2250" dirty="0">
                <a:solidFill>
                  <a:srgbClr val="E0E2E5">
                    <a:alpha val="90000"/>
                  </a:srgbClr>
                </a:solidFill>
                <a:latin typeface="Quattrocento Sans" pitchFamily="34" charset="0"/>
                <a:ea typeface="Quattrocento Sans" pitchFamily="34" charset="-122"/>
                <a:cs typeface="Quattrocento Sans" pitchFamily="34" charset="-120"/>
              </a:rPr>
              <a:t>Advanced Operations for Precise</a:t>
            </a:r>
            <a:endParaRPr lang="en-US" sz="1600" dirty="0"/>
          </a:p>
          <a:p>
            <a:pPr>
              <a:lnSpc>
                <a:spcPct val="140000"/>
              </a:lnSpc>
            </a:pPr>
            <a:r>
              <a:rPr lang="en-US" sz="2250" dirty="0">
                <a:solidFill>
                  <a:srgbClr val="E0E2E5">
                    <a:alpha val="90000"/>
                  </a:srgbClr>
                </a:solidFill>
                <a:latin typeface="Quattrocento Sans" pitchFamily="34" charset="0"/>
                <a:ea typeface="Quattrocento Sans" pitchFamily="34" charset="-122"/>
                <a:cs typeface="Quattrocento Sans" pitchFamily="34" charset="-120"/>
              </a:rPr>
              <a:t>Object Boundary Detection</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43679" y="343679"/>
            <a:ext cx="11573378" cy="206207"/>
          </a:xfrm>
          <a:prstGeom prst="rect">
            <a:avLst/>
          </a:prstGeom>
          <a:noFill/>
          <a:ln/>
        </p:spPr>
        <p:txBody>
          <a:bodyPr wrap="square" lIns="0" tIns="0" rIns="0" bIns="0" rtlCol="0" anchor="ctr"/>
          <a:lstStyle/>
          <a:p>
            <a:pPr>
              <a:lnSpc>
                <a:spcPct val="130000"/>
              </a:lnSpc>
            </a:pPr>
            <a:r>
              <a:rPr lang="en-US" sz="1082" b="1" kern="0" spc="108" dirty="0">
                <a:solidFill>
                  <a:srgbClr val="B8A890"/>
                </a:solidFill>
                <a:latin typeface="Quattrocento Sans" pitchFamily="34" charset="0"/>
                <a:ea typeface="Quattrocento Sans" pitchFamily="34" charset="-122"/>
                <a:cs typeface="Quattrocento Sans" pitchFamily="34" charset="-120"/>
              </a:rPr>
              <a:t>MORPHOLOGICAL PROCESSING</a:t>
            </a:r>
            <a:endParaRPr lang="en-US" sz="1600" dirty="0"/>
          </a:p>
        </p:txBody>
      </p:sp>
      <p:sp>
        <p:nvSpPr>
          <p:cNvPr id="3" name="Text 1"/>
          <p:cNvSpPr/>
          <p:nvPr/>
        </p:nvSpPr>
        <p:spPr>
          <a:xfrm>
            <a:off x="343679" y="618622"/>
            <a:ext cx="11710850" cy="412414"/>
          </a:xfrm>
          <a:prstGeom prst="rect">
            <a:avLst/>
          </a:prstGeom>
          <a:noFill/>
          <a:ln/>
        </p:spPr>
        <p:txBody>
          <a:bodyPr wrap="square" lIns="0" tIns="0" rIns="0" bIns="0" rtlCol="0" anchor="ctr"/>
          <a:lstStyle/>
          <a:p>
            <a:pPr>
              <a:lnSpc>
                <a:spcPct val="80000"/>
              </a:lnSpc>
            </a:pPr>
            <a:r>
              <a:rPr lang="en-US" sz="3247" b="1" dirty="0">
                <a:solidFill>
                  <a:srgbClr val="E0E2E5"/>
                </a:solidFill>
                <a:latin typeface="Liter" pitchFamily="34" charset="0"/>
                <a:ea typeface="Liter" pitchFamily="34" charset="-122"/>
                <a:cs typeface="Liter" pitchFamily="34" charset="-120"/>
              </a:rPr>
              <a:t>Project Essence &amp; Core Techniques</a:t>
            </a:r>
            <a:endParaRPr lang="en-US" sz="1600" dirty="0"/>
          </a:p>
        </p:txBody>
      </p:sp>
      <p:sp>
        <p:nvSpPr>
          <p:cNvPr id="4" name="Shape 2"/>
          <p:cNvSpPr/>
          <p:nvPr/>
        </p:nvSpPr>
        <p:spPr>
          <a:xfrm>
            <a:off x="360863" y="1202875"/>
            <a:ext cx="5627738" cy="1598106"/>
          </a:xfrm>
          <a:custGeom>
            <a:avLst/>
            <a:gdLst/>
            <a:ahLst/>
            <a:cxnLst/>
            <a:rect l="l" t="t" r="r" b="b"/>
            <a:pathLst>
              <a:path w="5627738" h="1598106">
                <a:moveTo>
                  <a:pt x="34368" y="0"/>
                </a:moveTo>
                <a:lnTo>
                  <a:pt x="5524628" y="0"/>
                </a:lnTo>
                <a:cubicBezTo>
                  <a:pt x="5581574" y="0"/>
                  <a:pt x="5627738" y="46164"/>
                  <a:pt x="5627738" y="103110"/>
                </a:cubicBezTo>
                <a:lnTo>
                  <a:pt x="5627738" y="1494996"/>
                </a:lnTo>
                <a:cubicBezTo>
                  <a:pt x="5627738" y="1551942"/>
                  <a:pt x="5581574" y="1598106"/>
                  <a:pt x="5524628" y="1598106"/>
                </a:cubicBezTo>
                <a:lnTo>
                  <a:pt x="34368" y="1598106"/>
                </a:lnTo>
                <a:cubicBezTo>
                  <a:pt x="15387" y="1598106"/>
                  <a:pt x="0" y="1582719"/>
                  <a:pt x="0" y="1563738"/>
                </a:cubicBezTo>
                <a:lnTo>
                  <a:pt x="0" y="34368"/>
                </a:lnTo>
                <a:cubicBezTo>
                  <a:pt x="0" y="15400"/>
                  <a:pt x="15400" y="0"/>
                  <a:pt x="34368" y="0"/>
                </a:cubicBezTo>
                <a:close/>
              </a:path>
            </a:pathLst>
          </a:custGeom>
          <a:solidFill>
            <a:srgbClr val="5A7D7C">
              <a:alpha val="10196"/>
            </a:srgbClr>
          </a:solidFill>
          <a:ln/>
        </p:spPr>
        <p:txBody>
          <a:bodyPr/>
          <a:lstStyle/>
          <a:p>
            <a:endParaRPr lang="en-US"/>
          </a:p>
        </p:txBody>
      </p:sp>
      <p:sp>
        <p:nvSpPr>
          <p:cNvPr id="5" name="Shape 3"/>
          <p:cNvSpPr/>
          <p:nvPr/>
        </p:nvSpPr>
        <p:spPr>
          <a:xfrm>
            <a:off x="360863" y="1202875"/>
            <a:ext cx="34368" cy="1598106"/>
          </a:xfrm>
          <a:custGeom>
            <a:avLst/>
            <a:gdLst/>
            <a:ahLst/>
            <a:cxnLst/>
            <a:rect l="l" t="t" r="r" b="b"/>
            <a:pathLst>
              <a:path w="34368" h="1598106">
                <a:moveTo>
                  <a:pt x="34368" y="0"/>
                </a:moveTo>
                <a:lnTo>
                  <a:pt x="34368" y="0"/>
                </a:lnTo>
                <a:lnTo>
                  <a:pt x="34368" y="1598106"/>
                </a:lnTo>
                <a:lnTo>
                  <a:pt x="34368" y="1598106"/>
                </a:lnTo>
                <a:cubicBezTo>
                  <a:pt x="15387" y="1598106"/>
                  <a:pt x="0" y="1582719"/>
                  <a:pt x="0" y="1563738"/>
                </a:cubicBezTo>
                <a:lnTo>
                  <a:pt x="0" y="34368"/>
                </a:lnTo>
                <a:cubicBezTo>
                  <a:pt x="0" y="15400"/>
                  <a:pt x="15400" y="0"/>
                  <a:pt x="34368" y="0"/>
                </a:cubicBezTo>
                <a:close/>
              </a:path>
            </a:pathLst>
          </a:custGeom>
          <a:solidFill>
            <a:srgbClr val="5A7D7C"/>
          </a:solidFill>
          <a:ln/>
        </p:spPr>
        <p:txBody>
          <a:bodyPr/>
          <a:lstStyle/>
          <a:p>
            <a:endParaRPr lang="en-US"/>
          </a:p>
        </p:txBody>
      </p:sp>
      <p:sp>
        <p:nvSpPr>
          <p:cNvPr id="6" name="Shape 4"/>
          <p:cNvSpPr/>
          <p:nvPr/>
        </p:nvSpPr>
        <p:spPr>
          <a:xfrm>
            <a:off x="584254" y="1409082"/>
            <a:ext cx="412414" cy="412414"/>
          </a:xfrm>
          <a:custGeom>
            <a:avLst/>
            <a:gdLst/>
            <a:ahLst/>
            <a:cxnLst/>
            <a:rect l="l" t="t" r="r" b="b"/>
            <a:pathLst>
              <a:path w="412414" h="412414">
                <a:moveTo>
                  <a:pt x="206207" y="0"/>
                </a:moveTo>
                <a:lnTo>
                  <a:pt x="206207" y="0"/>
                </a:lnTo>
                <a:cubicBezTo>
                  <a:pt x="320016" y="0"/>
                  <a:pt x="412414" y="92398"/>
                  <a:pt x="412414" y="206207"/>
                </a:cubicBezTo>
                <a:lnTo>
                  <a:pt x="412414" y="206207"/>
                </a:lnTo>
                <a:cubicBezTo>
                  <a:pt x="412414" y="320016"/>
                  <a:pt x="320016" y="412414"/>
                  <a:pt x="206207" y="412414"/>
                </a:cubicBezTo>
                <a:lnTo>
                  <a:pt x="206207" y="412414"/>
                </a:lnTo>
                <a:cubicBezTo>
                  <a:pt x="92398" y="412414"/>
                  <a:pt x="0" y="320016"/>
                  <a:pt x="0" y="206207"/>
                </a:cubicBezTo>
                <a:lnTo>
                  <a:pt x="0" y="206207"/>
                </a:lnTo>
                <a:cubicBezTo>
                  <a:pt x="0" y="92398"/>
                  <a:pt x="92398" y="0"/>
                  <a:pt x="206207" y="0"/>
                </a:cubicBezTo>
                <a:close/>
              </a:path>
            </a:pathLst>
          </a:custGeom>
          <a:solidFill>
            <a:srgbClr val="5A7D7C"/>
          </a:solidFill>
          <a:ln/>
        </p:spPr>
        <p:txBody>
          <a:bodyPr/>
          <a:lstStyle/>
          <a:p>
            <a:endParaRPr lang="en-US"/>
          </a:p>
        </p:txBody>
      </p:sp>
      <p:sp>
        <p:nvSpPr>
          <p:cNvPr id="7" name="Shape 5"/>
          <p:cNvSpPr/>
          <p:nvPr/>
        </p:nvSpPr>
        <p:spPr>
          <a:xfrm>
            <a:off x="704541" y="1529370"/>
            <a:ext cx="171839" cy="171839"/>
          </a:xfrm>
          <a:custGeom>
            <a:avLst/>
            <a:gdLst/>
            <a:ahLst/>
            <a:cxnLst/>
            <a:rect l="l" t="t" r="r" b="b"/>
            <a:pathLst>
              <a:path w="171839" h="171839">
                <a:moveTo>
                  <a:pt x="150359" y="85920"/>
                </a:moveTo>
                <a:cubicBezTo>
                  <a:pt x="150359" y="50354"/>
                  <a:pt x="121485" y="21480"/>
                  <a:pt x="85920" y="21480"/>
                </a:cubicBezTo>
                <a:cubicBezTo>
                  <a:pt x="50354" y="21480"/>
                  <a:pt x="21480" y="50354"/>
                  <a:pt x="21480" y="85920"/>
                </a:cubicBezTo>
                <a:cubicBezTo>
                  <a:pt x="21480" y="121485"/>
                  <a:pt x="50354" y="150359"/>
                  <a:pt x="85920" y="150359"/>
                </a:cubicBezTo>
                <a:cubicBezTo>
                  <a:pt x="121485" y="150359"/>
                  <a:pt x="150359" y="121485"/>
                  <a:pt x="150359" y="85920"/>
                </a:cubicBezTo>
                <a:close/>
                <a:moveTo>
                  <a:pt x="0" y="85920"/>
                </a:moveTo>
                <a:cubicBezTo>
                  <a:pt x="0" y="38499"/>
                  <a:pt x="38499" y="0"/>
                  <a:pt x="85920" y="0"/>
                </a:cubicBezTo>
                <a:cubicBezTo>
                  <a:pt x="133340" y="0"/>
                  <a:pt x="171839" y="38499"/>
                  <a:pt x="171839" y="85920"/>
                </a:cubicBezTo>
                <a:cubicBezTo>
                  <a:pt x="171839" y="133340"/>
                  <a:pt x="133340" y="171839"/>
                  <a:pt x="85920" y="171839"/>
                </a:cubicBezTo>
                <a:cubicBezTo>
                  <a:pt x="38499" y="171839"/>
                  <a:pt x="0" y="133340"/>
                  <a:pt x="0" y="85920"/>
                </a:cubicBezTo>
                <a:close/>
                <a:moveTo>
                  <a:pt x="85920" y="112770"/>
                </a:moveTo>
                <a:cubicBezTo>
                  <a:pt x="100739" y="112770"/>
                  <a:pt x="112770" y="100739"/>
                  <a:pt x="112770" y="85920"/>
                </a:cubicBezTo>
                <a:cubicBezTo>
                  <a:pt x="112770" y="71101"/>
                  <a:pt x="100739" y="59070"/>
                  <a:pt x="85920" y="59070"/>
                </a:cubicBezTo>
                <a:cubicBezTo>
                  <a:pt x="71101" y="59070"/>
                  <a:pt x="59070" y="71101"/>
                  <a:pt x="59070" y="85920"/>
                </a:cubicBezTo>
                <a:cubicBezTo>
                  <a:pt x="59070" y="100739"/>
                  <a:pt x="71101" y="112770"/>
                  <a:pt x="85920" y="112770"/>
                </a:cubicBezTo>
                <a:close/>
                <a:moveTo>
                  <a:pt x="85920" y="37590"/>
                </a:moveTo>
                <a:cubicBezTo>
                  <a:pt x="112594" y="37590"/>
                  <a:pt x="134249" y="59246"/>
                  <a:pt x="134249" y="85920"/>
                </a:cubicBezTo>
                <a:cubicBezTo>
                  <a:pt x="134249" y="112594"/>
                  <a:pt x="112594" y="134249"/>
                  <a:pt x="85920" y="134249"/>
                </a:cubicBezTo>
                <a:cubicBezTo>
                  <a:pt x="59246" y="134249"/>
                  <a:pt x="37590" y="112594"/>
                  <a:pt x="37590" y="85920"/>
                </a:cubicBezTo>
                <a:cubicBezTo>
                  <a:pt x="37590" y="59246"/>
                  <a:pt x="59246" y="37590"/>
                  <a:pt x="85920" y="37590"/>
                </a:cubicBezTo>
                <a:close/>
                <a:moveTo>
                  <a:pt x="75180" y="85920"/>
                </a:moveTo>
                <a:cubicBezTo>
                  <a:pt x="75180" y="79992"/>
                  <a:pt x="79992" y="75180"/>
                  <a:pt x="85920" y="75180"/>
                </a:cubicBezTo>
                <a:cubicBezTo>
                  <a:pt x="91847" y="75180"/>
                  <a:pt x="96660" y="79992"/>
                  <a:pt x="96660" y="85920"/>
                </a:cubicBezTo>
                <a:cubicBezTo>
                  <a:pt x="96660" y="91847"/>
                  <a:pt x="91847" y="96660"/>
                  <a:pt x="85920" y="96660"/>
                </a:cubicBezTo>
                <a:cubicBezTo>
                  <a:pt x="79992" y="96660"/>
                  <a:pt x="75180" y="91847"/>
                  <a:pt x="75180" y="85920"/>
                </a:cubicBezTo>
                <a:close/>
              </a:path>
            </a:pathLst>
          </a:custGeom>
          <a:solidFill>
            <a:srgbClr val="E0E2E5"/>
          </a:solidFill>
          <a:ln/>
        </p:spPr>
        <p:txBody>
          <a:bodyPr/>
          <a:lstStyle/>
          <a:p>
            <a:endParaRPr lang="en-US"/>
          </a:p>
        </p:txBody>
      </p:sp>
      <p:sp>
        <p:nvSpPr>
          <p:cNvPr id="8" name="Text 6"/>
          <p:cNvSpPr/>
          <p:nvPr/>
        </p:nvSpPr>
        <p:spPr>
          <a:xfrm>
            <a:off x="1099772" y="1477818"/>
            <a:ext cx="1005260" cy="274943"/>
          </a:xfrm>
          <a:prstGeom prst="rect">
            <a:avLst/>
          </a:prstGeom>
          <a:noFill/>
          <a:ln/>
        </p:spPr>
        <p:txBody>
          <a:bodyPr wrap="square" lIns="0" tIns="0" rIns="0" bIns="0" rtlCol="0" anchor="ctr"/>
          <a:lstStyle/>
          <a:p>
            <a:pPr>
              <a:lnSpc>
                <a:spcPct val="110000"/>
              </a:lnSpc>
            </a:pPr>
            <a:r>
              <a:rPr lang="en-US" sz="1624" b="1" dirty="0">
                <a:solidFill>
                  <a:srgbClr val="E0E2E5"/>
                </a:solidFill>
                <a:latin typeface="Liter" pitchFamily="34" charset="0"/>
                <a:ea typeface="Liter" pitchFamily="34" charset="-122"/>
                <a:cs typeface="Liter" pitchFamily="34" charset="-120"/>
              </a:rPr>
              <a:t>Main Goal</a:t>
            </a:r>
            <a:endParaRPr lang="en-US" sz="1600" dirty="0"/>
          </a:p>
        </p:txBody>
      </p:sp>
      <p:sp>
        <p:nvSpPr>
          <p:cNvPr id="9" name="Text 7"/>
          <p:cNvSpPr/>
          <p:nvPr/>
        </p:nvSpPr>
        <p:spPr>
          <a:xfrm>
            <a:off x="584254" y="1924600"/>
            <a:ext cx="5266875" cy="670173"/>
          </a:xfrm>
          <a:prstGeom prst="rect">
            <a:avLst/>
          </a:prstGeom>
          <a:noFill/>
          <a:ln/>
        </p:spPr>
        <p:txBody>
          <a:bodyPr wrap="square" lIns="0" tIns="0" rIns="0" bIns="0" rtlCol="0" anchor="ctr"/>
          <a:lstStyle/>
          <a:p>
            <a:pPr>
              <a:lnSpc>
                <a:spcPct val="140000"/>
              </a:lnSpc>
            </a:pPr>
            <a:r>
              <a:rPr lang="en-US" sz="1082" dirty="0">
                <a:solidFill>
                  <a:srgbClr val="E0E2E5">
                    <a:alpha val="90000"/>
                  </a:srgbClr>
                </a:solidFill>
                <a:latin typeface="Quattrocento Sans" pitchFamily="34" charset="0"/>
                <a:ea typeface="Quattrocento Sans" pitchFamily="34" charset="-122"/>
                <a:cs typeface="Quattrocento Sans" pitchFamily="34" charset="-120"/>
              </a:rPr>
              <a:t>Detect object boundaries accurately using basic digital image processing and morphological operations for applications in medical imaging, object recognition, and computer vision.</a:t>
            </a:r>
            <a:endParaRPr lang="en-US" sz="1600" dirty="0"/>
          </a:p>
        </p:txBody>
      </p:sp>
      <p:sp>
        <p:nvSpPr>
          <p:cNvPr id="10" name="Shape 8"/>
          <p:cNvSpPr/>
          <p:nvPr/>
        </p:nvSpPr>
        <p:spPr>
          <a:xfrm>
            <a:off x="360863" y="2938452"/>
            <a:ext cx="5627738" cy="1374715"/>
          </a:xfrm>
          <a:custGeom>
            <a:avLst/>
            <a:gdLst/>
            <a:ahLst/>
            <a:cxnLst/>
            <a:rect l="l" t="t" r="r" b="b"/>
            <a:pathLst>
              <a:path w="5627738" h="1374715">
                <a:moveTo>
                  <a:pt x="34368" y="0"/>
                </a:moveTo>
                <a:lnTo>
                  <a:pt x="5524634" y="0"/>
                </a:lnTo>
                <a:cubicBezTo>
                  <a:pt x="5581577" y="0"/>
                  <a:pt x="5627738" y="46161"/>
                  <a:pt x="5627738" y="103104"/>
                </a:cubicBezTo>
                <a:lnTo>
                  <a:pt x="5627738" y="1271611"/>
                </a:lnTo>
                <a:cubicBezTo>
                  <a:pt x="5627738" y="1328554"/>
                  <a:pt x="5581577" y="1374715"/>
                  <a:pt x="5524634" y="1374715"/>
                </a:cubicBezTo>
                <a:lnTo>
                  <a:pt x="34368" y="1374715"/>
                </a:lnTo>
                <a:cubicBezTo>
                  <a:pt x="15387" y="1374715"/>
                  <a:pt x="0" y="1359328"/>
                  <a:pt x="0" y="1340347"/>
                </a:cubicBezTo>
                <a:lnTo>
                  <a:pt x="0" y="34368"/>
                </a:lnTo>
                <a:cubicBezTo>
                  <a:pt x="0" y="15400"/>
                  <a:pt x="15400" y="0"/>
                  <a:pt x="34368" y="0"/>
                </a:cubicBezTo>
                <a:close/>
              </a:path>
            </a:pathLst>
          </a:custGeom>
          <a:solidFill>
            <a:srgbClr val="4A6C8C">
              <a:alpha val="10196"/>
            </a:srgbClr>
          </a:solidFill>
          <a:ln/>
        </p:spPr>
        <p:txBody>
          <a:bodyPr/>
          <a:lstStyle/>
          <a:p>
            <a:endParaRPr lang="en-US"/>
          </a:p>
        </p:txBody>
      </p:sp>
      <p:sp>
        <p:nvSpPr>
          <p:cNvPr id="11" name="Shape 9"/>
          <p:cNvSpPr/>
          <p:nvPr/>
        </p:nvSpPr>
        <p:spPr>
          <a:xfrm>
            <a:off x="360863" y="2938452"/>
            <a:ext cx="34368" cy="1374715"/>
          </a:xfrm>
          <a:custGeom>
            <a:avLst/>
            <a:gdLst/>
            <a:ahLst/>
            <a:cxnLst/>
            <a:rect l="l" t="t" r="r" b="b"/>
            <a:pathLst>
              <a:path w="34368" h="1374715">
                <a:moveTo>
                  <a:pt x="34368" y="0"/>
                </a:moveTo>
                <a:lnTo>
                  <a:pt x="34368" y="0"/>
                </a:lnTo>
                <a:lnTo>
                  <a:pt x="34368" y="1374715"/>
                </a:lnTo>
                <a:lnTo>
                  <a:pt x="34368" y="1374715"/>
                </a:lnTo>
                <a:cubicBezTo>
                  <a:pt x="15387" y="1374715"/>
                  <a:pt x="0" y="1359328"/>
                  <a:pt x="0" y="1340347"/>
                </a:cubicBezTo>
                <a:lnTo>
                  <a:pt x="0" y="34368"/>
                </a:lnTo>
                <a:cubicBezTo>
                  <a:pt x="0" y="15400"/>
                  <a:pt x="15400" y="0"/>
                  <a:pt x="34368" y="0"/>
                </a:cubicBezTo>
                <a:close/>
              </a:path>
            </a:pathLst>
          </a:custGeom>
          <a:solidFill>
            <a:srgbClr val="4A6C8C"/>
          </a:solidFill>
          <a:ln/>
        </p:spPr>
        <p:txBody>
          <a:bodyPr/>
          <a:lstStyle/>
          <a:p>
            <a:endParaRPr lang="en-US"/>
          </a:p>
        </p:txBody>
      </p:sp>
      <p:sp>
        <p:nvSpPr>
          <p:cNvPr id="12" name="Shape 10"/>
          <p:cNvSpPr/>
          <p:nvPr/>
        </p:nvSpPr>
        <p:spPr>
          <a:xfrm>
            <a:off x="584254" y="3144660"/>
            <a:ext cx="412414" cy="412414"/>
          </a:xfrm>
          <a:custGeom>
            <a:avLst/>
            <a:gdLst/>
            <a:ahLst/>
            <a:cxnLst/>
            <a:rect l="l" t="t" r="r" b="b"/>
            <a:pathLst>
              <a:path w="412414" h="412414">
                <a:moveTo>
                  <a:pt x="206207" y="0"/>
                </a:moveTo>
                <a:lnTo>
                  <a:pt x="206207" y="0"/>
                </a:lnTo>
                <a:cubicBezTo>
                  <a:pt x="320016" y="0"/>
                  <a:pt x="412414" y="92398"/>
                  <a:pt x="412414" y="206207"/>
                </a:cubicBezTo>
                <a:lnTo>
                  <a:pt x="412414" y="206207"/>
                </a:lnTo>
                <a:cubicBezTo>
                  <a:pt x="412414" y="320016"/>
                  <a:pt x="320016" y="412414"/>
                  <a:pt x="206207" y="412414"/>
                </a:cubicBezTo>
                <a:lnTo>
                  <a:pt x="206207" y="412414"/>
                </a:lnTo>
                <a:cubicBezTo>
                  <a:pt x="92398" y="412414"/>
                  <a:pt x="0" y="320016"/>
                  <a:pt x="0" y="206207"/>
                </a:cubicBezTo>
                <a:lnTo>
                  <a:pt x="0" y="206207"/>
                </a:lnTo>
                <a:cubicBezTo>
                  <a:pt x="0" y="92398"/>
                  <a:pt x="92398" y="0"/>
                  <a:pt x="206207" y="0"/>
                </a:cubicBezTo>
                <a:close/>
              </a:path>
            </a:pathLst>
          </a:custGeom>
          <a:solidFill>
            <a:srgbClr val="4A6C8C"/>
          </a:solidFill>
          <a:ln/>
        </p:spPr>
        <p:txBody>
          <a:bodyPr/>
          <a:lstStyle/>
          <a:p>
            <a:endParaRPr lang="en-US"/>
          </a:p>
        </p:txBody>
      </p:sp>
      <p:sp>
        <p:nvSpPr>
          <p:cNvPr id="13" name="Shape 11"/>
          <p:cNvSpPr/>
          <p:nvPr/>
        </p:nvSpPr>
        <p:spPr>
          <a:xfrm>
            <a:off x="683061" y="3264947"/>
            <a:ext cx="214799" cy="171839"/>
          </a:xfrm>
          <a:custGeom>
            <a:avLst/>
            <a:gdLst/>
            <a:ahLst/>
            <a:cxnLst/>
            <a:rect l="l" t="t" r="r" b="b"/>
            <a:pathLst>
              <a:path w="214799" h="171839">
                <a:moveTo>
                  <a:pt x="139586" y="70649"/>
                </a:moveTo>
                <a:cubicBezTo>
                  <a:pt x="143680" y="69541"/>
                  <a:pt x="147976" y="71488"/>
                  <a:pt x="149822" y="75280"/>
                </a:cubicBezTo>
                <a:lnTo>
                  <a:pt x="156065" y="87900"/>
                </a:lnTo>
                <a:cubicBezTo>
                  <a:pt x="159522" y="88370"/>
                  <a:pt x="162912" y="89309"/>
                  <a:pt x="166100" y="90618"/>
                </a:cubicBezTo>
                <a:lnTo>
                  <a:pt x="177847" y="82798"/>
                </a:lnTo>
                <a:cubicBezTo>
                  <a:pt x="181371" y="80449"/>
                  <a:pt x="186036" y="80919"/>
                  <a:pt x="189023" y="83906"/>
                </a:cubicBezTo>
                <a:lnTo>
                  <a:pt x="195467" y="90350"/>
                </a:lnTo>
                <a:cubicBezTo>
                  <a:pt x="198454" y="93337"/>
                  <a:pt x="198924" y="98036"/>
                  <a:pt x="196575" y="101526"/>
                </a:cubicBezTo>
                <a:lnTo>
                  <a:pt x="188755" y="113239"/>
                </a:lnTo>
                <a:cubicBezTo>
                  <a:pt x="189392" y="114817"/>
                  <a:pt x="189963" y="116461"/>
                  <a:pt x="190433" y="118173"/>
                </a:cubicBezTo>
                <a:cubicBezTo>
                  <a:pt x="190903" y="119885"/>
                  <a:pt x="191205" y="121563"/>
                  <a:pt x="191440" y="123275"/>
                </a:cubicBezTo>
                <a:lnTo>
                  <a:pt x="204093" y="129517"/>
                </a:lnTo>
                <a:cubicBezTo>
                  <a:pt x="207885" y="131397"/>
                  <a:pt x="209832" y="135693"/>
                  <a:pt x="208724" y="139754"/>
                </a:cubicBezTo>
                <a:lnTo>
                  <a:pt x="206375" y="148547"/>
                </a:lnTo>
                <a:cubicBezTo>
                  <a:pt x="205267" y="152608"/>
                  <a:pt x="201475" y="155360"/>
                  <a:pt x="197246" y="155092"/>
                </a:cubicBezTo>
                <a:lnTo>
                  <a:pt x="183150" y="154186"/>
                </a:lnTo>
                <a:cubicBezTo>
                  <a:pt x="181035" y="156904"/>
                  <a:pt x="178585" y="159421"/>
                  <a:pt x="175800" y="161569"/>
                </a:cubicBezTo>
                <a:lnTo>
                  <a:pt x="176706" y="175632"/>
                </a:lnTo>
                <a:cubicBezTo>
                  <a:pt x="176974" y="179861"/>
                  <a:pt x="174222" y="183687"/>
                  <a:pt x="170161" y="184761"/>
                </a:cubicBezTo>
                <a:lnTo>
                  <a:pt x="161368" y="187110"/>
                </a:lnTo>
                <a:cubicBezTo>
                  <a:pt x="157273" y="188218"/>
                  <a:pt x="153011" y="186271"/>
                  <a:pt x="151131" y="182479"/>
                </a:cubicBezTo>
                <a:lnTo>
                  <a:pt x="144889" y="169859"/>
                </a:lnTo>
                <a:cubicBezTo>
                  <a:pt x="141432" y="169389"/>
                  <a:pt x="138042" y="168450"/>
                  <a:pt x="134854" y="167141"/>
                </a:cubicBezTo>
                <a:lnTo>
                  <a:pt x="123107" y="174961"/>
                </a:lnTo>
                <a:cubicBezTo>
                  <a:pt x="119583" y="177310"/>
                  <a:pt x="114918" y="176840"/>
                  <a:pt x="111930" y="173853"/>
                </a:cubicBezTo>
                <a:lnTo>
                  <a:pt x="105487" y="167409"/>
                </a:lnTo>
                <a:cubicBezTo>
                  <a:pt x="102499" y="164422"/>
                  <a:pt x="102030" y="159757"/>
                  <a:pt x="104379" y="156233"/>
                </a:cubicBezTo>
                <a:lnTo>
                  <a:pt x="112199" y="144486"/>
                </a:lnTo>
                <a:cubicBezTo>
                  <a:pt x="111561" y="142909"/>
                  <a:pt x="110991" y="141264"/>
                  <a:pt x="110521" y="139552"/>
                </a:cubicBezTo>
                <a:cubicBezTo>
                  <a:pt x="110051" y="137841"/>
                  <a:pt x="109749" y="136129"/>
                  <a:pt x="109514" y="134451"/>
                </a:cubicBezTo>
                <a:lnTo>
                  <a:pt x="96861" y="128208"/>
                </a:lnTo>
                <a:cubicBezTo>
                  <a:pt x="93068" y="126329"/>
                  <a:pt x="91155" y="122033"/>
                  <a:pt x="92229" y="117972"/>
                </a:cubicBezTo>
                <a:lnTo>
                  <a:pt x="94579" y="109178"/>
                </a:lnTo>
                <a:cubicBezTo>
                  <a:pt x="95686" y="105117"/>
                  <a:pt x="99479" y="102365"/>
                  <a:pt x="103708" y="102634"/>
                </a:cubicBezTo>
                <a:lnTo>
                  <a:pt x="117770" y="103540"/>
                </a:lnTo>
                <a:cubicBezTo>
                  <a:pt x="119885" y="100821"/>
                  <a:pt x="122335" y="98304"/>
                  <a:pt x="125121" y="96156"/>
                </a:cubicBezTo>
                <a:lnTo>
                  <a:pt x="124214" y="82127"/>
                </a:lnTo>
                <a:cubicBezTo>
                  <a:pt x="123946" y="77898"/>
                  <a:pt x="126698" y="74072"/>
                  <a:pt x="130759" y="72998"/>
                </a:cubicBezTo>
                <a:lnTo>
                  <a:pt x="139552" y="70649"/>
                </a:lnTo>
                <a:close/>
                <a:moveTo>
                  <a:pt x="150494" y="114112"/>
                </a:moveTo>
                <a:cubicBezTo>
                  <a:pt x="142343" y="114121"/>
                  <a:pt x="135734" y="120746"/>
                  <a:pt x="135743" y="128896"/>
                </a:cubicBezTo>
                <a:cubicBezTo>
                  <a:pt x="135752" y="137047"/>
                  <a:pt x="142377" y="143656"/>
                  <a:pt x="150527" y="143647"/>
                </a:cubicBezTo>
                <a:cubicBezTo>
                  <a:pt x="158678" y="143638"/>
                  <a:pt x="165287" y="137013"/>
                  <a:pt x="165278" y="128863"/>
                </a:cubicBezTo>
                <a:cubicBezTo>
                  <a:pt x="165269" y="120712"/>
                  <a:pt x="158644" y="114103"/>
                  <a:pt x="150494" y="114112"/>
                </a:cubicBezTo>
                <a:close/>
                <a:moveTo>
                  <a:pt x="75482" y="-15271"/>
                </a:moveTo>
                <a:lnTo>
                  <a:pt x="84275" y="-12922"/>
                </a:lnTo>
                <a:cubicBezTo>
                  <a:pt x="88336" y="-11814"/>
                  <a:pt x="91088" y="-7988"/>
                  <a:pt x="90820" y="-3793"/>
                </a:cubicBezTo>
                <a:lnTo>
                  <a:pt x="89914" y="10237"/>
                </a:lnTo>
                <a:cubicBezTo>
                  <a:pt x="92699" y="12385"/>
                  <a:pt x="95149" y="14868"/>
                  <a:pt x="97264" y="17620"/>
                </a:cubicBezTo>
                <a:lnTo>
                  <a:pt x="111360" y="16714"/>
                </a:lnTo>
                <a:cubicBezTo>
                  <a:pt x="115555" y="16446"/>
                  <a:pt x="119381" y="19198"/>
                  <a:pt x="120489" y="23259"/>
                </a:cubicBezTo>
                <a:lnTo>
                  <a:pt x="122838" y="32052"/>
                </a:lnTo>
                <a:cubicBezTo>
                  <a:pt x="123912" y="36113"/>
                  <a:pt x="121999" y="40409"/>
                  <a:pt x="118207" y="42289"/>
                </a:cubicBezTo>
                <a:lnTo>
                  <a:pt x="105554" y="48531"/>
                </a:lnTo>
                <a:cubicBezTo>
                  <a:pt x="105319" y="50243"/>
                  <a:pt x="104983" y="51955"/>
                  <a:pt x="104547" y="53633"/>
                </a:cubicBezTo>
                <a:cubicBezTo>
                  <a:pt x="104110" y="55311"/>
                  <a:pt x="103506" y="56989"/>
                  <a:pt x="102869" y="58566"/>
                </a:cubicBezTo>
                <a:lnTo>
                  <a:pt x="110689" y="70313"/>
                </a:lnTo>
                <a:cubicBezTo>
                  <a:pt x="113038" y="73837"/>
                  <a:pt x="112568" y="78502"/>
                  <a:pt x="109581" y="81489"/>
                </a:cubicBezTo>
                <a:lnTo>
                  <a:pt x="103137" y="87933"/>
                </a:lnTo>
                <a:cubicBezTo>
                  <a:pt x="100150" y="90920"/>
                  <a:pt x="95485" y="91390"/>
                  <a:pt x="91961" y="89041"/>
                </a:cubicBezTo>
                <a:lnTo>
                  <a:pt x="80214" y="81221"/>
                </a:lnTo>
                <a:cubicBezTo>
                  <a:pt x="77026" y="82530"/>
                  <a:pt x="73636" y="83470"/>
                  <a:pt x="70179" y="83939"/>
                </a:cubicBezTo>
                <a:lnTo>
                  <a:pt x="63936" y="96559"/>
                </a:lnTo>
                <a:cubicBezTo>
                  <a:pt x="62057" y="100351"/>
                  <a:pt x="57761" y="102265"/>
                  <a:pt x="53700" y="101191"/>
                </a:cubicBezTo>
                <a:lnTo>
                  <a:pt x="44906" y="98841"/>
                </a:lnTo>
                <a:cubicBezTo>
                  <a:pt x="40812" y="97734"/>
                  <a:pt x="38093" y="93908"/>
                  <a:pt x="38362" y="89712"/>
                </a:cubicBezTo>
                <a:lnTo>
                  <a:pt x="39268" y="75650"/>
                </a:lnTo>
                <a:cubicBezTo>
                  <a:pt x="36482" y="73502"/>
                  <a:pt x="34032" y="71018"/>
                  <a:pt x="31918" y="68266"/>
                </a:cubicBezTo>
                <a:lnTo>
                  <a:pt x="17822" y="69172"/>
                </a:lnTo>
                <a:cubicBezTo>
                  <a:pt x="13626" y="69441"/>
                  <a:pt x="9800" y="66688"/>
                  <a:pt x="8693" y="62627"/>
                </a:cubicBezTo>
                <a:lnTo>
                  <a:pt x="6343" y="53834"/>
                </a:lnTo>
                <a:cubicBezTo>
                  <a:pt x="5269" y="49773"/>
                  <a:pt x="7182" y="45477"/>
                  <a:pt x="10975" y="43598"/>
                </a:cubicBezTo>
                <a:lnTo>
                  <a:pt x="23628" y="37355"/>
                </a:lnTo>
                <a:cubicBezTo>
                  <a:pt x="23863" y="35643"/>
                  <a:pt x="24198" y="33965"/>
                  <a:pt x="24635" y="32253"/>
                </a:cubicBezTo>
                <a:cubicBezTo>
                  <a:pt x="25105" y="30542"/>
                  <a:pt x="25642" y="28897"/>
                  <a:pt x="26313" y="27320"/>
                </a:cubicBezTo>
                <a:lnTo>
                  <a:pt x="18493" y="15607"/>
                </a:lnTo>
                <a:cubicBezTo>
                  <a:pt x="16143" y="12082"/>
                  <a:pt x="16613" y="7417"/>
                  <a:pt x="19600" y="4430"/>
                </a:cubicBezTo>
                <a:lnTo>
                  <a:pt x="26044" y="-2014"/>
                </a:lnTo>
                <a:cubicBezTo>
                  <a:pt x="29031" y="-5001"/>
                  <a:pt x="33697" y="-5471"/>
                  <a:pt x="37221" y="-3121"/>
                </a:cubicBezTo>
                <a:lnTo>
                  <a:pt x="48967" y="4699"/>
                </a:lnTo>
                <a:cubicBezTo>
                  <a:pt x="52156" y="3390"/>
                  <a:pt x="55546" y="2450"/>
                  <a:pt x="59003" y="1980"/>
                </a:cubicBezTo>
                <a:lnTo>
                  <a:pt x="65245" y="-10639"/>
                </a:lnTo>
                <a:cubicBezTo>
                  <a:pt x="67125" y="-14432"/>
                  <a:pt x="71387" y="-16345"/>
                  <a:pt x="75482" y="-15271"/>
                </a:cubicBezTo>
                <a:close/>
                <a:moveTo>
                  <a:pt x="64574" y="28192"/>
                </a:moveTo>
                <a:cubicBezTo>
                  <a:pt x="56424" y="28192"/>
                  <a:pt x="49807" y="34809"/>
                  <a:pt x="49807" y="42960"/>
                </a:cubicBezTo>
                <a:cubicBezTo>
                  <a:pt x="49807" y="51110"/>
                  <a:pt x="56424" y="57727"/>
                  <a:pt x="64574" y="57727"/>
                </a:cubicBezTo>
                <a:cubicBezTo>
                  <a:pt x="72724" y="57727"/>
                  <a:pt x="79341" y="51110"/>
                  <a:pt x="79341" y="42960"/>
                </a:cubicBezTo>
                <a:cubicBezTo>
                  <a:pt x="79341" y="34809"/>
                  <a:pt x="72724" y="28192"/>
                  <a:pt x="64574" y="28192"/>
                </a:cubicBezTo>
                <a:close/>
              </a:path>
            </a:pathLst>
          </a:custGeom>
          <a:solidFill>
            <a:srgbClr val="E0E2E5"/>
          </a:solidFill>
          <a:ln/>
        </p:spPr>
        <p:txBody>
          <a:bodyPr/>
          <a:lstStyle/>
          <a:p>
            <a:endParaRPr lang="en-US"/>
          </a:p>
        </p:txBody>
      </p:sp>
      <p:sp>
        <p:nvSpPr>
          <p:cNvPr id="14" name="Text 12"/>
          <p:cNvSpPr/>
          <p:nvPr/>
        </p:nvSpPr>
        <p:spPr>
          <a:xfrm>
            <a:off x="1099772" y="3213395"/>
            <a:ext cx="2044888" cy="274943"/>
          </a:xfrm>
          <a:prstGeom prst="rect">
            <a:avLst/>
          </a:prstGeom>
          <a:noFill/>
          <a:ln/>
        </p:spPr>
        <p:txBody>
          <a:bodyPr wrap="square" lIns="0" tIns="0" rIns="0" bIns="0" rtlCol="0" anchor="ctr"/>
          <a:lstStyle/>
          <a:p>
            <a:pPr>
              <a:lnSpc>
                <a:spcPct val="110000"/>
              </a:lnSpc>
            </a:pPr>
            <a:r>
              <a:rPr lang="en-US" sz="1624" b="1" dirty="0">
                <a:solidFill>
                  <a:srgbClr val="E0E2E5"/>
                </a:solidFill>
                <a:latin typeface="Liter" pitchFamily="34" charset="0"/>
                <a:ea typeface="Liter" pitchFamily="34" charset="-122"/>
                <a:cs typeface="Liter" pitchFamily="34" charset="-120"/>
              </a:rPr>
              <a:t>Processing Approach</a:t>
            </a:r>
            <a:endParaRPr lang="en-US" sz="1600" dirty="0"/>
          </a:p>
        </p:txBody>
      </p:sp>
      <p:sp>
        <p:nvSpPr>
          <p:cNvPr id="15" name="Text 13"/>
          <p:cNvSpPr/>
          <p:nvPr/>
        </p:nvSpPr>
        <p:spPr>
          <a:xfrm>
            <a:off x="584254" y="3660178"/>
            <a:ext cx="5266875" cy="446782"/>
          </a:xfrm>
          <a:prstGeom prst="rect">
            <a:avLst/>
          </a:prstGeom>
          <a:noFill/>
          <a:ln/>
        </p:spPr>
        <p:txBody>
          <a:bodyPr wrap="square" lIns="0" tIns="0" rIns="0" bIns="0" rtlCol="0" anchor="ctr"/>
          <a:lstStyle/>
          <a:p>
            <a:pPr>
              <a:lnSpc>
                <a:spcPct val="140000"/>
              </a:lnSpc>
            </a:pPr>
            <a:r>
              <a:rPr lang="en-US" sz="1082" dirty="0">
                <a:solidFill>
                  <a:srgbClr val="E0E2E5">
                    <a:alpha val="90000"/>
                  </a:srgbClr>
                </a:solidFill>
                <a:latin typeface="Quattrocento Sans" pitchFamily="34" charset="0"/>
                <a:ea typeface="Quattrocento Sans" pitchFamily="34" charset="-122"/>
                <a:cs typeface="Quattrocento Sans" pitchFamily="34" charset="-120"/>
              </a:rPr>
              <a:t>Systematic application of morphological transformations to extract and enhance object boundaries from digital images with high precision and minimal artifacts.</a:t>
            </a:r>
            <a:endParaRPr lang="en-US" sz="1600" dirty="0"/>
          </a:p>
        </p:txBody>
      </p:sp>
      <p:sp>
        <p:nvSpPr>
          <p:cNvPr id="16" name="Shape 14"/>
          <p:cNvSpPr/>
          <p:nvPr/>
        </p:nvSpPr>
        <p:spPr>
          <a:xfrm>
            <a:off x="347115" y="4454075"/>
            <a:ext cx="5643203" cy="1106645"/>
          </a:xfrm>
          <a:custGeom>
            <a:avLst/>
            <a:gdLst/>
            <a:ahLst/>
            <a:cxnLst/>
            <a:rect l="l" t="t" r="r" b="b"/>
            <a:pathLst>
              <a:path w="5643203" h="1106645">
                <a:moveTo>
                  <a:pt x="103106" y="0"/>
                </a:moveTo>
                <a:lnTo>
                  <a:pt x="5540097" y="0"/>
                </a:lnTo>
                <a:cubicBezTo>
                  <a:pt x="5597041" y="0"/>
                  <a:pt x="5643203" y="46162"/>
                  <a:pt x="5643203" y="103106"/>
                </a:cubicBezTo>
                <a:lnTo>
                  <a:pt x="5643203" y="1003539"/>
                </a:lnTo>
                <a:cubicBezTo>
                  <a:pt x="5643203" y="1060483"/>
                  <a:pt x="5597041" y="1106645"/>
                  <a:pt x="5540097" y="1106645"/>
                </a:cubicBezTo>
                <a:lnTo>
                  <a:pt x="103106" y="1106645"/>
                </a:lnTo>
                <a:cubicBezTo>
                  <a:pt x="46162" y="1106645"/>
                  <a:pt x="0" y="1060483"/>
                  <a:pt x="0" y="1003539"/>
                </a:cubicBezTo>
                <a:lnTo>
                  <a:pt x="0" y="103106"/>
                </a:lnTo>
                <a:cubicBezTo>
                  <a:pt x="0" y="46200"/>
                  <a:pt x="46200" y="0"/>
                  <a:pt x="103106" y="0"/>
                </a:cubicBezTo>
                <a:close/>
              </a:path>
            </a:pathLst>
          </a:custGeom>
          <a:solidFill>
            <a:srgbClr val="B8A890">
              <a:alpha val="5098"/>
            </a:srgbClr>
          </a:solidFill>
          <a:ln w="10160">
            <a:solidFill>
              <a:srgbClr val="B8A890">
                <a:alpha val="30196"/>
              </a:srgbClr>
            </a:solidFill>
            <a:prstDash val="solid"/>
          </a:ln>
        </p:spPr>
        <p:txBody>
          <a:bodyPr/>
          <a:lstStyle/>
          <a:p>
            <a:endParaRPr lang="en-US"/>
          </a:p>
        </p:txBody>
      </p:sp>
      <p:sp>
        <p:nvSpPr>
          <p:cNvPr id="17" name="Text 15"/>
          <p:cNvSpPr/>
          <p:nvPr/>
        </p:nvSpPr>
        <p:spPr>
          <a:xfrm>
            <a:off x="522392" y="4629358"/>
            <a:ext cx="5369979" cy="756093"/>
          </a:xfrm>
          <a:prstGeom prst="rect">
            <a:avLst/>
          </a:prstGeom>
          <a:noFill/>
          <a:ln/>
        </p:spPr>
        <p:txBody>
          <a:bodyPr wrap="square" lIns="0" tIns="0" rIns="0" bIns="0" rtlCol="0" anchor="ctr"/>
          <a:lstStyle/>
          <a:p>
            <a:pPr>
              <a:lnSpc>
                <a:spcPct val="140000"/>
              </a:lnSpc>
            </a:pPr>
            <a:r>
              <a:rPr lang="en-US" sz="1218" b="1" dirty="0">
                <a:solidFill>
                  <a:srgbClr val="B8A890"/>
                </a:solidFill>
                <a:latin typeface="Quattrocento Sans" pitchFamily="34" charset="0"/>
                <a:ea typeface="Quattrocento Sans" pitchFamily="34" charset="-122"/>
                <a:cs typeface="Quattrocento Sans" pitchFamily="34" charset="-120"/>
              </a:rPr>
              <a:t>Critical Insight:</a:t>
            </a:r>
            <a:r>
              <a:rPr lang="en-US" sz="1218" dirty="0">
                <a:solidFill>
                  <a:srgbClr val="E0E2E5">
                    <a:alpha val="90000"/>
                  </a:srgbClr>
                </a:solidFill>
                <a:latin typeface="Quattrocento Sans" pitchFamily="34" charset="0"/>
                <a:ea typeface="Quattrocento Sans" pitchFamily="34" charset="-122"/>
                <a:cs typeface="Quattrocento Sans" pitchFamily="34" charset="-120"/>
              </a:rPr>
              <a:t> Morphological operations provide robust boundary extraction by exploiting geometric properties of shapes, enabling accurate segmentation for medical diagnosis and computer vision applications.</a:t>
            </a:r>
            <a:endParaRPr lang="en-US" sz="1600" dirty="0"/>
          </a:p>
        </p:txBody>
      </p:sp>
      <p:sp>
        <p:nvSpPr>
          <p:cNvPr id="18" name="Shape 16"/>
          <p:cNvSpPr/>
          <p:nvPr/>
        </p:nvSpPr>
        <p:spPr>
          <a:xfrm>
            <a:off x="6201037" y="1206312"/>
            <a:ext cx="5643203" cy="5299525"/>
          </a:xfrm>
          <a:custGeom>
            <a:avLst/>
            <a:gdLst/>
            <a:ahLst/>
            <a:cxnLst/>
            <a:rect l="l" t="t" r="r" b="b"/>
            <a:pathLst>
              <a:path w="5643203" h="5299525">
                <a:moveTo>
                  <a:pt x="103129" y="0"/>
                </a:moveTo>
                <a:lnTo>
                  <a:pt x="5540075" y="0"/>
                </a:lnTo>
                <a:cubicBezTo>
                  <a:pt x="5597031" y="0"/>
                  <a:pt x="5643203" y="46172"/>
                  <a:pt x="5643203" y="103129"/>
                </a:cubicBezTo>
                <a:lnTo>
                  <a:pt x="5643203" y="5196396"/>
                </a:lnTo>
                <a:cubicBezTo>
                  <a:pt x="5643203" y="5253352"/>
                  <a:pt x="5597031" y="5299525"/>
                  <a:pt x="5540075" y="5299525"/>
                </a:cubicBezTo>
                <a:lnTo>
                  <a:pt x="103129" y="5299525"/>
                </a:lnTo>
                <a:cubicBezTo>
                  <a:pt x="46172" y="5299525"/>
                  <a:pt x="0" y="5253352"/>
                  <a:pt x="0" y="5196396"/>
                </a:cubicBezTo>
                <a:lnTo>
                  <a:pt x="0" y="103129"/>
                </a:lnTo>
                <a:cubicBezTo>
                  <a:pt x="0" y="46172"/>
                  <a:pt x="46172" y="0"/>
                  <a:pt x="103129"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19" name="Shape 17"/>
          <p:cNvSpPr/>
          <p:nvPr/>
        </p:nvSpPr>
        <p:spPr>
          <a:xfrm>
            <a:off x="6432161" y="1467405"/>
            <a:ext cx="171839" cy="171839"/>
          </a:xfrm>
          <a:custGeom>
            <a:avLst/>
            <a:gdLst/>
            <a:ahLst/>
            <a:cxnLst/>
            <a:rect l="l" t="t" r="r" b="b"/>
            <a:pathLst>
              <a:path w="171839" h="171839">
                <a:moveTo>
                  <a:pt x="59070" y="18795"/>
                </a:moveTo>
                <a:lnTo>
                  <a:pt x="59070" y="32220"/>
                </a:lnTo>
                <a:lnTo>
                  <a:pt x="112770" y="32220"/>
                </a:lnTo>
                <a:lnTo>
                  <a:pt x="112770" y="18795"/>
                </a:lnTo>
                <a:cubicBezTo>
                  <a:pt x="112770" y="17318"/>
                  <a:pt x="111561" y="16110"/>
                  <a:pt x="110085" y="16110"/>
                </a:cubicBezTo>
                <a:lnTo>
                  <a:pt x="61755" y="16110"/>
                </a:lnTo>
                <a:cubicBezTo>
                  <a:pt x="60278" y="16110"/>
                  <a:pt x="59070" y="17318"/>
                  <a:pt x="59070" y="18795"/>
                </a:cubicBezTo>
                <a:close/>
                <a:moveTo>
                  <a:pt x="42960" y="32220"/>
                </a:moveTo>
                <a:lnTo>
                  <a:pt x="42960" y="18795"/>
                </a:lnTo>
                <a:cubicBezTo>
                  <a:pt x="42960" y="8424"/>
                  <a:pt x="51384" y="0"/>
                  <a:pt x="61755" y="0"/>
                </a:cubicBezTo>
                <a:lnTo>
                  <a:pt x="110085" y="0"/>
                </a:lnTo>
                <a:cubicBezTo>
                  <a:pt x="120455" y="0"/>
                  <a:pt x="128879" y="8424"/>
                  <a:pt x="128879" y="18795"/>
                </a:cubicBezTo>
                <a:lnTo>
                  <a:pt x="128879" y="32220"/>
                </a:lnTo>
                <a:lnTo>
                  <a:pt x="138311" y="32220"/>
                </a:lnTo>
                <a:cubicBezTo>
                  <a:pt x="142573" y="32220"/>
                  <a:pt x="146668" y="33932"/>
                  <a:pt x="149688" y="36952"/>
                </a:cubicBezTo>
                <a:lnTo>
                  <a:pt x="167107" y="54371"/>
                </a:lnTo>
                <a:cubicBezTo>
                  <a:pt x="170128" y="57392"/>
                  <a:pt x="171839" y="61486"/>
                  <a:pt x="171839" y="65749"/>
                </a:cubicBezTo>
                <a:lnTo>
                  <a:pt x="171839" y="91290"/>
                </a:lnTo>
                <a:lnTo>
                  <a:pt x="126195" y="91290"/>
                </a:lnTo>
                <a:lnTo>
                  <a:pt x="126195" y="85920"/>
                </a:lnTo>
                <a:cubicBezTo>
                  <a:pt x="126195" y="81456"/>
                  <a:pt x="122603" y="77865"/>
                  <a:pt x="118140" y="77865"/>
                </a:cubicBezTo>
                <a:cubicBezTo>
                  <a:pt x="113676" y="77865"/>
                  <a:pt x="110085" y="81456"/>
                  <a:pt x="110085" y="85920"/>
                </a:cubicBezTo>
                <a:lnTo>
                  <a:pt x="110085" y="91290"/>
                </a:lnTo>
                <a:lnTo>
                  <a:pt x="61755" y="91290"/>
                </a:lnTo>
                <a:lnTo>
                  <a:pt x="61755" y="85920"/>
                </a:lnTo>
                <a:cubicBezTo>
                  <a:pt x="61755" y="81456"/>
                  <a:pt x="58164" y="77865"/>
                  <a:pt x="53700" y="77865"/>
                </a:cubicBezTo>
                <a:cubicBezTo>
                  <a:pt x="49236" y="77865"/>
                  <a:pt x="45645" y="81456"/>
                  <a:pt x="45645" y="85920"/>
                </a:cubicBezTo>
                <a:lnTo>
                  <a:pt x="45645" y="91290"/>
                </a:lnTo>
                <a:lnTo>
                  <a:pt x="0" y="91290"/>
                </a:lnTo>
                <a:lnTo>
                  <a:pt x="0" y="65749"/>
                </a:lnTo>
                <a:cubicBezTo>
                  <a:pt x="0" y="61486"/>
                  <a:pt x="1712" y="57392"/>
                  <a:pt x="4732" y="54371"/>
                </a:cubicBezTo>
                <a:lnTo>
                  <a:pt x="22151" y="36952"/>
                </a:lnTo>
                <a:cubicBezTo>
                  <a:pt x="25172" y="33932"/>
                  <a:pt x="29266" y="32220"/>
                  <a:pt x="33529" y="32220"/>
                </a:cubicBezTo>
                <a:lnTo>
                  <a:pt x="42960" y="32220"/>
                </a:lnTo>
                <a:close/>
                <a:moveTo>
                  <a:pt x="0" y="139619"/>
                </a:moveTo>
                <a:lnTo>
                  <a:pt x="0" y="107400"/>
                </a:lnTo>
                <a:lnTo>
                  <a:pt x="45645" y="107400"/>
                </a:lnTo>
                <a:lnTo>
                  <a:pt x="45645" y="112770"/>
                </a:lnTo>
                <a:cubicBezTo>
                  <a:pt x="45645" y="117233"/>
                  <a:pt x="49236" y="120825"/>
                  <a:pt x="53700" y="120825"/>
                </a:cubicBezTo>
                <a:cubicBezTo>
                  <a:pt x="58164" y="120825"/>
                  <a:pt x="61755" y="117233"/>
                  <a:pt x="61755" y="112770"/>
                </a:cubicBezTo>
                <a:lnTo>
                  <a:pt x="61755" y="107400"/>
                </a:lnTo>
                <a:lnTo>
                  <a:pt x="110085" y="107400"/>
                </a:lnTo>
                <a:lnTo>
                  <a:pt x="110085" y="112770"/>
                </a:lnTo>
                <a:cubicBezTo>
                  <a:pt x="110085" y="117233"/>
                  <a:pt x="113676" y="120825"/>
                  <a:pt x="118140" y="120825"/>
                </a:cubicBezTo>
                <a:cubicBezTo>
                  <a:pt x="122603" y="120825"/>
                  <a:pt x="126195" y="117233"/>
                  <a:pt x="126195" y="112770"/>
                </a:cubicBezTo>
                <a:lnTo>
                  <a:pt x="126195" y="107400"/>
                </a:lnTo>
                <a:lnTo>
                  <a:pt x="171839" y="107400"/>
                </a:lnTo>
                <a:lnTo>
                  <a:pt x="171839" y="139619"/>
                </a:lnTo>
                <a:cubicBezTo>
                  <a:pt x="171839" y="151467"/>
                  <a:pt x="162207" y="161099"/>
                  <a:pt x="150359" y="161099"/>
                </a:cubicBezTo>
                <a:lnTo>
                  <a:pt x="21480" y="161099"/>
                </a:lnTo>
                <a:cubicBezTo>
                  <a:pt x="9632" y="161099"/>
                  <a:pt x="0" y="151467"/>
                  <a:pt x="0" y="139619"/>
                </a:cubicBezTo>
                <a:close/>
              </a:path>
            </a:pathLst>
          </a:custGeom>
          <a:solidFill>
            <a:srgbClr val="B8A890"/>
          </a:solidFill>
          <a:ln/>
        </p:spPr>
        <p:txBody>
          <a:bodyPr/>
          <a:lstStyle/>
          <a:p>
            <a:endParaRPr lang="en-US"/>
          </a:p>
        </p:txBody>
      </p:sp>
      <p:sp>
        <p:nvSpPr>
          <p:cNvPr id="20" name="Text 18"/>
          <p:cNvSpPr/>
          <p:nvPr/>
        </p:nvSpPr>
        <p:spPr>
          <a:xfrm>
            <a:off x="6625480" y="1415963"/>
            <a:ext cx="5112220" cy="274943"/>
          </a:xfrm>
          <a:prstGeom prst="rect">
            <a:avLst/>
          </a:prstGeom>
          <a:noFill/>
          <a:ln/>
        </p:spPr>
        <p:txBody>
          <a:bodyPr wrap="square" lIns="0" tIns="0" rIns="0" bIns="0" rtlCol="0" anchor="ctr"/>
          <a:lstStyle/>
          <a:p>
            <a:pPr>
              <a:lnSpc>
                <a:spcPct val="110000"/>
              </a:lnSpc>
            </a:pPr>
            <a:r>
              <a:rPr lang="en-US" sz="1624" b="1" dirty="0">
                <a:solidFill>
                  <a:srgbClr val="E0E2E5"/>
                </a:solidFill>
                <a:latin typeface="Liter" pitchFamily="34" charset="0"/>
                <a:ea typeface="Liter" pitchFamily="34" charset="-122"/>
                <a:cs typeface="Liter" pitchFamily="34" charset="-120"/>
              </a:rPr>
              <a:t>Core Techniques</a:t>
            </a:r>
            <a:endParaRPr lang="en-US" sz="1600" dirty="0"/>
          </a:p>
        </p:txBody>
      </p:sp>
      <p:sp>
        <p:nvSpPr>
          <p:cNvPr id="21" name="Shape 19"/>
          <p:cNvSpPr/>
          <p:nvPr/>
        </p:nvSpPr>
        <p:spPr>
          <a:xfrm>
            <a:off x="6410681" y="1828268"/>
            <a:ext cx="5223915" cy="816237"/>
          </a:xfrm>
          <a:custGeom>
            <a:avLst/>
            <a:gdLst/>
            <a:ahLst/>
            <a:cxnLst/>
            <a:rect l="l" t="t" r="r" b="b"/>
            <a:pathLst>
              <a:path w="5223915" h="816237">
                <a:moveTo>
                  <a:pt x="68735" y="0"/>
                </a:moveTo>
                <a:lnTo>
                  <a:pt x="5155180" y="0"/>
                </a:lnTo>
                <a:cubicBezTo>
                  <a:pt x="5193142" y="0"/>
                  <a:pt x="5223915" y="30774"/>
                  <a:pt x="5223915" y="68735"/>
                </a:cubicBezTo>
                <a:lnTo>
                  <a:pt x="5223915" y="747501"/>
                </a:lnTo>
                <a:cubicBezTo>
                  <a:pt x="5223915" y="785463"/>
                  <a:pt x="5193142" y="816237"/>
                  <a:pt x="5155180" y="816237"/>
                </a:cubicBezTo>
                <a:lnTo>
                  <a:pt x="68735" y="816237"/>
                </a:lnTo>
                <a:cubicBezTo>
                  <a:pt x="30774" y="816237"/>
                  <a:pt x="0" y="785463"/>
                  <a:pt x="0" y="747501"/>
                </a:cubicBezTo>
                <a:lnTo>
                  <a:pt x="0" y="68735"/>
                </a:lnTo>
                <a:cubicBezTo>
                  <a:pt x="0" y="30799"/>
                  <a:pt x="30799" y="0"/>
                  <a:pt x="68735" y="0"/>
                </a:cubicBezTo>
                <a:close/>
              </a:path>
            </a:pathLst>
          </a:custGeom>
          <a:solidFill>
            <a:srgbClr val="5A7D7C">
              <a:alpha val="10196"/>
            </a:srgbClr>
          </a:solidFill>
          <a:ln/>
        </p:spPr>
        <p:txBody>
          <a:bodyPr/>
          <a:lstStyle/>
          <a:p>
            <a:endParaRPr lang="en-US"/>
          </a:p>
        </p:txBody>
      </p:sp>
      <p:sp>
        <p:nvSpPr>
          <p:cNvPr id="22" name="Shape 20"/>
          <p:cNvSpPr/>
          <p:nvPr/>
        </p:nvSpPr>
        <p:spPr>
          <a:xfrm>
            <a:off x="6513784" y="1931372"/>
            <a:ext cx="274943" cy="274943"/>
          </a:xfrm>
          <a:custGeom>
            <a:avLst/>
            <a:gdLst/>
            <a:ahLst/>
            <a:cxnLst/>
            <a:rect l="l" t="t" r="r" b="b"/>
            <a:pathLst>
              <a:path w="274943" h="274943">
                <a:moveTo>
                  <a:pt x="137471" y="0"/>
                </a:moveTo>
                <a:lnTo>
                  <a:pt x="137471" y="0"/>
                </a:lnTo>
                <a:cubicBezTo>
                  <a:pt x="213344" y="0"/>
                  <a:pt x="274943" y="61599"/>
                  <a:pt x="274943" y="137471"/>
                </a:cubicBezTo>
                <a:lnTo>
                  <a:pt x="274943" y="137471"/>
                </a:lnTo>
                <a:cubicBezTo>
                  <a:pt x="274943" y="213344"/>
                  <a:pt x="213344" y="274943"/>
                  <a:pt x="137471" y="274943"/>
                </a:cubicBezTo>
                <a:lnTo>
                  <a:pt x="137471" y="274943"/>
                </a:lnTo>
                <a:cubicBezTo>
                  <a:pt x="61599" y="274943"/>
                  <a:pt x="0" y="213344"/>
                  <a:pt x="0" y="137471"/>
                </a:cubicBezTo>
                <a:lnTo>
                  <a:pt x="0" y="137471"/>
                </a:lnTo>
                <a:cubicBezTo>
                  <a:pt x="0" y="61599"/>
                  <a:pt x="61599" y="0"/>
                  <a:pt x="137471" y="0"/>
                </a:cubicBezTo>
                <a:close/>
              </a:path>
            </a:pathLst>
          </a:custGeom>
          <a:solidFill>
            <a:srgbClr val="5A7D7C"/>
          </a:solidFill>
          <a:ln/>
        </p:spPr>
        <p:txBody>
          <a:bodyPr/>
          <a:lstStyle/>
          <a:p>
            <a:endParaRPr lang="en-US"/>
          </a:p>
        </p:txBody>
      </p:sp>
      <p:sp>
        <p:nvSpPr>
          <p:cNvPr id="23" name="Text 21"/>
          <p:cNvSpPr/>
          <p:nvPr/>
        </p:nvSpPr>
        <p:spPr>
          <a:xfrm>
            <a:off x="6479416" y="1931372"/>
            <a:ext cx="343679" cy="274943"/>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4" name="Text 22"/>
          <p:cNvSpPr/>
          <p:nvPr/>
        </p:nvSpPr>
        <p:spPr>
          <a:xfrm>
            <a:off x="6926199" y="1931372"/>
            <a:ext cx="4682622" cy="240575"/>
          </a:xfrm>
          <a:prstGeom prst="rect">
            <a:avLst/>
          </a:prstGeom>
          <a:noFill/>
          <a:ln/>
        </p:spPr>
        <p:txBody>
          <a:bodyPr wrap="square" lIns="0" tIns="0" rIns="0" bIns="0" rtlCol="0" anchor="ctr"/>
          <a:lstStyle/>
          <a:p>
            <a:pPr>
              <a:lnSpc>
                <a:spcPct val="130000"/>
              </a:lnSpc>
            </a:pPr>
            <a:r>
              <a:rPr lang="en-US" sz="1218" b="1" dirty="0">
                <a:solidFill>
                  <a:srgbClr val="E0E2E5"/>
                </a:solidFill>
                <a:latin typeface="Liter" pitchFamily="34" charset="0"/>
                <a:ea typeface="Liter" pitchFamily="34" charset="-122"/>
                <a:cs typeface="Liter" pitchFamily="34" charset="-120"/>
              </a:rPr>
              <a:t>Grayscale Conversion</a:t>
            </a:r>
            <a:endParaRPr lang="en-US" sz="1600" dirty="0"/>
          </a:p>
        </p:txBody>
      </p:sp>
      <p:sp>
        <p:nvSpPr>
          <p:cNvPr id="25" name="Text 23"/>
          <p:cNvSpPr/>
          <p:nvPr/>
        </p:nvSpPr>
        <p:spPr>
          <a:xfrm>
            <a:off x="6926199" y="2206315"/>
            <a:ext cx="4665438" cy="335087"/>
          </a:xfrm>
          <a:prstGeom prst="rect">
            <a:avLst/>
          </a:prstGeom>
          <a:noFill/>
          <a:ln/>
        </p:spPr>
        <p:txBody>
          <a:bodyPr wrap="square" lIns="0" tIns="0" rIns="0" bIns="0" rtlCol="0" anchor="ctr"/>
          <a:lstStyle/>
          <a:p>
            <a:pPr>
              <a:lnSpc>
                <a:spcPct val="110000"/>
              </a:lnSpc>
            </a:pPr>
            <a:r>
              <a:rPr lang="en-US" sz="947" dirty="0">
                <a:solidFill>
                  <a:srgbClr val="E0E2E5">
                    <a:alpha val="80000"/>
                  </a:srgbClr>
                </a:solidFill>
                <a:latin typeface="Quattrocento Sans" pitchFamily="34" charset="0"/>
                <a:ea typeface="Quattrocento Sans" pitchFamily="34" charset="-122"/>
                <a:cs typeface="Quattrocento Sans" pitchFamily="34" charset="-120"/>
              </a:rPr>
              <a:t>Converts RGB to grayscale, simplifying processing by using single intensity channel and reducing computational complexity.</a:t>
            </a:r>
            <a:endParaRPr lang="en-US" sz="1600" dirty="0"/>
          </a:p>
        </p:txBody>
      </p:sp>
      <p:sp>
        <p:nvSpPr>
          <p:cNvPr id="26" name="Shape 24"/>
          <p:cNvSpPr/>
          <p:nvPr/>
        </p:nvSpPr>
        <p:spPr>
          <a:xfrm>
            <a:off x="6410681" y="2743312"/>
            <a:ext cx="5223915" cy="816237"/>
          </a:xfrm>
          <a:custGeom>
            <a:avLst/>
            <a:gdLst/>
            <a:ahLst/>
            <a:cxnLst/>
            <a:rect l="l" t="t" r="r" b="b"/>
            <a:pathLst>
              <a:path w="5223915" h="816237">
                <a:moveTo>
                  <a:pt x="68735" y="0"/>
                </a:moveTo>
                <a:lnTo>
                  <a:pt x="5155180" y="0"/>
                </a:lnTo>
                <a:cubicBezTo>
                  <a:pt x="5193142" y="0"/>
                  <a:pt x="5223915" y="30774"/>
                  <a:pt x="5223915" y="68735"/>
                </a:cubicBezTo>
                <a:lnTo>
                  <a:pt x="5223915" y="747501"/>
                </a:lnTo>
                <a:cubicBezTo>
                  <a:pt x="5223915" y="785463"/>
                  <a:pt x="5193142" y="816237"/>
                  <a:pt x="5155180" y="816237"/>
                </a:cubicBezTo>
                <a:lnTo>
                  <a:pt x="68735" y="816237"/>
                </a:lnTo>
                <a:cubicBezTo>
                  <a:pt x="30774" y="816237"/>
                  <a:pt x="0" y="785463"/>
                  <a:pt x="0" y="747501"/>
                </a:cubicBezTo>
                <a:lnTo>
                  <a:pt x="0" y="68735"/>
                </a:lnTo>
                <a:cubicBezTo>
                  <a:pt x="0" y="30799"/>
                  <a:pt x="30799" y="0"/>
                  <a:pt x="68735" y="0"/>
                </a:cubicBezTo>
                <a:close/>
              </a:path>
            </a:pathLst>
          </a:custGeom>
          <a:solidFill>
            <a:srgbClr val="4A6C8C">
              <a:alpha val="10196"/>
            </a:srgbClr>
          </a:solidFill>
          <a:ln/>
        </p:spPr>
        <p:txBody>
          <a:bodyPr/>
          <a:lstStyle/>
          <a:p>
            <a:endParaRPr lang="en-US"/>
          </a:p>
        </p:txBody>
      </p:sp>
      <p:sp>
        <p:nvSpPr>
          <p:cNvPr id="27" name="Shape 25"/>
          <p:cNvSpPr/>
          <p:nvPr/>
        </p:nvSpPr>
        <p:spPr>
          <a:xfrm>
            <a:off x="6513784" y="2846416"/>
            <a:ext cx="274943" cy="274943"/>
          </a:xfrm>
          <a:custGeom>
            <a:avLst/>
            <a:gdLst/>
            <a:ahLst/>
            <a:cxnLst/>
            <a:rect l="l" t="t" r="r" b="b"/>
            <a:pathLst>
              <a:path w="274943" h="274943">
                <a:moveTo>
                  <a:pt x="137471" y="0"/>
                </a:moveTo>
                <a:lnTo>
                  <a:pt x="137471" y="0"/>
                </a:lnTo>
                <a:cubicBezTo>
                  <a:pt x="213344" y="0"/>
                  <a:pt x="274943" y="61599"/>
                  <a:pt x="274943" y="137471"/>
                </a:cubicBezTo>
                <a:lnTo>
                  <a:pt x="274943" y="137471"/>
                </a:lnTo>
                <a:cubicBezTo>
                  <a:pt x="274943" y="213344"/>
                  <a:pt x="213344" y="274943"/>
                  <a:pt x="137471" y="274943"/>
                </a:cubicBezTo>
                <a:lnTo>
                  <a:pt x="137471" y="274943"/>
                </a:lnTo>
                <a:cubicBezTo>
                  <a:pt x="61599" y="274943"/>
                  <a:pt x="0" y="213344"/>
                  <a:pt x="0" y="137471"/>
                </a:cubicBezTo>
                <a:lnTo>
                  <a:pt x="0" y="137471"/>
                </a:lnTo>
                <a:cubicBezTo>
                  <a:pt x="0" y="61599"/>
                  <a:pt x="61599" y="0"/>
                  <a:pt x="137471" y="0"/>
                </a:cubicBezTo>
                <a:close/>
              </a:path>
            </a:pathLst>
          </a:custGeom>
          <a:solidFill>
            <a:srgbClr val="4A6C8C"/>
          </a:solidFill>
          <a:ln/>
        </p:spPr>
        <p:txBody>
          <a:bodyPr/>
          <a:lstStyle/>
          <a:p>
            <a:endParaRPr lang="en-US"/>
          </a:p>
        </p:txBody>
      </p:sp>
      <p:sp>
        <p:nvSpPr>
          <p:cNvPr id="28" name="Text 26"/>
          <p:cNvSpPr/>
          <p:nvPr/>
        </p:nvSpPr>
        <p:spPr>
          <a:xfrm>
            <a:off x="6479416" y="2846416"/>
            <a:ext cx="343679" cy="274943"/>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9" name="Text 27"/>
          <p:cNvSpPr/>
          <p:nvPr/>
        </p:nvSpPr>
        <p:spPr>
          <a:xfrm>
            <a:off x="6926199" y="2846416"/>
            <a:ext cx="4682622" cy="240575"/>
          </a:xfrm>
          <a:prstGeom prst="rect">
            <a:avLst/>
          </a:prstGeom>
          <a:noFill/>
          <a:ln/>
        </p:spPr>
        <p:txBody>
          <a:bodyPr wrap="square" lIns="0" tIns="0" rIns="0" bIns="0" rtlCol="0" anchor="ctr"/>
          <a:lstStyle/>
          <a:p>
            <a:pPr>
              <a:lnSpc>
                <a:spcPct val="130000"/>
              </a:lnSpc>
            </a:pPr>
            <a:r>
              <a:rPr lang="en-US" sz="1218" b="1" dirty="0">
                <a:solidFill>
                  <a:srgbClr val="E0E2E5"/>
                </a:solidFill>
                <a:latin typeface="Liter" pitchFamily="34" charset="0"/>
                <a:ea typeface="Liter" pitchFamily="34" charset="-122"/>
                <a:cs typeface="Liter" pitchFamily="34" charset="-120"/>
              </a:rPr>
              <a:t>Adaptive Thresholding</a:t>
            </a:r>
            <a:endParaRPr lang="en-US" sz="1600" dirty="0"/>
          </a:p>
        </p:txBody>
      </p:sp>
      <p:sp>
        <p:nvSpPr>
          <p:cNvPr id="30" name="Text 28"/>
          <p:cNvSpPr/>
          <p:nvPr/>
        </p:nvSpPr>
        <p:spPr>
          <a:xfrm>
            <a:off x="6926199" y="3121359"/>
            <a:ext cx="4665438" cy="335087"/>
          </a:xfrm>
          <a:prstGeom prst="rect">
            <a:avLst/>
          </a:prstGeom>
          <a:noFill/>
          <a:ln/>
        </p:spPr>
        <p:txBody>
          <a:bodyPr wrap="square" lIns="0" tIns="0" rIns="0" bIns="0" rtlCol="0" anchor="ctr"/>
          <a:lstStyle/>
          <a:p>
            <a:pPr>
              <a:lnSpc>
                <a:spcPct val="110000"/>
              </a:lnSpc>
            </a:pPr>
            <a:r>
              <a:rPr lang="en-US" sz="947" dirty="0">
                <a:solidFill>
                  <a:srgbClr val="E0E2E5">
                    <a:alpha val="80000"/>
                  </a:srgbClr>
                </a:solidFill>
                <a:latin typeface="Quattrocento Sans" pitchFamily="34" charset="0"/>
                <a:ea typeface="Quattrocento Sans" pitchFamily="34" charset="-122"/>
                <a:cs typeface="Quattrocento Sans" pitchFamily="34" charset="-120"/>
              </a:rPr>
              <a:t>Segments image into binary regions using adaptive threshold, separating object from background based on local intensity.</a:t>
            </a:r>
            <a:endParaRPr lang="en-US" sz="1600" dirty="0"/>
          </a:p>
        </p:txBody>
      </p:sp>
      <p:sp>
        <p:nvSpPr>
          <p:cNvPr id="31" name="Shape 29"/>
          <p:cNvSpPr/>
          <p:nvPr/>
        </p:nvSpPr>
        <p:spPr>
          <a:xfrm>
            <a:off x="6410681" y="3658357"/>
            <a:ext cx="5223915" cy="816237"/>
          </a:xfrm>
          <a:custGeom>
            <a:avLst/>
            <a:gdLst/>
            <a:ahLst/>
            <a:cxnLst/>
            <a:rect l="l" t="t" r="r" b="b"/>
            <a:pathLst>
              <a:path w="5223915" h="816237">
                <a:moveTo>
                  <a:pt x="68735" y="0"/>
                </a:moveTo>
                <a:lnTo>
                  <a:pt x="5155180" y="0"/>
                </a:lnTo>
                <a:cubicBezTo>
                  <a:pt x="5193142" y="0"/>
                  <a:pt x="5223915" y="30774"/>
                  <a:pt x="5223915" y="68735"/>
                </a:cubicBezTo>
                <a:lnTo>
                  <a:pt x="5223915" y="747501"/>
                </a:lnTo>
                <a:cubicBezTo>
                  <a:pt x="5223915" y="785463"/>
                  <a:pt x="5193142" y="816237"/>
                  <a:pt x="5155180" y="816237"/>
                </a:cubicBezTo>
                <a:lnTo>
                  <a:pt x="68735" y="816237"/>
                </a:lnTo>
                <a:cubicBezTo>
                  <a:pt x="30774" y="816237"/>
                  <a:pt x="0" y="785463"/>
                  <a:pt x="0" y="747501"/>
                </a:cubicBezTo>
                <a:lnTo>
                  <a:pt x="0" y="68735"/>
                </a:lnTo>
                <a:cubicBezTo>
                  <a:pt x="0" y="30799"/>
                  <a:pt x="30799" y="0"/>
                  <a:pt x="68735" y="0"/>
                </a:cubicBezTo>
                <a:close/>
              </a:path>
            </a:pathLst>
          </a:custGeom>
          <a:solidFill>
            <a:srgbClr val="B8A890">
              <a:alpha val="10196"/>
            </a:srgbClr>
          </a:solidFill>
          <a:ln/>
        </p:spPr>
        <p:txBody>
          <a:bodyPr/>
          <a:lstStyle/>
          <a:p>
            <a:endParaRPr lang="en-US"/>
          </a:p>
        </p:txBody>
      </p:sp>
      <p:sp>
        <p:nvSpPr>
          <p:cNvPr id="32" name="Shape 30"/>
          <p:cNvSpPr/>
          <p:nvPr/>
        </p:nvSpPr>
        <p:spPr>
          <a:xfrm>
            <a:off x="6513784" y="3761460"/>
            <a:ext cx="274943" cy="274943"/>
          </a:xfrm>
          <a:custGeom>
            <a:avLst/>
            <a:gdLst/>
            <a:ahLst/>
            <a:cxnLst/>
            <a:rect l="l" t="t" r="r" b="b"/>
            <a:pathLst>
              <a:path w="274943" h="274943">
                <a:moveTo>
                  <a:pt x="137471" y="0"/>
                </a:moveTo>
                <a:lnTo>
                  <a:pt x="137471" y="0"/>
                </a:lnTo>
                <a:cubicBezTo>
                  <a:pt x="213344" y="0"/>
                  <a:pt x="274943" y="61599"/>
                  <a:pt x="274943" y="137471"/>
                </a:cubicBezTo>
                <a:lnTo>
                  <a:pt x="274943" y="137471"/>
                </a:lnTo>
                <a:cubicBezTo>
                  <a:pt x="274943" y="213344"/>
                  <a:pt x="213344" y="274943"/>
                  <a:pt x="137471" y="274943"/>
                </a:cubicBezTo>
                <a:lnTo>
                  <a:pt x="137471" y="274943"/>
                </a:lnTo>
                <a:cubicBezTo>
                  <a:pt x="61599" y="274943"/>
                  <a:pt x="0" y="213344"/>
                  <a:pt x="0" y="137471"/>
                </a:cubicBezTo>
                <a:lnTo>
                  <a:pt x="0" y="137471"/>
                </a:lnTo>
                <a:cubicBezTo>
                  <a:pt x="0" y="61599"/>
                  <a:pt x="61599" y="0"/>
                  <a:pt x="137471" y="0"/>
                </a:cubicBezTo>
                <a:close/>
              </a:path>
            </a:pathLst>
          </a:custGeom>
          <a:solidFill>
            <a:srgbClr val="B8A890"/>
          </a:solidFill>
          <a:ln/>
        </p:spPr>
        <p:txBody>
          <a:bodyPr/>
          <a:lstStyle/>
          <a:p>
            <a:endParaRPr lang="en-US"/>
          </a:p>
        </p:txBody>
      </p:sp>
      <p:sp>
        <p:nvSpPr>
          <p:cNvPr id="33" name="Text 31"/>
          <p:cNvSpPr/>
          <p:nvPr/>
        </p:nvSpPr>
        <p:spPr>
          <a:xfrm>
            <a:off x="6479416" y="3761460"/>
            <a:ext cx="343679" cy="274943"/>
          </a:xfrm>
          <a:prstGeom prst="rect">
            <a:avLst/>
          </a:prstGeom>
          <a:noFill/>
          <a:ln/>
        </p:spPr>
        <p:txBody>
          <a:bodyPr wrap="square" lIns="0" tIns="0" rIns="0" bIns="0" rtlCol="0" anchor="ctr"/>
          <a:lstStyle/>
          <a:p>
            <a:pPr algn="ctr">
              <a:lnSpc>
                <a:spcPct val="130000"/>
              </a:lnSpc>
            </a:pPr>
            <a:r>
              <a:rPr lang="en-US" sz="1082"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34" name="Text 32"/>
          <p:cNvSpPr/>
          <p:nvPr/>
        </p:nvSpPr>
        <p:spPr>
          <a:xfrm>
            <a:off x="6926199" y="3761460"/>
            <a:ext cx="4682622" cy="240575"/>
          </a:xfrm>
          <a:prstGeom prst="rect">
            <a:avLst/>
          </a:prstGeom>
          <a:noFill/>
          <a:ln/>
        </p:spPr>
        <p:txBody>
          <a:bodyPr wrap="square" lIns="0" tIns="0" rIns="0" bIns="0" rtlCol="0" anchor="ctr"/>
          <a:lstStyle/>
          <a:p>
            <a:pPr>
              <a:lnSpc>
                <a:spcPct val="130000"/>
              </a:lnSpc>
            </a:pPr>
            <a:r>
              <a:rPr lang="en-US" sz="1218" b="1" dirty="0">
                <a:solidFill>
                  <a:srgbClr val="E0E2E5"/>
                </a:solidFill>
                <a:latin typeface="Liter" pitchFamily="34" charset="0"/>
                <a:ea typeface="Liter" pitchFamily="34" charset="-122"/>
                <a:cs typeface="Liter" pitchFamily="34" charset="-120"/>
              </a:rPr>
              <a:t>Morphological Erosion</a:t>
            </a:r>
            <a:endParaRPr lang="en-US" sz="1600" dirty="0"/>
          </a:p>
        </p:txBody>
      </p:sp>
      <p:sp>
        <p:nvSpPr>
          <p:cNvPr id="35" name="Text 33"/>
          <p:cNvSpPr/>
          <p:nvPr/>
        </p:nvSpPr>
        <p:spPr>
          <a:xfrm>
            <a:off x="6926199" y="4036403"/>
            <a:ext cx="4665438" cy="335087"/>
          </a:xfrm>
          <a:prstGeom prst="rect">
            <a:avLst/>
          </a:prstGeom>
          <a:noFill/>
          <a:ln/>
        </p:spPr>
        <p:txBody>
          <a:bodyPr wrap="square" lIns="0" tIns="0" rIns="0" bIns="0" rtlCol="0" anchor="ctr"/>
          <a:lstStyle/>
          <a:p>
            <a:pPr>
              <a:lnSpc>
                <a:spcPct val="110000"/>
              </a:lnSpc>
            </a:pPr>
            <a:r>
              <a:rPr lang="en-US" sz="947" dirty="0">
                <a:solidFill>
                  <a:srgbClr val="E0E2E5">
                    <a:alpha val="80000"/>
                  </a:srgbClr>
                </a:solidFill>
                <a:latin typeface="Quattrocento Sans" pitchFamily="34" charset="0"/>
                <a:ea typeface="Quattrocento Sans" pitchFamily="34" charset="-122"/>
                <a:cs typeface="Quattrocento Sans" pitchFamily="34" charset="-120"/>
              </a:rPr>
              <a:t>Erodes object boundaries to remove small noise, refine shape, and eliminate spurious details for cleaner segmentation.</a:t>
            </a:r>
            <a:endParaRPr lang="en-US" sz="1600" dirty="0"/>
          </a:p>
        </p:txBody>
      </p:sp>
      <p:sp>
        <p:nvSpPr>
          <p:cNvPr id="36" name="Shape 34"/>
          <p:cNvSpPr/>
          <p:nvPr/>
        </p:nvSpPr>
        <p:spPr>
          <a:xfrm>
            <a:off x="6410681" y="4573401"/>
            <a:ext cx="5223915" cy="816237"/>
          </a:xfrm>
          <a:custGeom>
            <a:avLst/>
            <a:gdLst/>
            <a:ahLst/>
            <a:cxnLst/>
            <a:rect l="l" t="t" r="r" b="b"/>
            <a:pathLst>
              <a:path w="5223915" h="816237">
                <a:moveTo>
                  <a:pt x="68735" y="0"/>
                </a:moveTo>
                <a:lnTo>
                  <a:pt x="5155180" y="0"/>
                </a:lnTo>
                <a:cubicBezTo>
                  <a:pt x="5193142" y="0"/>
                  <a:pt x="5223915" y="30774"/>
                  <a:pt x="5223915" y="68735"/>
                </a:cubicBezTo>
                <a:lnTo>
                  <a:pt x="5223915" y="747501"/>
                </a:lnTo>
                <a:cubicBezTo>
                  <a:pt x="5223915" y="785463"/>
                  <a:pt x="5193142" y="816237"/>
                  <a:pt x="5155180" y="816237"/>
                </a:cubicBezTo>
                <a:lnTo>
                  <a:pt x="68735" y="816237"/>
                </a:lnTo>
                <a:cubicBezTo>
                  <a:pt x="30774" y="816237"/>
                  <a:pt x="0" y="785463"/>
                  <a:pt x="0" y="747501"/>
                </a:cubicBezTo>
                <a:lnTo>
                  <a:pt x="0" y="68735"/>
                </a:lnTo>
                <a:cubicBezTo>
                  <a:pt x="0" y="30799"/>
                  <a:pt x="30799" y="0"/>
                  <a:pt x="68735" y="0"/>
                </a:cubicBezTo>
                <a:close/>
              </a:path>
            </a:pathLst>
          </a:custGeom>
          <a:solidFill>
            <a:srgbClr val="5A7D7C">
              <a:alpha val="10196"/>
            </a:srgbClr>
          </a:solidFill>
          <a:ln/>
        </p:spPr>
        <p:txBody>
          <a:bodyPr/>
          <a:lstStyle/>
          <a:p>
            <a:endParaRPr lang="en-US"/>
          </a:p>
        </p:txBody>
      </p:sp>
      <p:sp>
        <p:nvSpPr>
          <p:cNvPr id="37" name="Shape 35"/>
          <p:cNvSpPr/>
          <p:nvPr/>
        </p:nvSpPr>
        <p:spPr>
          <a:xfrm>
            <a:off x="6513784" y="4676505"/>
            <a:ext cx="274943" cy="274943"/>
          </a:xfrm>
          <a:custGeom>
            <a:avLst/>
            <a:gdLst/>
            <a:ahLst/>
            <a:cxnLst/>
            <a:rect l="l" t="t" r="r" b="b"/>
            <a:pathLst>
              <a:path w="274943" h="274943">
                <a:moveTo>
                  <a:pt x="137471" y="0"/>
                </a:moveTo>
                <a:lnTo>
                  <a:pt x="137471" y="0"/>
                </a:lnTo>
                <a:cubicBezTo>
                  <a:pt x="213344" y="0"/>
                  <a:pt x="274943" y="61599"/>
                  <a:pt x="274943" y="137471"/>
                </a:cubicBezTo>
                <a:lnTo>
                  <a:pt x="274943" y="137471"/>
                </a:lnTo>
                <a:cubicBezTo>
                  <a:pt x="274943" y="213344"/>
                  <a:pt x="213344" y="274943"/>
                  <a:pt x="137471" y="274943"/>
                </a:cubicBezTo>
                <a:lnTo>
                  <a:pt x="137471" y="274943"/>
                </a:lnTo>
                <a:cubicBezTo>
                  <a:pt x="61599" y="274943"/>
                  <a:pt x="0" y="213344"/>
                  <a:pt x="0" y="137471"/>
                </a:cubicBezTo>
                <a:lnTo>
                  <a:pt x="0" y="137471"/>
                </a:lnTo>
                <a:cubicBezTo>
                  <a:pt x="0" y="61599"/>
                  <a:pt x="61599" y="0"/>
                  <a:pt x="137471" y="0"/>
                </a:cubicBezTo>
                <a:close/>
              </a:path>
            </a:pathLst>
          </a:custGeom>
          <a:solidFill>
            <a:srgbClr val="5A7D7C"/>
          </a:solidFill>
          <a:ln/>
        </p:spPr>
        <p:txBody>
          <a:bodyPr/>
          <a:lstStyle/>
          <a:p>
            <a:endParaRPr lang="en-US"/>
          </a:p>
        </p:txBody>
      </p:sp>
      <p:sp>
        <p:nvSpPr>
          <p:cNvPr id="38" name="Text 36"/>
          <p:cNvSpPr/>
          <p:nvPr/>
        </p:nvSpPr>
        <p:spPr>
          <a:xfrm>
            <a:off x="6479416" y="4676505"/>
            <a:ext cx="343679" cy="274943"/>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9" name="Text 37"/>
          <p:cNvSpPr/>
          <p:nvPr/>
        </p:nvSpPr>
        <p:spPr>
          <a:xfrm>
            <a:off x="6926199" y="4676505"/>
            <a:ext cx="4682622" cy="240575"/>
          </a:xfrm>
          <a:prstGeom prst="rect">
            <a:avLst/>
          </a:prstGeom>
          <a:noFill/>
          <a:ln/>
        </p:spPr>
        <p:txBody>
          <a:bodyPr wrap="square" lIns="0" tIns="0" rIns="0" bIns="0" rtlCol="0" anchor="ctr"/>
          <a:lstStyle/>
          <a:p>
            <a:pPr>
              <a:lnSpc>
                <a:spcPct val="130000"/>
              </a:lnSpc>
            </a:pPr>
            <a:r>
              <a:rPr lang="en-US" sz="1218" b="1" dirty="0">
                <a:solidFill>
                  <a:srgbClr val="E0E2E5"/>
                </a:solidFill>
                <a:latin typeface="Liter" pitchFamily="34" charset="0"/>
                <a:ea typeface="Liter" pitchFamily="34" charset="-122"/>
                <a:cs typeface="Liter" pitchFamily="34" charset="-120"/>
              </a:rPr>
              <a:t>Morphological Dilation</a:t>
            </a:r>
            <a:endParaRPr lang="en-US" sz="1600" dirty="0"/>
          </a:p>
        </p:txBody>
      </p:sp>
      <p:sp>
        <p:nvSpPr>
          <p:cNvPr id="40" name="Text 38"/>
          <p:cNvSpPr/>
          <p:nvPr/>
        </p:nvSpPr>
        <p:spPr>
          <a:xfrm>
            <a:off x="6926199" y="4951448"/>
            <a:ext cx="4665438" cy="335087"/>
          </a:xfrm>
          <a:prstGeom prst="rect">
            <a:avLst/>
          </a:prstGeom>
          <a:noFill/>
          <a:ln/>
        </p:spPr>
        <p:txBody>
          <a:bodyPr wrap="square" lIns="0" tIns="0" rIns="0" bIns="0" rtlCol="0" anchor="ctr"/>
          <a:lstStyle/>
          <a:p>
            <a:pPr>
              <a:lnSpc>
                <a:spcPct val="110000"/>
              </a:lnSpc>
            </a:pPr>
            <a:r>
              <a:rPr lang="en-US" sz="947" dirty="0">
                <a:solidFill>
                  <a:srgbClr val="E0E2E5">
                    <a:alpha val="80000"/>
                  </a:srgbClr>
                </a:solidFill>
                <a:latin typeface="Quattrocento Sans" pitchFamily="34" charset="0"/>
                <a:ea typeface="Quattrocento Sans" pitchFamily="34" charset="-122"/>
                <a:cs typeface="Quattrocento Sans" pitchFamily="34" charset="-120"/>
              </a:rPr>
              <a:t>Dilates boundaries to enhance visibility, close gaps, and produce thick, prominent boundaries for analysis.</a:t>
            </a:r>
            <a:endParaRPr lang="en-US" sz="1600" dirty="0"/>
          </a:p>
        </p:txBody>
      </p:sp>
      <p:sp>
        <p:nvSpPr>
          <p:cNvPr id="41" name="Shape 39"/>
          <p:cNvSpPr/>
          <p:nvPr/>
        </p:nvSpPr>
        <p:spPr>
          <a:xfrm>
            <a:off x="6410681" y="5488446"/>
            <a:ext cx="5223915" cy="816237"/>
          </a:xfrm>
          <a:custGeom>
            <a:avLst/>
            <a:gdLst/>
            <a:ahLst/>
            <a:cxnLst/>
            <a:rect l="l" t="t" r="r" b="b"/>
            <a:pathLst>
              <a:path w="5223915" h="816237">
                <a:moveTo>
                  <a:pt x="68735" y="0"/>
                </a:moveTo>
                <a:lnTo>
                  <a:pt x="5155180" y="0"/>
                </a:lnTo>
                <a:cubicBezTo>
                  <a:pt x="5193142" y="0"/>
                  <a:pt x="5223915" y="30774"/>
                  <a:pt x="5223915" y="68735"/>
                </a:cubicBezTo>
                <a:lnTo>
                  <a:pt x="5223915" y="747501"/>
                </a:lnTo>
                <a:cubicBezTo>
                  <a:pt x="5223915" y="785463"/>
                  <a:pt x="5193142" y="816237"/>
                  <a:pt x="5155180" y="816237"/>
                </a:cubicBezTo>
                <a:lnTo>
                  <a:pt x="68735" y="816237"/>
                </a:lnTo>
                <a:cubicBezTo>
                  <a:pt x="30774" y="816237"/>
                  <a:pt x="0" y="785463"/>
                  <a:pt x="0" y="747501"/>
                </a:cubicBezTo>
                <a:lnTo>
                  <a:pt x="0" y="68735"/>
                </a:lnTo>
                <a:cubicBezTo>
                  <a:pt x="0" y="30799"/>
                  <a:pt x="30799" y="0"/>
                  <a:pt x="68735" y="0"/>
                </a:cubicBezTo>
                <a:close/>
              </a:path>
            </a:pathLst>
          </a:custGeom>
          <a:solidFill>
            <a:srgbClr val="4A6C8C">
              <a:alpha val="10196"/>
            </a:srgbClr>
          </a:solidFill>
          <a:ln/>
        </p:spPr>
        <p:txBody>
          <a:bodyPr/>
          <a:lstStyle/>
          <a:p>
            <a:endParaRPr lang="en-US"/>
          </a:p>
        </p:txBody>
      </p:sp>
      <p:sp>
        <p:nvSpPr>
          <p:cNvPr id="42" name="Shape 40"/>
          <p:cNvSpPr/>
          <p:nvPr/>
        </p:nvSpPr>
        <p:spPr>
          <a:xfrm>
            <a:off x="6513784" y="5591549"/>
            <a:ext cx="274943" cy="274943"/>
          </a:xfrm>
          <a:custGeom>
            <a:avLst/>
            <a:gdLst/>
            <a:ahLst/>
            <a:cxnLst/>
            <a:rect l="l" t="t" r="r" b="b"/>
            <a:pathLst>
              <a:path w="274943" h="274943">
                <a:moveTo>
                  <a:pt x="137471" y="0"/>
                </a:moveTo>
                <a:lnTo>
                  <a:pt x="137471" y="0"/>
                </a:lnTo>
                <a:cubicBezTo>
                  <a:pt x="213344" y="0"/>
                  <a:pt x="274943" y="61599"/>
                  <a:pt x="274943" y="137471"/>
                </a:cubicBezTo>
                <a:lnTo>
                  <a:pt x="274943" y="137471"/>
                </a:lnTo>
                <a:cubicBezTo>
                  <a:pt x="274943" y="213344"/>
                  <a:pt x="213344" y="274943"/>
                  <a:pt x="137471" y="274943"/>
                </a:cubicBezTo>
                <a:lnTo>
                  <a:pt x="137471" y="274943"/>
                </a:lnTo>
                <a:cubicBezTo>
                  <a:pt x="61599" y="274943"/>
                  <a:pt x="0" y="213344"/>
                  <a:pt x="0" y="137471"/>
                </a:cubicBezTo>
                <a:lnTo>
                  <a:pt x="0" y="137471"/>
                </a:lnTo>
                <a:cubicBezTo>
                  <a:pt x="0" y="61599"/>
                  <a:pt x="61599" y="0"/>
                  <a:pt x="137471" y="0"/>
                </a:cubicBezTo>
                <a:close/>
              </a:path>
            </a:pathLst>
          </a:custGeom>
          <a:solidFill>
            <a:srgbClr val="4A6C8C"/>
          </a:solidFill>
          <a:ln/>
        </p:spPr>
        <p:txBody>
          <a:bodyPr/>
          <a:lstStyle/>
          <a:p>
            <a:endParaRPr lang="en-US"/>
          </a:p>
        </p:txBody>
      </p:sp>
      <p:sp>
        <p:nvSpPr>
          <p:cNvPr id="43" name="Text 41"/>
          <p:cNvSpPr/>
          <p:nvPr/>
        </p:nvSpPr>
        <p:spPr>
          <a:xfrm>
            <a:off x="6479416" y="5591549"/>
            <a:ext cx="343679" cy="274943"/>
          </a:xfrm>
          <a:prstGeom prst="rect">
            <a:avLst/>
          </a:prstGeom>
          <a:noFill/>
          <a:ln/>
        </p:spPr>
        <p:txBody>
          <a:bodyPr wrap="square" lIns="0" tIns="0" rIns="0" bIns="0" rtlCol="0" anchor="ctr"/>
          <a:lstStyle/>
          <a:p>
            <a:pPr algn="ctr">
              <a:lnSpc>
                <a:spcPct val="130000"/>
              </a:lnSpc>
            </a:pPr>
            <a:r>
              <a:rPr lang="en-US" sz="1082"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44" name="Text 42"/>
          <p:cNvSpPr/>
          <p:nvPr/>
        </p:nvSpPr>
        <p:spPr>
          <a:xfrm>
            <a:off x="6926199" y="5591549"/>
            <a:ext cx="4682622" cy="240575"/>
          </a:xfrm>
          <a:prstGeom prst="rect">
            <a:avLst/>
          </a:prstGeom>
          <a:noFill/>
          <a:ln/>
        </p:spPr>
        <p:txBody>
          <a:bodyPr wrap="square" lIns="0" tIns="0" rIns="0" bIns="0" rtlCol="0" anchor="ctr"/>
          <a:lstStyle/>
          <a:p>
            <a:pPr>
              <a:lnSpc>
                <a:spcPct val="130000"/>
              </a:lnSpc>
            </a:pPr>
            <a:r>
              <a:rPr lang="en-US" sz="1218" b="1" dirty="0">
                <a:solidFill>
                  <a:srgbClr val="E0E2E5"/>
                </a:solidFill>
                <a:latin typeface="Liter" pitchFamily="34" charset="0"/>
                <a:ea typeface="Liter" pitchFamily="34" charset="-122"/>
                <a:cs typeface="Liter" pitchFamily="34" charset="-120"/>
              </a:rPr>
              <a:t>Boundary Extraction</a:t>
            </a:r>
            <a:endParaRPr lang="en-US" sz="1600" dirty="0"/>
          </a:p>
        </p:txBody>
      </p:sp>
      <p:sp>
        <p:nvSpPr>
          <p:cNvPr id="45" name="Text 43"/>
          <p:cNvSpPr/>
          <p:nvPr/>
        </p:nvSpPr>
        <p:spPr>
          <a:xfrm>
            <a:off x="6926199" y="5866492"/>
            <a:ext cx="4665438" cy="335087"/>
          </a:xfrm>
          <a:prstGeom prst="rect">
            <a:avLst/>
          </a:prstGeom>
          <a:noFill/>
          <a:ln/>
        </p:spPr>
        <p:txBody>
          <a:bodyPr wrap="square" lIns="0" tIns="0" rIns="0" bIns="0" rtlCol="0" anchor="ctr"/>
          <a:lstStyle/>
          <a:p>
            <a:pPr>
              <a:lnSpc>
                <a:spcPct val="110000"/>
              </a:lnSpc>
            </a:pPr>
            <a:r>
              <a:rPr lang="en-US" sz="947" dirty="0">
                <a:solidFill>
                  <a:srgbClr val="E0E2E5">
                    <a:alpha val="80000"/>
                  </a:srgbClr>
                </a:solidFill>
                <a:latin typeface="Quattrocento Sans" pitchFamily="34" charset="0"/>
                <a:ea typeface="Quattrocento Sans" pitchFamily="34" charset="-122"/>
                <a:cs typeface="Quattrocento Sans" pitchFamily="34" charset="-120"/>
              </a:rPr>
              <a:t>Extracts precise contours by subtracting eroded from original binary image, yielding thin, accurate boundaries.</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B8A890"/>
                </a:solidFill>
                <a:latin typeface="Quattrocento Sans" pitchFamily="34" charset="0"/>
                <a:ea typeface="Quattrocento Sans" pitchFamily="34" charset="-122"/>
                <a:cs typeface="Quattrocento Sans" pitchFamily="34" charset="-120"/>
              </a:rPr>
              <a:t>METHODOLOGY</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E0E2E5"/>
                </a:solidFill>
                <a:latin typeface="Liter" pitchFamily="34" charset="0"/>
                <a:ea typeface="Liter" pitchFamily="34" charset="-122"/>
                <a:cs typeface="Liter" pitchFamily="34" charset="-120"/>
              </a:rPr>
              <a:t>Processing Pipeline: Step-by-Step Workflow</a:t>
            </a:r>
            <a:endParaRPr lang="en-US" sz="1600" dirty="0"/>
          </a:p>
        </p:txBody>
      </p:sp>
      <p:sp>
        <p:nvSpPr>
          <p:cNvPr id="4" name="Shape 2"/>
          <p:cNvSpPr/>
          <p:nvPr/>
        </p:nvSpPr>
        <p:spPr>
          <a:xfrm>
            <a:off x="333375" y="1111250"/>
            <a:ext cx="2627313" cy="1262063"/>
          </a:xfrm>
          <a:custGeom>
            <a:avLst/>
            <a:gdLst/>
            <a:ahLst/>
            <a:cxnLst/>
            <a:rect l="l" t="t" r="r" b="b"/>
            <a:pathLst>
              <a:path w="2627313" h="1262063">
                <a:moveTo>
                  <a:pt x="31750" y="0"/>
                </a:moveTo>
                <a:lnTo>
                  <a:pt x="2532065" y="0"/>
                </a:lnTo>
                <a:cubicBezTo>
                  <a:pt x="2584633" y="0"/>
                  <a:pt x="2627313" y="42679"/>
                  <a:pt x="2627313" y="95248"/>
                </a:cubicBezTo>
                <a:lnTo>
                  <a:pt x="2627313" y="1166815"/>
                </a:lnTo>
                <a:cubicBezTo>
                  <a:pt x="2627313" y="1219383"/>
                  <a:pt x="2584633" y="1262063"/>
                  <a:pt x="2532065" y="1262063"/>
                </a:cubicBezTo>
                <a:lnTo>
                  <a:pt x="31750" y="1262063"/>
                </a:lnTo>
                <a:cubicBezTo>
                  <a:pt x="14215" y="1262063"/>
                  <a:pt x="0" y="1247848"/>
                  <a:pt x="0" y="1230313"/>
                </a:cubicBezTo>
                <a:lnTo>
                  <a:pt x="0" y="31750"/>
                </a:lnTo>
                <a:cubicBezTo>
                  <a:pt x="0" y="14227"/>
                  <a:pt x="14227" y="0"/>
                  <a:pt x="31750" y="0"/>
                </a:cubicBezTo>
                <a:close/>
              </a:path>
            </a:pathLst>
          </a:custGeom>
          <a:solidFill>
            <a:srgbClr val="4A6C8C">
              <a:alpha val="10196"/>
            </a:srgbClr>
          </a:solidFill>
          <a:ln/>
        </p:spPr>
        <p:txBody>
          <a:bodyPr/>
          <a:lstStyle/>
          <a:p>
            <a:endParaRPr lang="en-US"/>
          </a:p>
        </p:txBody>
      </p:sp>
      <p:sp>
        <p:nvSpPr>
          <p:cNvPr id="5" name="Shape 3"/>
          <p:cNvSpPr/>
          <p:nvPr/>
        </p:nvSpPr>
        <p:spPr>
          <a:xfrm>
            <a:off x="333375" y="1111250"/>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4A6C8C"/>
          </a:solidFill>
          <a:ln/>
        </p:spPr>
        <p:txBody>
          <a:bodyPr/>
          <a:lstStyle/>
          <a:p>
            <a:endParaRPr lang="en-US"/>
          </a:p>
        </p:txBody>
      </p:sp>
      <p:sp>
        <p:nvSpPr>
          <p:cNvPr id="6" name="Shape 4"/>
          <p:cNvSpPr/>
          <p:nvPr/>
        </p:nvSpPr>
        <p:spPr>
          <a:xfrm>
            <a:off x="476250" y="1238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6C8C"/>
          </a:solidFill>
          <a:ln/>
        </p:spPr>
        <p:txBody>
          <a:bodyPr/>
          <a:lstStyle/>
          <a:p>
            <a:endParaRPr lang="en-US"/>
          </a:p>
        </p:txBody>
      </p:sp>
      <p:sp>
        <p:nvSpPr>
          <p:cNvPr id="7" name="Text 5"/>
          <p:cNvSpPr/>
          <p:nvPr/>
        </p:nvSpPr>
        <p:spPr>
          <a:xfrm>
            <a:off x="444500" y="1238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8" name="Text 6"/>
          <p:cNvSpPr/>
          <p:nvPr/>
        </p:nvSpPr>
        <p:spPr>
          <a:xfrm>
            <a:off x="793750" y="1254125"/>
            <a:ext cx="563563"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Original</a:t>
            </a:r>
            <a:endParaRPr lang="en-US" sz="1600" dirty="0"/>
          </a:p>
        </p:txBody>
      </p:sp>
      <p:sp>
        <p:nvSpPr>
          <p:cNvPr id="9" name="Shape 7"/>
          <p:cNvSpPr/>
          <p:nvPr/>
        </p:nvSpPr>
        <p:spPr>
          <a:xfrm>
            <a:off x="476250" y="1555750"/>
            <a:ext cx="2357438" cy="508000"/>
          </a:xfrm>
          <a:custGeom>
            <a:avLst/>
            <a:gdLst/>
            <a:ahLst/>
            <a:cxnLst/>
            <a:rect l="l" t="t" r="r" b="b"/>
            <a:pathLst>
              <a:path w="2357438" h="508000">
                <a:moveTo>
                  <a:pt x="31750" y="0"/>
                </a:moveTo>
                <a:lnTo>
                  <a:pt x="2325688" y="0"/>
                </a:lnTo>
                <a:cubicBezTo>
                  <a:pt x="2343211" y="0"/>
                  <a:pt x="2357438" y="14227"/>
                  <a:pt x="2357438" y="31750"/>
                </a:cubicBezTo>
                <a:lnTo>
                  <a:pt x="2357438" y="476250"/>
                </a:lnTo>
                <a:cubicBezTo>
                  <a:pt x="2357438" y="493773"/>
                  <a:pt x="2343211" y="508000"/>
                  <a:pt x="2325688"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4A6C8C">
                  <a:alpha val="30000"/>
                </a:srgbClr>
              </a:gs>
              <a:gs pos="100000">
                <a:srgbClr val="1A1D21"/>
              </a:gs>
            </a:gsLst>
            <a:lin ang="2700000" scaled="1"/>
          </a:gradFill>
          <a:ln/>
        </p:spPr>
        <p:txBody>
          <a:bodyPr/>
          <a:lstStyle/>
          <a:p>
            <a:endParaRPr lang="en-US"/>
          </a:p>
        </p:txBody>
      </p:sp>
      <p:sp>
        <p:nvSpPr>
          <p:cNvPr id="10" name="Text 8"/>
          <p:cNvSpPr/>
          <p:nvPr/>
        </p:nvSpPr>
        <p:spPr>
          <a:xfrm>
            <a:off x="1393329" y="1730375"/>
            <a:ext cx="579438"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RGB Image</a:t>
            </a:r>
            <a:endParaRPr lang="en-US" sz="1600" dirty="0"/>
          </a:p>
        </p:txBody>
      </p:sp>
      <p:sp>
        <p:nvSpPr>
          <p:cNvPr id="11" name="Text 9"/>
          <p:cNvSpPr/>
          <p:nvPr/>
        </p:nvSpPr>
        <p:spPr>
          <a:xfrm>
            <a:off x="476250" y="2127250"/>
            <a:ext cx="2405063"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Reference color image containing objects of interest</a:t>
            </a:r>
            <a:endParaRPr lang="en-US" sz="1600" dirty="0"/>
          </a:p>
        </p:txBody>
      </p:sp>
      <p:sp>
        <p:nvSpPr>
          <p:cNvPr id="12" name="Shape 10"/>
          <p:cNvSpPr/>
          <p:nvPr/>
        </p:nvSpPr>
        <p:spPr>
          <a:xfrm>
            <a:off x="3046016" y="1662906"/>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B8A890"/>
          </a:solidFill>
          <a:ln/>
        </p:spPr>
        <p:txBody>
          <a:bodyPr/>
          <a:lstStyle/>
          <a:p>
            <a:endParaRPr lang="en-US"/>
          </a:p>
        </p:txBody>
      </p:sp>
      <p:sp>
        <p:nvSpPr>
          <p:cNvPr id="13" name="Shape 11"/>
          <p:cNvSpPr/>
          <p:nvPr/>
        </p:nvSpPr>
        <p:spPr>
          <a:xfrm>
            <a:off x="3303984" y="1111250"/>
            <a:ext cx="2627313" cy="1262063"/>
          </a:xfrm>
          <a:custGeom>
            <a:avLst/>
            <a:gdLst/>
            <a:ahLst/>
            <a:cxnLst/>
            <a:rect l="l" t="t" r="r" b="b"/>
            <a:pathLst>
              <a:path w="2627313" h="1262063">
                <a:moveTo>
                  <a:pt x="31750" y="0"/>
                </a:moveTo>
                <a:lnTo>
                  <a:pt x="2532065" y="0"/>
                </a:lnTo>
                <a:cubicBezTo>
                  <a:pt x="2584633" y="0"/>
                  <a:pt x="2627313" y="42679"/>
                  <a:pt x="2627313" y="95248"/>
                </a:cubicBezTo>
                <a:lnTo>
                  <a:pt x="2627313" y="1166815"/>
                </a:lnTo>
                <a:cubicBezTo>
                  <a:pt x="2627313" y="1219383"/>
                  <a:pt x="2584633" y="1262063"/>
                  <a:pt x="2532065" y="1262063"/>
                </a:cubicBezTo>
                <a:lnTo>
                  <a:pt x="31750" y="1262063"/>
                </a:lnTo>
                <a:cubicBezTo>
                  <a:pt x="14215" y="1262063"/>
                  <a:pt x="0" y="1247848"/>
                  <a:pt x="0" y="1230313"/>
                </a:cubicBezTo>
                <a:lnTo>
                  <a:pt x="0" y="31750"/>
                </a:lnTo>
                <a:cubicBezTo>
                  <a:pt x="0" y="14227"/>
                  <a:pt x="14227" y="0"/>
                  <a:pt x="31750" y="0"/>
                </a:cubicBezTo>
                <a:close/>
              </a:path>
            </a:pathLst>
          </a:custGeom>
          <a:solidFill>
            <a:srgbClr val="5A7D7C">
              <a:alpha val="10196"/>
            </a:srgbClr>
          </a:solidFill>
          <a:ln/>
        </p:spPr>
        <p:txBody>
          <a:bodyPr/>
          <a:lstStyle/>
          <a:p>
            <a:endParaRPr lang="en-US"/>
          </a:p>
        </p:txBody>
      </p:sp>
      <p:sp>
        <p:nvSpPr>
          <p:cNvPr id="14" name="Shape 12"/>
          <p:cNvSpPr/>
          <p:nvPr/>
        </p:nvSpPr>
        <p:spPr>
          <a:xfrm>
            <a:off x="3303984" y="1111250"/>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5A7D7C"/>
          </a:solidFill>
          <a:ln/>
        </p:spPr>
        <p:txBody>
          <a:bodyPr/>
          <a:lstStyle/>
          <a:p>
            <a:endParaRPr lang="en-US"/>
          </a:p>
        </p:txBody>
      </p:sp>
      <p:sp>
        <p:nvSpPr>
          <p:cNvPr id="15" name="Shape 13"/>
          <p:cNvSpPr/>
          <p:nvPr/>
        </p:nvSpPr>
        <p:spPr>
          <a:xfrm>
            <a:off x="3446859" y="1238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A7D7C"/>
          </a:solidFill>
          <a:ln/>
        </p:spPr>
        <p:txBody>
          <a:bodyPr/>
          <a:lstStyle/>
          <a:p>
            <a:endParaRPr lang="en-US"/>
          </a:p>
        </p:txBody>
      </p:sp>
      <p:sp>
        <p:nvSpPr>
          <p:cNvPr id="16" name="Text 14"/>
          <p:cNvSpPr/>
          <p:nvPr/>
        </p:nvSpPr>
        <p:spPr>
          <a:xfrm>
            <a:off x="3415109" y="1238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3764359" y="1254125"/>
            <a:ext cx="698500"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Grayscale</a:t>
            </a:r>
            <a:endParaRPr lang="en-US" sz="1600" dirty="0"/>
          </a:p>
        </p:txBody>
      </p:sp>
      <p:sp>
        <p:nvSpPr>
          <p:cNvPr id="18" name="Shape 16"/>
          <p:cNvSpPr/>
          <p:nvPr/>
        </p:nvSpPr>
        <p:spPr>
          <a:xfrm>
            <a:off x="3446859" y="1555750"/>
            <a:ext cx="2357438" cy="508000"/>
          </a:xfrm>
          <a:custGeom>
            <a:avLst/>
            <a:gdLst/>
            <a:ahLst/>
            <a:cxnLst/>
            <a:rect l="l" t="t" r="r" b="b"/>
            <a:pathLst>
              <a:path w="2357438" h="508000">
                <a:moveTo>
                  <a:pt x="31750" y="0"/>
                </a:moveTo>
                <a:lnTo>
                  <a:pt x="2325688" y="0"/>
                </a:lnTo>
                <a:cubicBezTo>
                  <a:pt x="2343211" y="0"/>
                  <a:pt x="2357438" y="14227"/>
                  <a:pt x="2357438" y="31750"/>
                </a:cubicBezTo>
                <a:lnTo>
                  <a:pt x="2357438" y="476250"/>
                </a:lnTo>
                <a:cubicBezTo>
                  <a:pt x="2357438" y="493773"/>
                  <a:pt x="2343211" y="508000"/>
                  <a:pt x="2325688"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5A7D7C">
                  <a:alpha val="30000"/>
                </a:srgbClr>
              </a:gs>
              <a:gs pos="100000">
                <a:srgbClr val="1A1D21"/>
              </a:gs>
            </a:gsLst>
            <a:lin ang="2700000" scaled="1"/>
          </a:gradFill>
          <a:ln/>
        </p:spPr>
        <p:txBody>
          <a:bodyPr/>
          <a:lstStyle/>
          <a:p>
            <a:endParaRPr lang="en-US"/>
          </a:p>
        </p:txBody>
      </p:sp>
      <p:sp>
        <p:nvSpPr>
          <p:cNvPr id="19" name="Text 17"/>
          <p:cNvSpPr/>
          <p:nvPr/>
        </p:nvSpPr>
        <p:spPr>
          <a:xfrm>
            <a:off x="4301331" y="1730375"/>
            <a:ext cx="706438"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Intensity Map</a:t>
            </a:r>
            <a:endParaRPr lang="en-US" sz="1600" dirty="0"/>
          </a:p>
        </p:txBody>
      </p:sp>
      <p:sp>
        <p:nvSpPr>
          <p:cNvPr id="20" name="Text 18"/>
          <p:cNvSpPr/>
          <p:nvPr/>
        </p:nvSpPr>
        <p:spPr>
          <a:xfrm>
            <a:off x="3446859" y="2127250"/>
            <a:ext cx="2405063"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Reduces complexity, single channel processing</a:t>
            </a:r>
            <a:endParaRPr lang="en-US" sz="1600" dirty="0"/>
          </a:p>
        </p:txBody>
      </p:sp>
      <p:sp>
        <p:nvSpPr>
          <p:cNvPr id="21" name="Shape 19"/>
          <p:cNvSpPr/>
          <p:nvPr/>
        </p:nvSpPr>
        <p:spPr>
          <a:xfrm>
            <a:off x="6016625" y="1662906"/>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B8A890"/>
          </a:solidFill>
          <a:ln/>
        </p:spPr>
        <p:txBody>
          <a:bodyPr/>
          <a:lstStyle/>
          <a:p>
            <a:endParaRPr lang="en-US"/>
          </a:p>
        </p:txBody>
      </p:sp>
      <p:sp>
        <p:nvSpPr>
          <p:cNvPr id="22" name="Shape 20"/>
          <p:cNvSpPr/>
          <p:nvPr/>
        </p:nvSpPr>
        <p:spPr>
          <a:xfrm>
            <a:off x="6274594" y="1111250"/>
            <a:ext cx="2627313" cy="1262063"/>
          </a:xfrm>
          <a:custGeom>
            <a:avLst/>
            <a:gdLst/>
            <a:ahLst/>
            <a:cxnLst/>
            <a:rect l="l" t="t" r="r" b="b"/>
            <a:pathLst>
              <a:path w="2627313" h="1262063">
                <a:moveTo>
                  <a:pt x="31750" y="0"/>
                </a:moveTo>
                <a:lnTo>
                  <a:pt x="2532065" y="0"/>
                </a:lnTo>
                <a:cubicBezTo>
                  <a:pt x="2584633" y="0"/>
                  <a:pt x="2627313" y="42679"/>
                  <a:pt x="2627313" y="95248"/>
                </a:cubicBezTo>
                <a:lnTo>
                  <a:pt x="2627313" y="1166815"/>
                </a:lnTo>
                <a:cubicBezTo>
                  <a:pt x="2627313" y="1219383"/>
                  <a:pt x="2584633" y="1262063"/>
                  <a:pt x="2532065" y="1262063"/>
                </a:cubicBezTo>
                <a:lnTo>
                  <a:pt x="31750" y="1262063"/>
                </a:lnTo>
                <a:cubicBezTo>
                  <a:pt x="14215" y="1262063"/>
                  <a:pt x="0" y="1247848"/>
                  <a:pt x="0" y="1230313"/>
                </a:cubicBezTo>
                <a:lnTo>
                  <a:pt x="0" y="31750"/>
                </a:lnTo>
                <a:cubicBezTo>
                  <a:pt x="0" y="14227"/>
                  <a:pt x="14227" y="0"/>
                  <a:pt x="31750" y="0"/>
                </a:cubicBezTo>
                <a:close/>
              </a:path>
            </a:pathLst>
          </a:custGeom>
          <a:solidFill>
            <a:srgbClr val="B8A890">
              <a:alpha val="10196"/>
            </a:srgbClr>
          </a:solidFill>
          <a:ln/>
        </p:spPr>
        <p:txBody>
          <a:bodyPr/>
          <a:lstStyle/>
          <a:p>
            <a:endParaRPr lang="en-US"/>
          </a:p>
        </p:txBody>
      </p:sp>
      <p:sp>
        <p:nvSpPr>
          <p:cNvPr id="23" name="Shape 21"/>
          <p:cNvSpPr/>
          <p:nvPr/>
        </p:nvSpPr>
        <p:spPr>
          <a:xfrm>
            <a:off x="6274594" y="1111250"/>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B8A890"/>
          </a:solidFill>
          <a:ln/>
        </p:spPr>
        <p:txBody>
          <a:bodyPr/>
          <a:lstStyle/>
          <a:p>
            <a:endParaRPr lang="en-US"/>
          </a:p>
        </p:txBody>
      </p:sp>
      <p:sp>
        <p:nvSpPr>
          <p:cNvPr id="24" name="Shape 22"/>
          <p:cNvSpPr/>
          <p:nvPr/>
        </p:nvSpPr>
        <p:spPr>
          <a:xfrm>
            <a:off x="6417469" y="1238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B8A890"/>
          </a:solidFill>
          <a:ln/>
        </p:spPr>
        <p:txBody>
          <a:bodyPr/>
          <a:lstStyle/>
          <a:p>
            <a:endParaRPr lang="en-US"/>
          </a:p>
        </p:txBody>
      </p:sp>
      <p:sp>
        <p:nvSpPr>
          <p:cNvPr id="25" name="Text 23"/>
          <p:cNvSpPr/>
          <p:nvPr/>
        </p:nvSpPr>
        <p:spPr>
          <a:xfrm>
            <a:off x="6385719" y="1238250"/>
            <a:ext cx="317500" cy="254000"/>
          </a:xfrm>
          <a:prstGeom prst="rect">
            <a:avLst/>
          </a:prstGeom>
          <a:noFill/>
          <a:ln/>
        </p:spPr>
        <p:txBody>
          <a:bodyPr wrap="square" lIns="0" tIns="0" rIns="0" bIns="0" rtlCol="0" anchor="ctr"/>
          <a:lstStyle/>
          <a:p>
            <a:pPr algn="ctr">
              <a:lnSpc>
                <a:spcPct val="130000"/>
              </a:lnSpc>
            </a:pPr>
            <a:r>
              <a:rPr lang="en-US" sz="1000"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26" name="Text 24"/>
          <p:cNvSpPr/>
          <p:nvPr/>
        </p:nvSpPr>
        <p:spPr>
          <a:xfrm>
            <a:off x="6734969" y="1254125"/>
            <a:ext cx="896938"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Thresholding</a:t>
            </a:r>
            <a:endParaRPr lang="en-US" sz="1600" dirty="0"/>
          </a:p>
        </p:txBody>
      </p:sp>
      <p:sp>
        <p:nvSpPr>
          <p:cNvPr id="27" name="Shape 25"/>
          <p:cNvSpPr/>
          <p:nvPr/>
        </p:nvSpPr>
        <p:spPr>
          <a:xfrm>
            <a:off x="6417469" y="1555750"/>
            <a:ext cx="2357438" cy="508000"/>
          </a:xfrm>
          <a:custGeom>
            <a:avLst/>
            <a:gdLst/>
            <a:ahLst/>
            <a:cxnLst/>
            <a:rect l="l" t="t" r="r" b="b"/>
            <a:pathLst>
              <a:path w="2357438" h="508000">
                <a:moveTo>
                  <a:pt x="31750" y="0"/>
                </a:moveTo>
                <a:lnTo>
                  <a:pt x="2325688" y="0"/>
                </a:lnTo>
                <a:cubicBezTo>
                  <a:pt x="2343211" y="0"/>
                  <a:pt x="2357438" y="14227"/>
                  <a:pt x="2357438" y="31750"/>
                </a:cubicBezTo>
                <a:lnTo>
                  <a:pt x="2357438" y="476250"/>
                </a:lnTo>
                <a:cubicBezTo>
                  <a:pt x="2357438" y="493773"/>
                  <a:pt x="2343211" y="508000"/>
                  <a:pt x="2325688"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B8A890">
                  <a:alpha val="30000"/>
                </a:srgbClr>
              </a:gs>
              <a:gs pos="100000">
                <a:srgbClr val="1A1D21"/>
              </a:gs>
            </a:gsLst>
            <a:lin ang="2700000" scaled="1"/>
          </a:gradFill>
          <a:ln/>
        </p:spPr>
        <p:txBody>
          <a:bodyPr/>
          <a:lstStyle/>
          <a:p>
            <a:endParaRPr lang="en-US"/>
          </a:p>
        </p:txBody>
      </p:sp>
      <p:sp>
        <p:nvSpPr>
          <p:cNvPr id="28" name="Text 26"/>
          <p:cNvSpPr/>
          <p:nvPr/>
        </p:nvSpPr>
        <p:spPr>
          <a:xfrm>
            <a:off x="7307957" y="1730375"/>
            <a:ext cx="635000"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Binary Mask</a:t>
            </a:r>
            <a:endParaRPr lang="en-US" sz="1600" dirty="0"/>
          </a:p>
        </p:txBody>
      </p:sp>
      <p:sp>
        <p:nvSpPr>
          <p:cNvPr id="29" name="Text 27"/>
          <p:cNvSpPr/>
          <p:nvPr/>
        </p:nvSpPr>
        <p:spPr>
          <a:xfrm>
            <a:off x="6417469" y="2127250"/>
            <a:ext cx="2405063"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Separates object from background</a:t>
            </a:r>
            <a:endParaRPr lang="en-US" sz="1600" dirty="0"/>
          </a:p>
        </p:txBody>
      </p:sp>
      <p:sp>
        <p:nvSpPr>
          <p:cNvPr id="30" name="Shape 28"/>
          <p:cNvSpPr/>
          <p:nvPr/>
        </p:nvSpPr>
        <p:spPr>
          <a:xfrm>
            <a:off x="8987234" y="1662906"/>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B8A890"/>
          </a:solidFill>
          <a:ln/>
        </p:spPr>
        <p:txBody>
          <a:bodyPr/>
          <a:lstStyle/>
          <a:p>
            <a:endParaRPr lang="en-US"/>
          </a:p>
        </p:txBody>
      </p:sp>
      <p:sp>
        <p:nvSpPr>
          <p:cNvPr id="31" name="Shape 29"/>
          <p:cNvSpPr/>
          <p:nvPr/>
        </p:nvSpPr>
        <p:spPr>
          <a:xfrm>
            <a:off x="9245203" y="1111250"/>
            <a:ext cx="2627313" cy="1262063"/>
          </a:xfrm>
          <a:custGeom>
            <a:avLst/>
            <a:gdLst/>
            <a:ahLst/>
            <a:cxnLst/>
            <a:rect l="l" t="t" r="r" b="b"/>
            <a:pathLst>
              <a:path w="2627313" h="1262063">
                <a:moveTo>
                  <a:pt x="31750" y="0"/>
                </a:moveTo>
                <a:lnTo>
                  <a:pt x="2532065" y="0"/>
                </a:lnTo>
                <a:cubicBezTo>
                  <a:pt x="2584633" y="0"/>
                  <a:pt x="2627313" y="42679"/>
                  <a:pt x="2627313" y="95248"/>
                </a:cubicBezTo>
                <a:lnTo>
                  <a:pt x="2627313" y="1166815"/>
                </a:lnTo>
                <a:cubicBezTo>
                  <a:pt x="2627313" y="1219383"/>
                  <a:pt x="2584633" y="1262063"/>
                  <a:pt x="2532065" y="1262063"/>
                </a:cubicBezTo>
                <a:lnTo>
                  <a:pt x="31750" y="1262063"/>
                </a:lnTo>
                <a:cubicBezTo>
                  <a:pt x="14215" y="1262063"/>
                  <a:pt x="0" y="1247848"/>
                  <a:pt x="0" y="1230313"/>
                </a:cubicBezTo>
                <a:lnTo>
                  <a:pt x="0" y="31750"/>
                </a:lnTo>
                <a:cubicBezTo>
                  <a:pt x="0" y="14227"/>
                  <a:pt x="14227" y="0"/>
                  <a:pt x="31750" y="0"/>
                </a:cubicBezTo>
                <a:close/>
              </a:path>
            </a:pathLst>
          </a:custGeom>
          <a:solidFill>
            <a:srgbClr val="4A6C8C">
              <a:alpha val="10196"/>
            </a:srgbClr>
          </a:solidFill>
          <a:ln/>
        </p:spPr>
        <p:txBody>
          <a:bodyPr/>
          <a:lstStyle/>
          <a:p>
            <a:endParaRPr lang="en-US"/>
          </a:p>
        </p:txBody>
      </p:sp>
      <p:sp>
        <p:nvSpPr>
          <p:cNvPr id="32" name="Shape 30"/>
          <p:cNvSpPr/>
          <p:nvPr/>
        </p:nvSpPr>
        <p:spPr>
          <a:xfrm>
            <a:off x="9245203" y="1111250"/>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4A6C8C"/>
          </a:solidFill>
          <a:ln/>
        </p:spPr>
        <p:txBody>
          <a:bodyPr/>
          <a:lstStyle/>
          <a:p>
            <a:endParaRPr lang="en-US"/>
          </a:p>
        </p:txBody>
      </p:sp>
      <p:sp>
        <p:nvSpPr>
          <p:cNvPr id="33" name="Shape 31"/>
          <p:cNvSpPr/>
          <p:nvPr/>
        </p:nvSpPr>
        <p:spPr>
          <a:xfrm>
            <a:off x="9388078" y="1238250"/>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6C8C"/>
          </a:solidFill>
          <a:ln/>
        </p:spPr>
        <p:txBody>
          <a:bodyPr/>
          <a:lstStyle/>
          <a:p>
            <a:endParaRPr lang="en-US"/>
          </a:p>
        </p:txBody>
      </p:sp>
      <p:sp>
        <p:nvSpPr>
          <p:cNvPr id="34" name="Text 32"/>
          <p:cNvSpPr/>
          <p:nvPr/>
        </p:nvSpPr>
        <p:spPr>
          <a:xfrm>
            <a:off x="9356328" y="1238250"/>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5" name="Text 33"/>
          <p:cNvSpPr/>
          <p:nvPr/>
        </p:nvSpPr>
        <p:spPr>
          <a:xfrm>
            <a:off x="9705578" y="1254125"/>
            <a:ext cx="547688"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Erosion</a:t>
            </a:r>
            <a:endParaRPr lang="en-US" sz="1600" dirty="0"/>
          </a:p>
        </p:txBody>
      </p:sp>
      <p:sp>
        <p:nvSpPr>
          <p:cNvPr id="36" name="Shape 34"/>
          <p:cNvSpPr/>
          <p:nvPr/>
        </p:nvSpPr>
        <p:spPr>
          <a:xfrm>
            <a:off x="9388078" y="1555750"/>
            <a:ext cx="2357438" cy="508000"/>
          </a:xfrm>
          <a:custGeom>
            <a:avLst/>
            <a:gdLst/>
            <a:ahLst/>
            <a:cxnLst/>
            <a:rect l="l" t="t" r="r" b="b"/>
            <a:pathLst>
              <a:path w="2357438" h="508000">
                <a:moveTo>
                  <a:pt x="31750" y="0"/>
                </a:moveTo>
                <a:lnTo>
                  <a:pt x="2325688" y="0"/>
                </a:lnTo>
                <a:cubicBezTo>
                  <a:pt x="2343211" y="0"/>
                  <a:pt x="2357438" y="14227"/>
                  <a:pt x="2357438" y="31750"/>
                </a:cubicBezTo>
                <a:lnTo>
                  <a:pt x="2357438" y="476250"/>
                </a:lnTo>
                <a:cubicBezTo>
                  <a:pt x="2357438" y="493773"/>
                  <a:pt x="2343211" y="508000"/>
                  <a:pt x="2325688"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4A6C8C">
                  <a:alpha val="30000"/>
                </a:srgbClr>
              </a:gs>
              <a:gs pos="100000">
                <a:srgbClr val="1A1D21"/>
              </a:gs>
            </a:gsLst>
            <a:lin ang="2700000" scaled="1"/>
          </a:gradFill>
          <a:ln/>
        </p:spPr>
        <p:txBody>
          <a:bodyPr/>
          <a:lstStyle/>
          <a:p>
            <a:endParaRPr lang="en-US"/>
          </a:p>
        </p:txBody>
      </p:sp>
      <p:sp>
        <p:nvSpPr>
          <p:cNvPr id="37" name="Text 35"/>
          <p:cNvSpPr/>
          <p:nvPr/>
        </p:nvSpPr>
        <p:spPr>
          <a:xfrm>
            <a:off x="10208617" y="1730375"/>
            <a:ext cx="769938"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Cleaned Shape</a:t>
            </a:r>
            <a:endParaRPr lang="en-US" sz="1600" dirty="0"/>
          </a:p>
        </p:txBody>
      </p:sp>
      <p:sp>
        <p:nvSpPr>
          <p:cNvPr id="38" name="Text 36"/>
          <p:cNvSpPr/>
          <p:nvPr/>
        </p:nvSpPr>
        <p:spPr>
          <a:xfrm>
            <a:off x="9388078" y="2127250"/>
            <a:ext cx="2405063"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Removes noise, refines object</a:t>
            </a:r>
            <a:endParaRPr lang="en-US" sz="1600" dirty="0"/>
          </a:p>
        </p:txBody>
      </p:sp>
      <p:sp>
        <p:nvSpPr>
          <p:cNvPr id="39" name="Shape 37"/>
          <p:cNvSpPr/>
          <p:nvPr/>
        </p:nvSpPr>
        <p:spPr>
          <a:xfrm>
            <a:off x="333375" y="2544767"/>
            <a:ext cx="2770188" cy="1262063"/>
          </a:xfrm>
          <a:custGeom>
            <a:avLst/>
            <a:gdLst/>
            <a:ahLst/>
            <a:cxnLst/>
            <a:rect l="l" t="t" r="r" b="b"/>
            <a:pathLst>
              <a:path w="2770188" h="1262063">
                <a:moveTo>
                  <a:pt x="31750" y="0"/>
                </a:moveTo>
                <a:lnTo>
                  <a:pt x="2674940" y="0"/>
                </a:lnTo>
                <a:cubicBezTo>
                  <a:pt x="2727508" y="0"/>
                  <a:pt x="2770188" y="42679"/>
                  <a:pt x="2770188" y="95248"/>
                </a:cubicBezTo>
                <a:lnTo>
                  <a:pt x="2770188" y="1166815"/>
                </a:lnTo>
                <a:cubicBezTo>
                  <a:pt x="2770188" y="1219383"/>
                  <a:pt x="2727508" y="1262063"/>
                  <a:pt x="2674940" y="1262063"/>
                </a:cubicBezTo>
                <a:lnTo>
                  <a:pt x="31750" y="1262063"/>
                </a:lnTo>
                <a:cubicBezTo>
                  <a:pt x="14215" y="1262063"/>
                  <a:pt x="0" y="1247848"/>
                  <a:pt x="0" y="1230313"/>
                </a:cubicBezTo>
                <a:lnTo>
                  <a:pt x="0" y="31750"/>
                </a:lnTo>
                <a:cubicBezTo>
                  <a:pt x="0" y="14227"/>
                  <a:pt x="14227" y="0"/>
                  <a:pt x="31750" y="0"/>
                </a:cubicBezTo>
                <a:close/>
              </a:path>
            </a:pathLst>
          </a:custGeom>
          <a:solidFill>
            <a:srgbClr val="5A7D7C">
              <a:alpha val="10196"/>
            </a:srgbClr>
          </a:solidFill>
          <a:ln/>
        </p:spPr>
        <p:txBody>
          <a:bodyPr/>
          <a:lstStyle/>
          <a:p>
            <a:endParaRPr lang="en-US"/>
          </a:p>
        </p:txBody>
      </p:sp>
      <p:sp>
        <p:nvSpPr>
          <p:cNvPr id="40" name="Shape 38"/>
          <p:cNvSpPr/>
          <p:nvPr/>
        </p:nvSpPr>
        <p:spPr>
          <a:xfrm>
            <a:off x="333375" y="2544767"/>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5A7D7C"/>
          </a:solidFill>
          <a:ln/>
        </p:spPr>
        <p:txBody>
          <a:bodyPr/>
          <a:lstStyle/>
          <a:p>
            <a:endParaRPr lang="en-US"/>
          </a:p>
        </p:txBody>
      </p:sp>
      <p:sp>
        <p:nvSpPr>
          <p:cNvPr id="41" name="Shape 39"/>
          <p:cNvSpPr/>
          <p:nvPr/>
        </p:nvSpPr>
        <p:spPr>
          <a:xfrm>
            <a:off x="476250" y="2671767"/>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A7D7C"/>
          </a:solidFill>
          <a:ln/>
        </p:spPr>
        <p:txBody>
          <a:bodyPr/>
          <a:lstStyle/>
          <a:p>
            <a:endParaRPr lang="en-US"/>
          </a:p>
        </p:txBody>
      </p:sp>
      <p:sp>
        <p:nvSpPr>
          <p:cNvPr id="42" name="Text 40"/>
          <p:cNvSpPr/>
          <p:nvPr/>
        </p:nvSpPr>
        <p:spPr>
          <a:xfrm>
            <a:off x="444500" y="2671767"/>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43" name="Text 41"/>
          <p:cNvSpPr/>
          <p:nvPr/>
        </p:nvSpPr>
        <p:spPr>
          <a:xfrm>
            <a:off x="793750" y="2687642"/>
            <a:ext cx="1087438"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Thin Boundaries</a:t>
            </a:r>
            <a:endParaRPr lang="en-US" sz="1600" dirty="0"/>
          </a:p>
        </p:txBody>
      </p:sp>
      <p:sp>
        <p:nvSpPr>
          <p:cNvPr id="44" name="Shape 42"/>
          <p:cNvSpPr/>
          <p:nvPr/>
        </p:nvSpPr>
        <p:spPr>
          <a:xfrm>
            <a:off x="476250" y="2989267"/>
            <a:ext cx="2500313" cy="508000"/>
          </a:xfrm>
          <a:custGeom>
            <a:avLst/>
            <a:gdLst/>
            <a:ahLst/>
            <a:cxnLst/>
            <a:rect l="l" t="t" r="r" b="b"/>
            <a:pathLst>
              <a:path w="2500313" h="508000">
                <a:moveTo>
                  <a:pt x="31750" y="0"/>
                </a:moveTo>
                <a:lnTo>
                  <a:pt x="2468563" y="0"/>
                </a:lnTo>
                <a:cubicBezTo>
                  <a:pt x="2486086" y="0"/>
                  <a:pt x="2500313" y="14227"/>
                  <a:pt x="2500313" y="31750"/>
                </a:cubicBezTo>
                <a:lnTo>
                  <a:pt x="2500313" y="476250"/>
                </a:lnTo>
                <a:cubicBezTo>
                  <a:pt x="2500313" y="493773"/>
                  <a:pt x="2486086" y="508000"/>
                  <a:pt x="2468563"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5A7D7C">
                  <a:alpha val="30000"/>
                </a:srgbClr>
              </a:gs>
              <a:gs pos="100000">
                <a:srgbClr val="1A1D21"/>
              </a:gs>
            </a:gsLst>
            <a:lin ang="2700000" scaled="1"/>
          </a:gradFill>
          <a:ln/>
        </p:spPr>
        <p:txBody>
          <a:bodyPr/>
          <a:lstStyle/>
          <a:p>
            <a:endParaRPr lang="en-US"/>
          </a:p>
        </p:txBody>
      </p:sp>
      <p:sp>
        <p:nvSpPr>
          <p:cNvPr id="45" name="Text 43"/>
          <p:cNvSpPr/>
          <p:nvPr/>
        </p:nvSpPr>
        <p:spPr>
          <a:xfrm>
            <a:off x="1388566" y="3163892"/>
            <a:ext cx="730250"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Thin Contours</a:t>
            </a:r>
            <a:endParaRPr lang="en-US" sz="1600" dirty="0"/>
          </a:p>
        </p:txBody>
      </p:sp>
      <p:sp>
        <p:nvSpPr>
          <p:cNvPr id="46" name="Text 44"/>
          <p:cNvSpPr/>
          <p:nvPr/>
        </p:nvSpPr>
        <p:spPr>
          <a:xfrm>
            <a:off x="476250" y="3560767"/>
            <a:ext cx="2547938"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Precise boundary extraction</a:t>
            </a:r>
            <a:endParaRPr lang="en-US" sz="1600" dirty="0"/>
          </a:p>
        </p:txBody>
      </p:sp>
      <p:sp>
        <p:nvSpPr>
          <p:cNvPr id="47" name="Shape 45"/>
          <p:cNvSpPr/>
          <p:nvPr/>
        </p:nvSpPr>
        <p:spPr>
          <a:xfrm>
            <a:off x="3184525" y="3096423"/>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B8A890"/>
          </a:solidFill>
          <a:ln/>
        </p:spPr>
        <p:txBody>
          <a:bodyPr/>
          <a:lstStyle/>
          <a:p>
            <a:endParaRPr lang="en-US"/>
          </a:p>
        </p:txBody>
      </p:sp>
      <p:sp>
        <p:nvSpPr>
          <p:cNvPr id="48" name="Shape 46"/>
          <p:cNvSpPr/>
          <p:nvPr/>
        </p:nvSpPr>
        <p:spPr>
          <a:xfrm>
            <a:off x="3442494" y="2544767"/>
            <a:ext cx="2770188" cy="1262063"/>
          </a:xfrm>
          <a:custGeom>
            <a:avLst/>
            <a:gdLst/>
            <a:ahLst/>
            <a:cxnLst/>
            <a:rect l="l" t="t" r="r" b="b"/>
            <a:pathLst>
              <a:path w="2770188" h="1262063">
                <a:moveTo>
                  <a:pt x="31750" y="0"/>
                </a:moveTo>
                <a:lnTo>
                  <a:pt x="2674940" y="0"/>
                </a:lnTo>
                <a:cubicBezTo>
                  <a:pt x="2727508" y="0"/>
                  <a:pt x="2770188" y="42679"/>
                  <a:pt x="2770188" y="95248"/>
                </a:cubicBezTo>
                <a:lnTo>
                  <a:pt x="2770188" y="1166815"/>
                </a:lnTo>
                <a:cubicBezTo>
                  <a:pt x="2770188" y="1219383"/>
                  <a:pt x="2727508" y="1262063"/>
                  <a:pt x="2674940" y="1262063"/>
                </a:cubicBezTo>
                <a:lnTo>
                  <a:pt x="31750" y="1262063"/>
                </a:lnTo>
                <a:cubicBezTo>
                  <a:pt x="14215" y="1262063"/>
                  <a:pt x="0" y="1247848"/>
                  <a:pt x="0" y="1230313"/>
                </a:cubicBezTo>
                <a:lnTo>
                  <a:pt x="0" y="31750"/>
                </a:lnTo>
                <a:cubicBezTo>
                  <a:pt x="0" y="14227"/>
                  <a:pt x="14227" y="0"/>
                  <a:pt x="31750" y="0"/>
                </a:cubicBezTo>
                <a:close/>
              </a:path>
            </a:pathLst>
          </a:custGeom>
          <a:solidFill>
            <a:srgbClr val="B8A890">
              <a:alpha val="10196"/>
            </a:srgbClr>
          </a:solidFill>
          <a:ln/>
        </p:spPr>
        <p:txBody>
          <a:bodyPr/>
          <a:lstStyle/>
          <a:p>
            <a:endParaRPr lang="en-US"/>
          </a:p>
        </p:txBody>
      </p:sp>
      <p:sp>
        <p:nvSpPr>
          <p:cNvPr id="49" name="Shape 47"/>
          <p:cNvSpPr/>
          <p:nvPr/>
        </p:nvSpPr>
        <p:spPr>
          <a:xfrm>
            <a:off x="3442494" y="2544767"/>
            <a:ext cx="31750" cy="1262063"/>
          </a:xfrm>
          <a:custGeom>
            <a:avLst/>
            <a:gdLst/>
            <a:ahLst/>
            <a:cxnLst/>
            <a:rect l="l" t="t" r="r" b="b"/>
            <a:pathLst>
              <a:path w="31750" h="1262063">
                <a:moveTo>
                  <a:pt x="31750" y="0"/>
                </a:moveTo>
                <a:lnTo>
                  <a:pt x="31750" y="0"/>
                </a:lnTo>
                <a:lnTo>
                  <a:pt x="31750" y="1262063"/>
                </a:lnTo>
                <a:lnTo>
                  <a:pt x="31750" y="1262063"/>
                </a:lnTo>
                <a:cubicBezTo>
                  <a:pt x="14227" y="1262063"/>
                  <a:pt x="0" y="1247836"/>
                  <a:pt x="0" y="1230313"/>
                </a:cubicBezTo>
                <a:lnTo>
                  <a:pt x="0" y="31750"/>
                </a:lnTo>
                <a:cubicBezTo>
                  <a:pt x="0" y="14227"/>
                  <a:pt x="14227" y="0"/>
                  <a:pt x="31750" y="0"/>
                </a:cubicBezTo>
                <a:close/>
              </a:path>
            </a:pathLst>
          </a:custGeom>
          <a:solidFill>
            <a:srgbClr val="B8A890"/>
          </a:solidFill>
          <a:ln/>
        </p:spPr>
        <p:txBody>
          <a:bodyPr/>
          <a:lstStyle/>
          <a:p>
            <a:endParaRPr lang="en-US"/>
          </a:p>
        </p:txBody>
      </p:sp>
      <p:sp>
        <p:nvSpPr>
          <p:cNvPr id="50" name="Shape 48"/>
          <p:cNvSpPr/>
          <p:nvPr/>
        </p:nvSpPr>
        <p:spPr>
          <a:xfrm>
            <a:off x="3585369" y="2671767"/>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B8A890"/>
          </a:solidFill>
          <a:ln/>
        </p:spPr>
        <p:txBody>
          <a:bodyPr/>
          <a:lstStyle/>
          <a:p>
            <a:endParaRPr lang="en-US"/>
          </a:p>
        </p:txBody>
      </p:sp>
      <p:sp>
        <p:nvSpPr>
          <p:cNvPr id="51" name="Text 49"/>
          <p:cNvSpPr/>
          <p:nvPr/>
        </p:nvSpPr>
        <p:spPr>
          <a:xfrm>
            <a:off x="3553619" y="2671767"/>
            <a:ext cx="317500" cy="254000"/>
          </a:xfrm>
          <a:prstGeom prst="rect">
            <a:avLst/>
          </a:prstGeom>
          <a:noFill/>
          <a:ln/>
        </p:spPr>
        <p:txBody>
          <a:bodyPr wrap="square" lIns="0" tIns="0" rIns="0" bIns="0" rtlCol="0" anchor="ctr"/>
          <a:lstStyle/>
          <a:p>
            <a:pPr algn="ctr">
              <a:lnSpc>
                <a:spcPct val="130000"/>
              </a:lnSpc>
            </a:pPr>
            <a:r>
              <a:rPr lang="en-US" sz="1000" b="1" dirty="0">
                <a:solidFill>
                  <a:srgbClr val="1A1D21"/>
                </a:solidFill>
                <a:latin typeface="Quattrocento Sans" pitchFamily="34" charset="0"/>
                <a:ea typeface="Quattrocento Sans" pitchFamily="34" charset="-122"/>
                <a:cs typeface="Quattrocento Sans" pitchFamily="34" charset="-120"/>
              </a:rPr>
              <a:t>6</a:t>
            </a:r>
            <a:endParaRPr lang="en-US" sz="1600" dirty="0"/>
          </a:p>
        </p:txBody>
      </p:sp>
      <p:sp>
        <p:nvSpPr>
          <p:cNvPr id="52" name="Text 50"/>
          <p:cNvSpPr/>
          <p:nvPr/>
        </p:nvSpPr>
        <p:spPr>
          <a:xfrm>
            <a:off x="3902869" y="2687642"/>
            <a:ext cx="555625"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Dilation</a:t>
            </a:r>
            <a:endParaRPr lang="en-US" sz="1600" dirty="0"/>
          </a:p>
        </p:txBody>
      </p:sp>
      <p:sp>
        <p:nvSpPr>
          <p:cNvPr id="53" name="Shape 51"/>
          <p:cNvSpPr/>
          <p:nvPr/>
        </p:nvSpPr>
        <p:spPr>
          <a:xfrm>
            <a:off x="3585369" y="2989267"/>
            <a:ext cx="2500313" cy="508000"/>
          </a:xfrm>
          <a:custGeom>
            <a:avLst/>
            <a:gdLst/>
            <a:ahLst/>
            <a:cxnLst/>
            <a:rect l="l" t="t" r="r" b="b"/>
            <a:pathLst>
              <a:path w="2500313" h="508000">
                <a:moveTo>
                  <a:pt x="31750" y="0"/>
                </a:moveTo>
                <a:lnTo>
                  <a:pt x="2468563" y="0"/>
                </a:lnTo>
                <a:cubicBezTo>
                  <a:pt x="2486086" y="0"/>
                  <a:pt x="2500313" y="14227"/>
                  <a:pt x="2500313" y="31750"/>
                </a:cubicBezTo>
                <a:lnTo>
                  <a:pt x="2500313" y="476250"/>
                </a:lnTo>
                <a:cubicBezTo>
                  <a:pt x="2500313" y="493773"/>
                  <a:pt x="2486086" y="508000"/>
                  <a:pt x="2468563" y="508000"/>
                </a:cubicBezTo>
                <a:lnTo>
                  <a:pt x="31750" y="508000"/>
                </a:lnTo>
                <a:cubicBezTo>
                  <a:pt x="14227" y="508000"/>
                  <a:pt x="0" y="493773"/>
                  <a:pt x="0" y="476250"/>
                </a:cubicBezTo>
                <a:lnTo>
                  <a:pt x="0" y="31750"/>
                </a:lnTo>
                <a:cubicBezTo>
                  <a:pt x="0" y="14227"/>
                  <a:pt x="14227" y="0"/>
                  <a:pt x="31750" y="0"/>
                </a:cubicBezTo>
                <a:close/>
              </a:path>
            </a:pathLst>
          </a:custGeom>
          <a:gradFill flip="none" rotWithShape="1">
            <a:gsLst>
              <a:gs pos="0">
                <a:srgbClr val="B8A890">
                  <a:alpha val="30000"/>
                </a:srgbClr>
              </a:gs>
              <a:gs pos="100000">
                <a:srgbClr val="1A1D21"/>
              </a:gs>
            </a:gsLst>
            <a:lin ang="2700000" scaled="1"/>
          </a:gradFill>
          <a:ln/>
        </p:spPr>
        <p:txBody>
          <a:bodyPr/>
          <a:lstStyle/>
          <a:p>
            <a:endParaRPr lang="en-US"/>
          </a:p>
        </p:txBody>
      </p:sp>
      <p:sp>
        <p:nvSpPr>
          <p:cNvPr id="54" name="Text 52"/>
          <p:cNvSpPr/>
          <p:nvPr/>
        </p:nvSpPr>
        <p:spPr>
          <a:xfrm>
            <a:off x="4426148" y="3163892"/>
            <a:ext cx="873125"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Thick Boundaries</a:t>
            </a:r>
            <a:endParaRPr lang="en-US" sz="1600" dirty="0"/>
          </a:p>
        </p:txBody>
      </p:sp>
      <p:sp>
        <p:nvSpPr>
          <p:cNvPr id="55" name="Text 53"/>
          <p:cNvSpPr/>
          <p:nvPr/>
        </p:nvSpPr>
        <p:spPr>
          <a:xfrm>
            <a:off x="3585369" y="3560767"/>
            <a:ext cx="2547938" cy="119063"/>
          </a:xfrm>
          <a:prstGeom prst="rect">
            <a:avLst/>
          </a:prstGeom>
          <a:noFill/>
          <a:ln/>
        </p:spPr>
        <p:txBody>
          <a:bodyPr wrap="square" lIns="0" tIns="0" rIns="0" bIns="0" rtlCol="0" anchor="ctr"/>
          <a:lstStyle/>
          <a:p>
            <a:pPr>
              <a:lnSpc>
                <a:spcPct val="100000"/>
              </a:lnSpc>
            </a:pPr>
            <a:r>
              <a:rPr lang="en-US" sz="750" dirty="0">
                <a:solidFill>
                  <a:srgbClr val="E0E2E5">
                    <a:alpha val="80000"/>
                  </a:srgbClr>
                </a:solidFill>
                <a:latin typeface="Quattrocento Sans" pitchFamily="34" charset="0"/>
                <a:ea typeface="Quattrocento Sans" pitchFamily="34" charset="-122"/>
                <a:cs typeface="Quattrocento Sans" pitchFamily="34" charset="-120"/>
              </a:rPr>
              <a:t>Enhances visibility</a:t>
            </a:r>
            <a:endParaRPr lang="en-US" sz="1600" dirty="0"/>
          </a:p>
        </p:txBody>
      </p:sp>
      <p:sp>
        <p:nvSpPr>
          <p:cNvPr id="56" name="Shape 54"/>
          <p:cNvSpPr/>
          <p:nvPr/>
        </p:nvSpPr>
        <p:spPr>
          <a:xfrm>
            <a:off x="6293644" y="3096423"/>
            <a:ext cx="158750" cy="158750"/>
          </a:xfrm>
          <a:custGeom>
            <a:avLst/>
            <a:gdLst/>
            <a:ahLst/>
            <a:cxnLst/>
            <a:rect l="l" t="t" r="r" b="b"/>
            <a:pathLst>
              <a:path w="158750" h="158750">
                <a:moveTo>
                  <a:pt x="155835" y="86382"/>
                </a:moveTo>
                <a:cubicBezTo>
                  <a:pt x="159711" y="82507"/>
                  <a:pt x="159711" y="76212"/>
                  <a:pt x="155835" y="72337"/>
                </a:cubicBezTo>
                <a:lnTo>
                  <a:pt x="106226" y="22727"/>
                </a:lnTo>
                <a:cubicBezTo>
                  <a:pt x="102350" y="18852"/>
                  <a:pt x="96056" y="18852"/>
                  <a:pt x="92180" y="22727"/>
                </a:cubicBezTo>
                <a:cubicBezTo>
                  <a:pt x="88305" y="26603"/>
                  <a:pt x="88305" y="32897"/>
                  <a:pt x="92180" y="36773"/>
                </a:cubicBezTo>
                <a:lnTo>
                  <a:pt x="124861" y="69453"/>
                </a:lnTo>
                <a:lnTo>
                  <a:pt x="9922" y="69453"/>
                </a:lnTo>
                <a:cubicBezTo>
                  <a:pt x="4434" y="69453"/>
                  <a:pt x="0" y="73887"/>
                  <a:pt x="0" y="79375"/>
                </a:cubicBezTo>
                <a:cubicBezTo>
                  <a:pt x="0" y="84863"/>
                  <a:pt x="4434" y="89297"/>
                  <a:pt x="9922" y="89297"/>
                </a:cubicBezTo>
                <a:lnTo>
                  <a:pt x="124861" y="89297"/>
                </a:lnTo>
                <a:lnTo>
                  <a:pt x="92180" y="121977"/>
                </a:lnTo>
                <a:cubicBezTo>
                  <a:pt x="88305" y="125853"/>
                  <a:pt x="88305" y="132147"/>
                  <a:pt x="92180" y="136023"/>
                </a:cubicBezTo>
                <a:cubicBezTo>
                  <a:pt x="96056" y="139898"/>
                  <a:pt x="102350" y="139898"/>
                  <a:pt x="106226" y="136023"/>
                </a:cubicBezTo>
                <a:lnTo>
                  <a:pt x="155835" y="86413"/>
                </a:lnTo>
                <a:close/>
              </a:path>
            </a:pathLst>
          </a:custGeom>
          <a:solidFill>
            <a:srgbClr val="B8A890"/>
          </a:solidFill>
          <a:ln/>
        </p:spPr>
        <p:txBody>
          <a:bodyPr/>
          <a:lstStyle/>
          <a:p>
            <a:endParaRPr lang="en-US"/>
          </a:p>
        </p:txBody>
      </p:sp>
      <p:sp>
        <p:nvSpPr>
          <p:cNvPr id="57" name="Shape 55"/>
          <p:cNvSpPr/>
          <p:nvPr/>
        </p:nvSpPr>
        <p:spPr>
          <a:xfrm>
            <a:off x="6542088" y="2538412"/>
            <a:ext cx="2767013" cy="1274763"/>
          </a:xfrm>
          <a:custGeom>
            <a:avLst/>
            <a:gdLst/>
            <a:ahLst/>
            <a:cxnLst/>
            <a:rect l="l" t="t" r="r" b="b"/>
            <a:pathLst>
              <a:path w="2767013" h="1274763">
                <a:moveTo>
                  <a:pt x="95250" y="0"/>
                </a:moveTo>
                <a:lnTo>
                  <a:pt x="2671762" y="0"/>
                </a:lnTo>
                <a:cubicBezTo>
                  <a:pt x="2724368" y="0"/>
                  <a:pt x="2767013" y="42645"/>
                  <a:pt x="2767013" y="95250"/>
                </a:cubicBezTo>
                <a:lnTo>
                  <a:pt x="2767013" y="1179512"/>
                </a:lnTo>
                <a:cubicBezTo>
                  <a:pt x="2767013" y="1232118"/>
                  <a:pt x="2724368" y="1274763"/>
                  <a:pt x="2671762" y="1274763"/>
                </a:cubicBezTo>
                <a:lnTo>
                  <a:pt x="95250" y="1274763"/>
                </a:lnTo>
                <a:cubicBezTo>
                  <a:pt x="42645" y="1274763"/>
                  <a:pt x="0" y="1232118"/>
                  <a:pt x="0" y="1179512"/>
                </a:cubicBezTo>
                <a:lnTo>
                  <a:pt x="0" y="95250"/>
                </a:lnTo>
                <a:cubicBezTo>
                  <a:pt x="0" y="42680"/>
                  <a:pt x="42680" y="0"/>
                  <a:pt x="95250" y="0"/>
                </a:cubicBezTo>
                <a:close/>
              </a:path>
            </a:pathLst>
          </a:custGeom>
          <a:solidFill>
            <a:srgbClr val="4A6C8C">
              <a:alpha val="20000"/>
            </a:srgbClr>
          </a:solidFill>
          <a:ln w="20320">
            <a:solidFill>
              <a:srgbClr val="4A6C8C"/>
            </a:solidFill>
            <a:prstDash val="solid"/>
          </a:ln>
        </p:spPr>
        <p:txBody>
          <a:bodyPr/>
          <a:lstStyle/>
          <a:p>
            <a:endParaRPr lang="en-US"/>
          </a:p>
        </p:txBody>
      </p:sp>
      <p:sp>
        <p:nvSpPr>
          <p:cNvPr id="58" name="Shape 56"/>
          <p:cNvSpPr/>
          <p:nvPr/>
        </p:nvSpPr>
        <p:spPr>
          <a:xfrm>
            <a:off x="6675438" y="2671767"/>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A6C8C"/>
          </a:solidFill>
          <a:ln/>
        </p:spPr>
        <p:txBody>
          <a:bodyPr/>
          <a:lstStyle/>
          <a:p>
            <a:endParaRPr lang="en-US"/>
          </a:p>
        </p:txBody>
      </p:sp>
      <p:sp>
        <p:nvSpPr>
          <p:cNvPr id="59" name="Text 57"/>
          <p:cNvSpPr/>
          <p:nvPr/>
        </p:nvSpPr>
        <p:spPr>
          <a:xfrm>
            <a:off x="6643688" y="2671767"/>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7</a:t>
            </a:r>
            <a:endParaRPr lang="en-US" sz="1600" dirty="0"/>
          </a:p>
        </p:txBody>
      </p:sp>
      <p:sp>
        <p:nvSpPr>
          <p:cNvPr id="60" name="Text 58"/>
          <p:cNvSpPr/>
          <p:nvPr/>
        </p:nvSpPr>
        <p:spPr>
          <a:xfrm>
            <a:off x="6992938" y="2687642"/>
            <a:ext cx="793750" cy="222250"/>
          </a:xfrm>
          <a:prstGeom prst="rect">
            <a:avLst/>
          </a:prstGeom>
          <a:noFill/>
          <a:ln/>
        </p:spPr>
        <p:txBody>
          <a:bodyPr wrap="square" lIns="0" tIns="0" rIns="0" bIns="0" rtlCol="0" anchor="ctr"/>
          <a:lstStyle/>
          <a:p>
            <a:pPr>
              <a:lnSpc>
                <a:spcPct val="130000"/>
              </a:lnSpc>
            </a:pPr>
            <a:r>
              <a:rPr lang="en-US" sz="1125" b="1" dirty="0">
                <a:solidFill>
                  <a:srgbClr val="E0E2E5"/>
                </a:solidFill>
                <a:latin typeface="Liter" pitchFamily="34" charset="0"/>
                <a:ea typeface="Liter" pitchFamily="34" charset="-122"/>
                <a:cs typeface="Liter" pitchFamily="34" charset="-120"/>
              </a:rPr>
              <a:t>Final Result</a:t>
            </a:r>
            <a:endParaRPr lang="en-US" sz="1600" dirty="0"/>
          </a:p>
        </p:txBody>
      </p:sp>
      <p:sp>
        <p:nvSpPr>
          <p:cNvPr id="61" name="Shape 59"/>
          <p:cNvSpPr/>
          <p:nvPr/>
        </p:nvSpPr>
        <p:spPr>
          <a:xfrm>
            <a:off x="6681788" y="2995617"/>
            <a:ext cx="2489200" cy="496887"/>
          </a:xfrm>
          <a:custGeom>
            <a:avLst/>
            <a:gdLst/>
            <a:ahLst/>
            <a:cxnLst/>
            <a:rect l="l" t="t" r="r" b="b"/>
            <a:pathLst>
              <a:path w="2489200" h="496887">
                <a:moveTo>
                  <a:pt x="31751" y="0"/>
                </a:moveTo>
                <a:lnTo>
                  <a:pt x="2457449" y="0"/>
                </a:lnTo>
                <a:cubicBezTo>
                  <a:pt x="2474985" y="0"/>
                  <a:pt x="2489200" y="14215"/>
                  <a:pt x="2489200" y="31751"/>
                </a:cubicBezTo>
                <a:lnTo>
                  <a:pt x="2489200" y="465136"/>
                </a:lnTo>
                <a:cubicBezTo>
                  <a:pt x="2489200" y="482672"/>
                  <a:pt x="2474985" y="496888"/>
                  <a:pt x="2457449" y="496887"/>
                </a:cubicBezTo>
                <a:lnTo>
                  <a:pt x="31751" y="496887"/>
                </a:lnTo>
                <a:cubicBezTo>
                  <a:pt x="14227" y="496887"/>
                  <a:pt x="0" y="482660"/>
                  <a:pt x="0" y="465136"/>
                </a:cubicBezTo>
                <a:lnTo>
                  <a:pt x="0" y="31751"/>
                </a:lnTo>
                <a:cubicBezTo>
                  <a:pt x="0" y="14227"/>
                  <a:pt x="14227" y="0"/>
                  <a:pt x="31751" y="0"/>
                </a:cubicBezTo>
                <a:close/>
              </a:path>
            </a:pathLst>
          </a:custGeom>
          <a:gradFill flip="none" rotWithShape="1">
            <a:gsLst>
              <a:gs pos="0">
                <a:srgbClr val="4A6C8C">
                  <a:alpha val="40000"/>
                </a:srgbClr>
              </a:gs>
              <a:gs pos="100000">
                <a:srgbClr val="1A1D21"/>
              </a:gs>
            </a:gsLst>
            <a:lin ang="2700000" scaled="1"/>
          </a:gradFill>
          <a:ln w="20320">
            <a:solidFill>
              <a:srgbClr val="4A6C8C"/>
            </a:solidFill>
            <a:prstDash val="solid"/>
          </a:ln>
        </p:spPr>
        <p:txBody>
          <a:bodyPr/>
          <a:lstStyle/>
          <a:p>
            <a:endParaRPr lang="en-US"/>
          </a:p>
        </p:txBody>
      </p:sp>
      <p:sp>
        <p:nvSpPr>
          <p:cNvPr id="62" name="Text 60"/>
          <p:cNvSpPr/>
          <p:nvPr/>
        </p:nvSpPr>
        <p:spPr>
          <a:xfrm>
            <a:off x="7406779" y="3163892"/>
            <a:ext cx="1087438" cy="158750"/>
          </a:xfrm>
          <a:prstGeom prst="rect">
            <a:avLst/>
          </a:prstGeom>
          <a:noFill/>
          <a:ln/>
        </p:spPr>
        <p:txBody>
          <a:bodyPr wrap="square" lIns="0" tIns="0" rIns="0" bIns="0" rtlCol="0" anchor="ctr"/>
          <a:lstStyle/>
          <a:p>
            <a:pPr>
              <a:lnSpc>
                <a:spcPct val="120000"/>
              </a:lnSpc>
            </a:pPr>
            <a:r>
              <a:rPr lang="en-US" sz="875" b="1" dirty="0">
                <a:solidFill>
                  <a:srgbClr val="E0E2E5"/>
                </a:solidFill>
                <a:latin typeface="Quattrocento Sans" pitchFamily="34" charset="0"/>
                <a:ea typeface="Quattrocento Sans" pitchFamily="34" charset="-122"/>
                <a:cs typeface="Quattrocento Sans" pitchFamily="34" charset="-120"/>
              </a:rPr>
              <a:t>Enhanced Boundaries</a:t>
            </a:r>
            <a:endParaRPr lang="en-US" sz="1600" dirty="0"/>
          </a:p>
        </p:txBody>
      </p:sp>
      <p:sp>
        <p:nvSpPr>
          <p:cNvPr id="63" name="Text 61"/>
          <p:cNvSpPr/>
          <p:nvPr/>
        </p:nvSpPr>
        <p:spPr>
          <a:xfrm>
            <a:off x="6675438" y="3560767"/>
            <a:ext cx="2547938" cy="119063"/>
          </a:xfrm>
          <a:prstGeom prst="rect">
            <a:avLst/>
          </a:prstGeom>
          <a:noFill/>
          <a:ln/>
        </p:spPr>
        <p:txBody>
          <a:bodyPr wrap="square" lIns="0" tIns="0" rIns="0" bIns="0" rtlCol="0" anchor="ctr"/>
          <a:lstStyle/>
          <a:p>
            <a:pPr>
              <a:lnSpc>
                <a:spcPct val="100000"/>
              </a:lnSpc>
            </a:pPr>
            <a:r>
              <a:rPr lang="en-US" sz="750" b="1" dirty="0">
                <a:solidFill>
                  <a:srgbClr val="E0E2E5">
                    <a:alpha val="90000"/>
                  </a:srgbClr>
                </a:solidFill>
                <a:latin typeface="Quattrocento Sans" pitchFamily="34" charset="0"/>
                <a:ea typeface="Quattrocento Sans" pitchFamily="34" charset="-122"/>
                <a:cs typeface="Quattrocento Sans" pitchFamily="34" charset="-120"/>
              </a:rPr>
              <a:t>Clear, accurate, enhanced</a:t>
            </a:r>
            <a:endParaRPr lang="en-US" sz="1600" dirty="0"/>
          </a:p>
        </p:txBody>
      </p:sp>
      <p:sp>
        <p:nvSpPr>
          <p:cNvPr id="64" name="Shape 62"/>
          <p:cNvSpPr/>
          <p:nvPr/>
        </p:nvSpPr>
        <p:spPr>
          <a:xfrm>
            <a:off x="320675" y="3981452"/>
            <a:ext cx="3736975" cy="2482850"/>
          </a:xfrm>
          <a:custGeom>
            <a:avLst/>
            <a:gdLst/>
            <a:ahLst/>
            <a:cxnLst/>
            <a:rect l="l" t="t" r="r" b="b"/>
            <a:pathLst>
              <a:path w="3736975" h="2482850">
                <a:moveTo>
                  <a:pt x="95242" y="0"/>
                </a:moveTo>
                <a:lnTo>
                  <a:pt x="3641733" y="0"/>
                </a:lnTo>
                <a:cubicBezTo>
                  <a:pt x="3694334" y="0"/>
                  <a:pt x="3736975" y="42641"/>
                  <a:pt x="3736975" y="95242"/>
                </a:cubicBezTo>
                <a:lnTo>
                  <a:pt x="3736975" y="2387608"/>
                </a:lnTo>
                <a:cubicBezTo>
                  <a:pt x="3736975" y="2440209"/>
                  <a:pt x="3694334" y="2482850"/>
                  <a:pt x="3641733" y="2482850"/>
                </a:cubicBezTo>
                <a:lnTo>
                  <a:pt x="95242" y="2482850"/>
                </a:lnTo>
                <a:cubicBezTo>
                  <a:pt x="42641" y="2482850"/>
                  <a:pt x="0" y="2440209"/>
                  <a:pt x="0" y="2387608"/>
                </a:cubicBezTo>
                <a:lnTo>
                  <a:pt x="0" y="95242"/>
                </a:lnTo>
                <a:cubicBezTo>
                  <a:pt x="0" y="42677"/>
                  <a:pt x="42677" y="0"/>
                  <a:pt x="95242"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65" name="Shape 63"/>
          <p:cNvSpPr/>
          <p:nvPr/>
        </p:nvSpPr>
        <p:spPr>
          <a:xfrm>
            <a:off x="522287" y="4175125"/>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B8A890"/>
          </a:solidFill>
          <a:ln/>
        </p:spPr>
        <p:txBody>
          <a:bodyPr/>
          <a:lstStyle/>
          <a:p>
            <a:endParaRPr lang="en-US"/>
          </a:p>
        </p:txBody>
      </p:sp>
      <p:sp>
        <p:nvSpPr>
          <p:cNvPr id="66" name="Text 64"/>
          <p:cNvSpPr/>
          <p:nvPr/>
        </p:nvSpPr>
        <p:spPr>
          <a:xfrm>
            <a:off x="681037" y="4143375"/>
            <a:ext cx="3294063"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Why Each Step Matters</a:t>
            </a:r>
            <a:endParaRPr lang="en-US" sz="1600" dirty="0"/>
          </a:p>
        </p:txBody>
      </p:sp>
      <p:sp>
        <p:nvSpPr>
          <p:cNvPr id="67" name="Shape 65"/>
          <p:cNvSpPr/>
          <p:nvPr/>
        </p:nvSpPr>
        <p:spPr>
          <a:xfrm>
            <a:off x="482600" y="4460875"/>
            <a:ext cx="3413125" cy="317500"/>
          </a:xfrm>
          <a:custGeom>
            <a:avLst/>
            <a:gdLst/>
            <a:ahLst/>
            <a:cxnLst/>
            <a:rect l="l" t="t" r="r" b="b"/>
            <a:pathLst>
              <a:path w="3413125" h="317500">
                <a:moveTo>
                  <a:pt x="31750" y="0"/>
                </a:moveTo>
                <a:lnTo>
                  <a:pt x="3381375" y="0"/>
                </a:lnTo>
                <a:cubicBezTo>
                  <a:pt x="3398898" y="0"/>
                  <a:pt x="3413125" y="14227"/>
                  <a:pt x="3413125" y="31750"/>
                </a:cubicBezTo>
                <a:lnTo>
                  <a:pt x="3413125" y="285750"/>
                </a:lnTo>
                <a:cubicBezTo>
                  <a:pt x="3413125" y="303273"/>
                  <a:pt x="3398898" y="317500"/>
                  <a:pt x="3381375" y="317500"/>
                </a:cubicBezTo>
                <a:lnTo>
                  <a:pt x="31750" y="317500"/>
                </a:lnTo>
                <a:cubicBezTo>
                  <a:pt x="14227" y="317500"/>
                  <a:pt x="0" y="303273"/>
                  <a:pt x="0" y="285750"/>
                </a:cubicBezTo>
                <a:lnTo>
                  <a:pt x="0" y="31750"/>
                </a:lnTo>
                <a:cubicBezTo>
                  <a:pt x="0" y="14227"/>
                  <a:pt x="14227" y="0"/>
                  <a:pt x="31750" y="0"/>
                </a:cubicBezTo>
                <a:close/>
              </a:path>
            </a:pathLst>
          </a:custGeom>
          <a:solidFill>
            <a:srgbClr val="1A1D21">
              <a:alpha val="50196"/>
            </a:srgbClr>
          </a:solidFill>
          <a:ln/>
        </p:spPr>
        <p:txBody>
          <a:bodyPr/>
          <a:lstStyle/>
          <a:p>
            <a:endParaRPr lang="en-US"/>
          </a:p>
        </p:txBody>
      </p:sp>
      <p:sp>
        <p:nvSpPr>
          <p:cNvPr id="68" name="Text 66"/>
          <p:cNvSpPr/>
          <p:nvPr/>
        </p:nvSpPr>
        <p:spPr>
          <a:xfrm>
            <a:off x="546100" y="4524375"/>
            <a:ext cx="3349625" cy="190500"/>
          </a:xfrm>
          <a:prstGeom prst="rect">
            <a:avLst/>
          </a:prstGeom>
          <a:noFill/>
          <a:ln/>
        </p:spPr>
        <p:txBody>
          <a:bodyPr wrap="square" lIns="0" tIns="0" rIns="0" bIns="0" rtlCol="0" anchor="ctr"/>
          <a:lstStyle/>
          <a:p>
            <a:pPr>
              <a:lnSpc>
                <a:spcPct val="130000"/>
              </a:lnSpc>
            </a:pPr>
            <a:r>
              <a:rPr lang="en-US" sz="1000" b="1" dirty="0">
                <a:solidFill>
                  <a:srgbClr val="4A6C8C"/>
                </a:solidFill>
                <a:latin typeface="Quattrocento Sans" pitchFamily="34" charset="0"/>
                <a:ea typeface="Quattrocento Sans" pitchFamily="34" charset="-122"/>
                <a:cs typeface="Quattrocento Sans" pitchFamily="34" charset="-120"/>
              </a:rPr>
              <a:t>Grayscale:</a:t>
            </a:r>
            <a:r>
              <a:rPr lang="en-US" sz="1000" dirty="0">
                <a:solidFill>
                  <a:srgbClr val="E0E2E5">
                    <a:alpha val="90000"/>
                  </a:srgbClr>
                </a:solidFill>
                <a:latin typeface="Quattrocento Sans" pitchFamily="34" charset="0"/>
                <a:ea typeface="Quattrocento Sans" pitchFamily="34" charset="-122"/>
                <a:cs typeface="Quattrocento Sans" pitchFamily="34" charset="-120"/>
              </a:rPr>
              <a:t> Reduces data complexity</a:t>
            </a:r>
            <a:endParaRPr lang="en-US" sz="1600" dirty="0"/>
          </a:p>
        </p:txBody>
      </p:sp>
      <p:sp>
        <p:nvSpPr>
          <p:cNvPr id="69" name="Shape 67"/>
          <p:cNvSpPr/>
          <p:nvPr/>
        </p:nvSpPr>
        <p:spPr>
          <a:xfrm>
            <a:off x="482600" y="4841875"/>
            <a:ext cx="3413125" cy="317500"/>
          </a:xfrm>
          <a:custGeom>
            <a:avLst/>
            <a:gdLst/>
            <a:ahLst/>
            <a:cxnLst/>
            <a:rect l="l" t="t" r="r" b="b"/>
            <a:pathLst>
              <a:path w="3413125" h="317500">
                <a:moveTo>
                  <a:pt x="31750" y="0"/>
                </a:moveTo>
                <a:lnTo>
                  <a:pt x="3381375" y="0"/>
                </a:lnTo>
                <a:cubicBezTo>
                  <a:pt x="3398898" y="0"/>
                  <a:pt x="3413125" y="14227"/>
                  <a:pt x="3413125" y="31750"/>
                </a:cubicBezTo>
                <a:lnTo>
                  <a:pt x="3413125" y="285750"/>
                </a:lnTo>
                <a:cubicBezTo>
                  <a:pt x="3413125" y="303273"/>
                  <a:pt x="3398898" y="317500"/>
                  <a:pt x="3381375" y="317500"/>
                </a:cubicBezTo>
                <a:lnTo>
                  <a:pt x="31750" y="317500"/>
                </a:lnTo>
                <a:cubicBezTo>
                  <a:pt x="14227" y="317500"/>
                  <a:pt x="0" y="303273"/>
                  <a:pt x="0" y="285750"/>
                </a:cubicBezTo>
                <a:lnTo>
                  <a:pt x="0" y="31750"/>
                </a:lnTo>
                <a:cubicBezTo>
                  <a:pt x="0" y="14227"/>
                  <a:pt x="14227" y="0"/>
                  <a:pt x="31750" y="0"/>
                </a:cubicBezTo>
                <a:close/>
              </a:path>
            </a:pathLst>
          </a:custGeom>
          <a:solidFill>
            <a:srgbClr val="1A1D21">
              <a:alpha val="50196"/>
            </a:srgbClr>
          </a:solidFill>
          <a:ln/>
        </p:spPr>
        <p:txBody>
          <a:bodyPr/>
          <a:lstStyle/>
          <a:p>
            <a:endParaRPr lang="en-US"/>
          </a:p>
        </p:txBody>
      </p:sp>
      <p:sp>
        <p:nvSpPr>
          <p:cNvPr id="70" name="Text 68"/>
          <p:cNvSpPr/>
          <p:nvPr/>
        </p:nvSpPr>
        <p:spPr>
          <a:xfrm>
            <a:off x="546100" y="4905375"/>
            <a:ext cx="3349625" cy="190500"/>
          </a:xfrm>
          <a:prstGeom prst="rect">
            <a:avLst/>
          </a:prstGeom>
          <a:noFill/>
          <a:ln/>
        </p:spPr>
        <p:txBody>
          <a:bodyPr wrap="square" lIns="0" tIns="0" rIns="0" bIns="0" rtlCol="0" anchor="ctr"/>
          <a:lstStyle/>
          <a:p>
            <a:pPr>
              <a:lnSpc>
                <a:spcPct val="130000"/>
              </a:lnSpc>
            </a:pPr>
            <a:r>
              <a:rPr lang="en-US" sz="1000" b="1" dirty="0">
                <a:solidFill>
                  <a:srgbClr val="5A7D7C"/>
                </a:solidFill>
                <a:latin typeface="Quattrocento Sans" pitchFamily="34" charset="0"/>
                <a:ea typeface="Quattrocento Sans" pitchFamily="34" charset="-122"/>
                <a:cs typeface="Quattrocento Sans" pitchFamily="34" charset="-120"/>
              </a:rPr>
              <a:t>Thresholding:</a:t>
            </a:r>
            <a:r>
              <a:rPr lang="en-US" sz="1000" dirty="0">
                <a:solidFill>
                  <a:srgbClr val="E0E2E5">
                    <a:alpha val="90000"/>
                  </a:srgbClr>
                </a:solidFill>
                <a:latin typeface="Quattrocento Sans" pitchFamily="34" charset="0"/>
                <a:ea typeface="Quattrocento Sans" pitchFamily="34" charset="-122"/>
                <a:cs typeface="Quattrocento Sans" pitchFamily="34" charset="-120"/>
              </a:rPr>
              <a:t> Enables segmentation</a:t>
            </a:r>
            <a:endParaRPr lang="en-US" sz="1600" dirty="0"/>
          </a:p>
        </p:txBody>
      </p:sp>
      <p:sp>
        <p:nvSpPr>
          <p:cNvPr id="71" name="Shape 69"/>
          <p:cNvSpPr/>
          <p:nvPr/>
        </p:nvSpPr>
        <p:spPr>
          <a:xfrm>
            <a:off x="482600" y="5222875"/>
            <a:ext cx="3413125" cy="317500"/>
          </a:xfrm>
          <a:custGeom>
            <a:avLst/>
            <a:gdLst/>
            <a:ahLst/>
            <a:cxnLst/>
            <a:rect l="l" t="t" r="r" b="b"/>
            <a:pathLst>
              <a:path w="3413125" h="317500">
                <a:moveTo>
                  <a:pt x="31750" y="0"/>
                </a:moveTo>
                <a:lnTo>
                  <a:pt x="3381375" y="0"/>
                </a:lnTo>
                <a:cubicBezTo>
                  <a:pt x="3398898" y="0"/>
                  <a:pt x="3413125" y="14227"/>
                  <a:pt x="3413125" y="31750"/>
                </a:cubicBezTo>
                <a:lnTo>
                  <a:pt x="3413125" y="285750"/>
                </a:lnTo>
                <a:cubicBezTo>
                  <a:pt x="3413125" y="303273"/>
                  <a:pt x="3398898" y="317500"/>
                  <a:pt x="3381375" y="317500"/>
                </a:cubicBezTo>
                <a:lnTo>
                  <a:pt x="31750" y="317500"/>
                </a:lnTo>
                <a:cubicBezTo>
                  <a:pt x="14227" y="317500"/>
                  <a:pt x="0" y="303273"/>
                  <a:pt x="0" y="285750"/>
                </a:cubicBezTo>
                <a:lnTo>
                  <a:pt x="0" y="31750"/>
                </a:lnTo>
                <a:cubicBezTo>
                  <a:pt x="0" y="14227"/>
                  <a:pt x="14227" y="0"/>
                  <a:pt x="31750" y="0"/>
                </a:cubicBezTo>
                <a:close/>
              </a:path>
            </a:pathLst>
          </a:custGeom>
          <a:solidFill>
            <a:srgbClr val="1A1D21">
              <a:alpha val="50196"/>
            </a:srgbClr>
          </a:solidFill>
          <a:ln/>
        </p:spPr>
        <p:txBody>
          <a:bodyPr/>
          <a:lstStyle/>
          <a:p>
            <a:endParaRPr lang="en-US"/>
          </a:p>
        </p:txBody>
      </p:sp>
      <p:sp>
        <p:nvSpPr>
          <p:cNvPr id="72" name="Text 70"/>
          <p:cNvSpPr/>
          <p:nvPr/>
        </p:nvSpPr>
        <p:spPr>
          <a:xfrm>
            <a:off x="546100" y="5286375"/>
            <a:ext cx="3349625" cy="190500"/>
          </a:xfrm>
          <a:prstGeom prst="rect">
            <a:avLst/>
          </a:prstGeom>
          <a:noFill/>
          <a:ln/>
        </p:spPr>
        <p:txBody>
          <a:bodyPr wrap="square" lIns="0" tIns="0" rIns="0" bIns="0" rtlCol="0" anchor="ctr"/>
          <a:lstStyle/>
          <a:p>
            <a:pPr>
              <a:lnSpc>
                <a:spcPct val="130000"/>
              </a:lnSpc>
            </a:pPr>
            <a:r>
              <a:rPr lang="en-US" sz="1000" b="1" dirty="0">
                <a:solidFill>
                  <a:srgbClr val="B8A890"/>
                </a:solidFill>
                <a:latin typeface="Quattrocento Sans" pitchFamily="34" charset="0"/>
                <a:ea typeface="Quattrocento Sans" pitchFamily="34" charset="-122"/>
                <a:cs typeface="Quattrocento Sans" pitchFamily="34" charset="-120"/>
              </a:rPr>
              <a:t>Erosion:</a:t>
            </a:r>
            <a:r>
              <a:rPr lang="en-US" sz="1000" dirty="0">
                <a:solidFill>
                  <a:srgbClr val="E0E2E5">
                    <a:alpha val="90000"/>
                  </a:srgbClr>
                </a:solidFill>
                <a:latin typeface="Quattrocento Sans" pitchFamily="34" charset="0"/>
                <a:ea typeface="Quattrocento Sans" pitchFamily="34" charset="-122"/>
                <a:cs typeface="Quattrocento Sans" pitchFamily="34" charset="-120"/>
              </a:rPr>
              <a:t> Cleans object shape</a:t>
            </a:r>
            <a:endParaRPr lang="en-US" sz="1600" dirty="0"/>
          </a:p>
        </p:txBody>
      </p:sp>
      <p:sp>
        <p:nvSpPr>
          <p:cNvPr id="73" name="Shape 71"/>
          <p:cNvSpPr/>
          <p:nvPr/>
        </p:nvSpPr>
        <p:spPr>
          <a:xfrm>
            <a:off x="482600" y="5603875"/>
            <a:ext cx="3413125" cy="317500"/>
          </a:xfrm>
          <a:custGeom>
            <a:avLst/>
            <a:gdLst/>
            <a:ahLst/>
            <a:cxnLst/>
            <a:rect l="l" t="t" r="r" b="b"/>
            <a:pathLst>
              <a:path w="3413125" h="317500">
                <a:moveTo>
                  <a:pt x="31750" y="0"/>
                </a:moveTo>
                <a:lnTo>
                  <a:pt x="3381375" y="0"/>
                </a:lnTo>
                <a:cubicBezTo>
                  <a:pt x="3398898" y="0"/>
                  <a:pt x="3413125" y="14227"/>
                  <a:pt x="3413125" y="31750"/>
                </a:cubicBezTo>
                <a:lnTo>
                  <a:pt x="3413125" y="285750"/>
                </a:lnTo>
                <a:cubicBezTo>
                  <a:pt x="3413125" y="303273"/>
                  <a:pt x="3398898" y="317500"/>
                  <a:pt x="3381375" y="317500"/>
                </a:cubicBezTo>
                <a:lnTo>
                  <a:pt x="31750" y="317500"/>
                </a:lnTo>
                <a:cubicBezTo>
                  <a:pt x="14227" y="317500"/>
                  <a:pt x="0" y="303273"/>
                  <a:pt x="0" y="285750"/>
                </a:cubicBezTo>
                <a:lnTo>
                  <a:pt x="0" y="31750"/>
                </a:lnTo>
                <a:cubicBezTo>
                  <a:pt x="0" y="14227"/>
                  <a:pt x="14227" y="0"/>
                  <a:pt x="31750" y="0"/>
                </a:cubicBezTo>
                <a:close/>
              </a:path>
            </a:pathLst>
          </a:custGeom>
          <a:solidFill>
            <a:srgbClr val="1A1D21">
              <a:alpha val="50196"/>
            </a:srgbClr>
          </a:solidFill>
          <a:ln/>
        </p:spPr>
        <p:txBody>
          <a:bodyPr/>
          <a:lstStyle/>
          <a:p>
            <a:endParaRPr lang="en-US"/>
          </a:p>
        </p:txBody>
      </p:sp>
      <p:sp>
        <p:nvSpPr>
          <p:cNvPr id="74" name="Text 72"/>
          <p:cNvSpPr/>
          <p:nvPr/>
        </p:nvSpPr>
        <p:spPr>
          <a:xfrm>
            <a:off x="546100" y="5667375"/>
            <a:ext cx="3349625" cy="190500"/>
          </a:xfrm>
          <a:prstGeom prst="rect">
            <a:avLst/>
          </a:prstGeom>
          <a:noFill/>
          <a:ln/>
        </p:spPr>
        <p:txBody>
          <a:bodyPr wrap="square" lIns="0" tIns="0" rIns="0" bIns="0" rtlCol="0" anchor="ctr"/>
          <a:lstStyle/>
          <a:p>
            <a:pPr>
              <a:lnSpc>
                <a:spcPct val="130000"/>
              </a:lnSpc>
            </a:pPr>
            <a:r>
              <a:rPr lang="en-US" sz="1000" b="1" dirty="0">
                <a:solidFill>
                  <a:srgbClr val="4A6C8C"/>
                </a:solidFill>
                <a:latin typeface="Quattrocento Sans" pitchFamily="34" charset="0"/>
                <a:ea typeface="Quattrocento Sans" pitchFamily="34" charset="-122"/>
                <a:cs typeface="Quattrocento Sans" pitchFamily="34" charset="-120"/>
              </a:rPr>
              <a:t>Boundary:</a:t>
            </a:r>
            <a:r>
              <a:rPr lang="en-US" sz="1000" dirty="0">
                <a:solidFill>
                  <a:srgbClr val="E0E2E5">
                    <a:alpha val="90000"/>
                  </a:srgbClr>
                </a:solidFill>
                <a:latin typeface="Quattrocento Sans" pitchFamily="34" charset="0"/>
                <a:ea typeface="Quattrocento Sans" pitchFamily="34" charset="-122"/>
                <a:cs typeface="Quattrocento Sans" pitchFamily="34" charset="-120"/>
              </a:rPr>
              <a:t> Extracts precise contours</a:t>
            </a:r>
            <a:endParaRPr lang="en-US" sz="1600" dirty="0"/>
          </a:p>
        </p:txBody>
      </p:sp>
      <p:sp>
        <p:nvSpPr>
          <p:cNvPr id="75" name="Shape 73"/>
          <p:cNvSpPr/>
          <p:nvPr/>
        </p:nvSpPr>
        <p:spPr>
          <a:xfrm>
            <a:off x="482600" y="5984875"/>
            <a:ext cx="3413125" cy="317500"/>
          </a:xfrm>
          <a:custGeom>
            <a:avLst/>
            <a:gdLst/>
            <a:ahLst/>
            <a:cxnLst/>
            <a:rect l="l" t="t" r="r" b="b"/>
            <a:pathLst>
              <a:path w="3413125" h="317500">
                <a:moveTo>
                  <a:pt x="31750" y="0"/>
                </a:moveTo>
                <a:lnTo>
                  <a:pt x="3381375" y="0"/>
                </a:lnTo>
                <a:cubicBezTo>
                  <a:pt x="3398898" y="0"/>
                  <a:pt x="3413125" y="14227"/>
                  <a:pt x="3413125" y="31750"/>
                </a:cubicBezTo>
                <a:lnTo>
                  <a:pt x="3413125" y="285750"/>
                </a:lnTo>
                <a:cubicBezTo>
                  <a:pt x="3413125" y="303273"/>
                  <a:pt x="3398898" y="317500"/>
                  <a:pt x="3381375" y="317500"/>
                </a:cubicBezTo>
                <a:lnTo>
                  <a:pt x="31750" y="317500"/>
                </a:lnTo>
                <a:cubicBezTo>
                  <a:pt x="14227" y="317500"/>
                  <a:pt x="0" y="303273"/>
                  <a:pt x="0" y="285750"/>
                </a:cubicBezTo>
                <a:lnTo>
                  <a:pt x="0" y="31750"/>
                </a:lnTo>
                <a:cubicBezTo>
                  <a:pt x="0" y="14227"/>
                  <a:pt x="14227" y="0"/>
                  <a:pt x="31750" y="0"/>
                </a:cubicBezTo>
                <a:close/>
              </a:path>
            </a:pathLst>
          </a:custGeom>
          <a:solidFill>
            <a:srgbClr val="1A1D21">
              <a:alpha val="50196"/>
            </a:srgbClr>
          </a:solidFill>
          <a:ln/>
        </p:spPr>
        <p:txBody>
          <a:bodyPr/>
          <a:lstStyle/>
          <a:p>
            <a:endParaRPr lang="en-US"/>
          </a:p>
        </p:txBody>
      </p:sp>
      <p:sp>
        <p:nvSpPr>
          <p:cNvPr id="76" name="Text 74"/>
          <p:cNvSpPr/>
          <p:nvPr/>
        </p:nvSpPr>
        <p:spPr>
          <a:xfrm>
            <a:off x="546100" y="6048375"/>
            <a:ext cx="3349625" cy="190500"/>
          </a:xfrm>
          <a:prstGeom prst="rect">
            <a:avLst/>
          </a:prstGeom>
          <a:noFill/>
          <a:ln/>
        </p:spPr>
        <p:txBody>
          <a:bodyPr wrap="square" lIns="0" tIns="0" rIns="0" bIns="0" rtlCol="0" anchor="ctr"/>
          <a:lstStyle/>
          <a:p>
            <a:pPr>
              <a:lnSpc>
                <a:spcPct val="130000"/>
              </a:lnSpc>
            </a:pPr>
            <a:r>
              <a:rPr lang="en-US" sz="1000" b="1" dirty="0">
                <a:solidFill>
                  <a:srgbClr val="5A7D7C"/>
                </a:solidFill>
                <a:latin typeface="Quattrocento Sans" pitchFamily="34" charset="0"/>
                <a:ea typeface="Quattrocento Sans" pitchFamily="34" charset="-122"/>
                <a:cs typeface="Quattrocento Sans" pitchFamily="34" charset="-120"/>
              </a:rPr>
              <a:t>Dilation:</a:t>
            </a:r>
            <a:r>
              <a:rPr lang="en-US" sz="1000" dirty="0">
                <a:solidFill>
                  <a:srgbClr val="E0E2E5">
                    <a:alpha val="90000"/>
                  </a:srgbClr>
                </a:solidFill>
                <a:latin typeface="Quattrocento Sans" pitchFamily="34" charset="0"/>
                <a:ea typeface="Quattrocento Sans" pitchFamily="34" charset="-122"/>
                <a:cs typeface="Quattrocento Sans" pitchFamily="34" charset="-120"/>
              </a:rPr>
              <a:t> Enhances visibility</a:t>
            </a:r>
            <a:endParaRPr lang="en-US" sz="1600" dirty="0"/>
          </a:p>
        </p:txBody>
      </p:sp>
      <p:sp>
        <p:nvSpPr>
          <p:cNvPr id="77" name="Shape 75"/>
          <p:cNvSpPr/>
          <p:nvPr/>
        </p:nvSpPr>
        <p:spPr>
          <a:xfrm>
            <a:off x="4225925" y="3981452"/>
            <a:ext cx="3736975" cy="2482850"/>
          </a:xfrm>
          <a:custGeom>
            <a:avLst/>
            <a:gdLst/>
            <a:ahLst/>
            <a:cxnLst/>
            <a:rect l="l" t="t" r="r" b="b"/>
            <a:pathLst>
              <a:path w="3736975" h="2482850">
                <a:moveTo>
                  <a:pt x="95242" y="0"/>
                </a:moveTo>
                <a:lnTo>
                  <a:pt x="3641733" y="0"/>
                </a:lnTo>
                <a:cubicBezTo>
                  <a:pt x="3694334" y="0"/>
                  <a:pt x="3736975" y="42641"/>
                  <a:pt x="3736975" y="95242"/>
                </a:cubicBezTo>
                <a:lnTo>
                  <a:pt x="3736975" y="2387608"/>
                </a:lnTo>
                <a:cubicBezTo>
                  <a:pt x="3736975" y="2440209"/>
                  <a:pt x="3694334" y="2482850"/>
                  <a:pt x="3641733" y="2482850"/>
                </a:cubicBezTo>
                <a:lnTo>
                  <a:pt x="95242" y="2482850"/>
                </a:lnTo>
                <a:cubicBezTo>
                  <a:pt x="42641" y="2482850"/>
                  <a:pt x="0" y="2440209"/>
                  <a:pt x="0" y="2387608"/>
                </a:cubicBezTo>
                <a:lnTo>
                  <a:pt x="0" y="95242"/>
                </a:lnTo>
                <a:cubicBezTo>
                  <a:pt x="0" y="42677"/>
                  <a:pt x="42677" y="0"/>
                  <a:pt x="95242"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78" name="Text 76"/>
          <p:cNvSpPr/>
          <p:nvPr/>
        </p:nvSpPr>
        <p:spPr>
          <a:xfrm>
            <a:off x="4387850" y="4143375"/>
            <a:ext cx="349250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Sequential Processing</a:t>
            </a:r>
            <a:endParaRPr lang="en-US" sz="1600" dirty="0"/>
          </a:p>
        </p:txBody>
      </p:sp>
      <p:sp>
        <p:nvSpPr>
          <p:cNvPr id="79" name="Text 77"/>
          <p:cNvSpPr/>
          <p:nvPr/>
        </p:nvSpPr>
        <p:spPr>
          <a:xfrm>
            <a:off x="4387850" y="4460875"/>
            <a:ext cx="3476625" cy="619125"/>
          </a:xfrm>
          <a:prstGeom prst="rect">
            <a:avLst/>
          </a:prstGeom>
          <a:noFill/>
          <a:ln/>
        </p:spPr>
        <p:txBody>
          <a:bodyPr wrap="square" lIns="0" tIns="0" rIns="0" bIns="0" rtlCol="0" anchor="ctr"/>
          <a:lstStyle/>
          <a:p>
            <a:pPr>
              <a:lnSpc>
                <a:spcPct val="140000"/>
              </a:lnSpc>
            </a:pPr>
            <a:r>
              <a:rPr lang="en-US" sz="1000" dirty="0">
                <a:solidFill>
                  <a:srgbClr val="E0E2E5">
                    <a:alpha val="90000"/>
                  </a:srgbClr>
                </a:solidFill>
                <a:latin typeface="Quattrocento Sans" pitchFamily="34" charset="0"/>
                <a:ea typeface="Quattrocento Sans" pitchFamily="34" charset="-122"/>
                <a:cs typeface="Quattrocento Sans" pitchFamily="34" charset="-120"/>
              </a:rPr>
              <a:t>Each operation builds upon the previous result, creating a cumulative enhancement effect that transforms raw images into analytically useful data.</a:t>
            </a:r>
            <a:endParaRPr lang="en-US" sz="1600" dirty="0"/>
          </a:p>
        </p:txBody>
      </p:sp>
      <p:sp>
        <p:nvSpPr>
          <p:cNvPr id="80" name="Shape 78"/>
          <p:cNvSpPr/>
          <p:nvPr/>
        </p:nvSpPr>
        <p:spPr>
          <a:xfrm>
            <a:off x="4403725" y="5175250"/>
            <a:ext cx="3397250" cy="889000"/>
          </a:xfrm>
          <a:custGeom>
            <a:avLst/>
            <a:gdLst/>
            <a:ahLst/>
            <a:cxnLst/>
            <a:rect l="l" t="t" r="r" b="b"/>
            <a:pathLst>
              <a:path w="3397250" h="889000">
                <a:moveTo>
                  <a:pt x="31750" y="0"/>
                </a:moveTo>
                <a:lnTo>
                  <a:pt x="3333749" y="0"/>
                </a:lnTo>
                <a:cubicBezTo>
                  <a:pt x="3368820" y="0"/>
                  <a:pt x="3397250" y="28430"/>
                  <a:pt x="3397250" y="63501"/>
                </a:cubicBezTo>
                <a:lnTo>
                  <a:pt x="3397250" y="825499"/>
                </a:lnTo>
                <a:cubicBezTo>
                  <a:pt x="3397250" y="860570"/>
                  <a:pt x="3368820" y="889000"/>
                  <a:pt x="3333749" y="889000"/>
                </a:cubicBezTo>
                <a:lnTo>
                  <a:pt x="31750" y="889000"/>
                </a:lnTo>
                <a:cubicBezTo>
                  <a:pt x="14215" y="889000"/>
                  <a:pt x="0" y="874785"/>
                  <a:pt x="0" y="857250"/>
                </a:cubicBezTo>
                <a:lnTo>
                  <a:pt x="0" y="31750"/>
                </a:lnTo>
                <a:cubicBezTo>
                  <a:pt x="0" y="14227"/>
                  <a:pt x="14227" y="0"/>
                  <a:pt x="31750" y="0"/>
                </a:cubicBezTo>
                <a:close/>
              </a:path>
            </a:pathLst>
          </a:custGeom>
          <a:solidFill>
            <a:srgbClr val="5A7D7C">
              <a:alpha val="10196"/>
            </a:srgbClr>
          </a:solidFill>
          <a:ln/>
        </p:spPr>
        <p:txBody>
          <a:bodyPr/>
          <a:lstStyle/>
          <a:p>
            <a:endParaRPr lang="en-US"/>
          </a:p>
        </p:txBody>
      </p:sp>
      <p:sp>
        <p:nvSpPr>
          <p:cNvPr id="81" name="Shape 79"/>
          <p:cNvSpPr/>
          <p:nvPr/>
        </p:nvSpPr>
        <p:spPr>
          <a:xfrm>
            <a:off x="4403725" y="5175250"/>
            <a:ext cx="31750" cy="889000"/>
          </a:xfrm>
          <a:custGeom>
            <a:avLst/>
            <a:gdLst/>
            <a:ahLst/>
            <a:cxnLst/>
            <a:rect l="l" t="t" r="r" b="b"/>
            <a:pathLst>
              <a:path w="31750" h="889000">
                <a:moveTo>
                  <a:pt x="31750" y="0"/>
                </a:moveTo>
                <a:lnTo>
                  <a:pt x="31750" y="0"/>
                </a:lnTo>
                <a:lnTo>
                  <a:pt x="31750" y="889000"/>
                </a:lnTo>
                <a:lnTo>
                  <a:pt x="31750" y="889000"/>
                </a:lnTo>
                <a:cubicBezTo>
                  <a:pt x="14227" y="889000"/>
                  <a:pt x="0" y="874773"/>
                  <a:pt x="0" y="857250"/>
                </a:cubicBezTo>
                <a:lnTo>
                  <a:pt x="0" y="31750"/>
                </a:lnTo>
                <a:cubicBezTo>
                  <a:pt x="0" y="14227"/>
                  <a:pt x="14227" y="0"/>
                  <a:pt x="31750" y="0"/>
                </a:cubicBezTo>
                <a:close/>
              </a:path>
            </a:pathLst>
          </a:custGeom>
          <a:solidFill>
            <a:srgbClr val="5A7D7C"/>
          </a:solidFill>
          <a:ln/>
        </p:spPr>
        <p:txBody>
          <a:bodyPr/>
          <a:lstStyle/>
          <a:p>
            <a:endParaRPr lang="en-US"/>
          </a:p>
        </p:txBody>
      </p:sp>
      <p:sp>
        <p:nvSpPr>
          <p:cNvPr id="82" name="Text 80"/>
          <p:cNvSpPr/>
          <p:nvPr/>
        </p:nvSpPr>
        <p:spPr>
          <a:xfrm>
            <a:off x="4514850" y="5270500"/>
            <a:ext cx="3254375" cy="698500"/>
          </a:xfrm>
          <a:prstGeom prst="rect">
            <a:avLst/>
          </a:prstGeom>
          <a:noFill/>
          <a:ln/>
        </p:spPr>
        <p:txBody>
          <a:bodyPr wrap="square" lIns="0" tIns="0" rIns="0" bIns="0" rtlCol="0" anchor="ctr"/>
          <a:lstStyle/>
          <a:p>
            <a:pPr>
              <a:lnSpc>
                <a:spcPct val="110000"/>
              </a:lnSpc>
            </a:pPr>
            <a:r>
              <a:rPr lang="en-US" sz="1000" b="1" dirty="0">
                <a:solidFill>
                  <a:srgbClr val="B8A890"/>
                </a:solidFill>
                <a:latin typeface="Quattrocento Sans" pitchFamily="34" charset="0"/>
                <a:ea typeface="Quattrocento Sans" pitchFamily="34" charset="-122"/>
                <a:cs typeface="Quattrocento Sans" pitchFamily="34" charset="-120"/>
              </a:rPr>
              <a:t>Key Principle:</a:t>
            </a:r>
            <a:r>
              <a:rPr lang="en-US" sz="1000" dirty="0">
                <a:solidFill>
                  <a:srgbClr val="E0E2E5">
                    <a:alpha val="90000"/>
                  </a:srgbClr>
                </a:solidFill>
                <a:latin typeface="Quattrocento Sans" pitchFamily="34" charset="0"/>
                <a:ea typeface="Quattrocento Sans" pitchFamily="34" charset="-122"/>
                <a:cs typeface="Quattrocento Sans" pitchFamily="34" charset="-120"/>
              </a:rPr>
              <a:t> The pipeline is designed to progressively refine the image - from color to grayscale, from grayscale to binary, from binary to clean shape, and from clean shape to precise boundaries.</a:t>
            </a:r>
            <a:endParaRPr lang="en-US" sz="1600" dirty="0"/>
          </a:p>
        </p:txBody>
      </p:sp>
      <p:sp>
        <p:nvSpPr>
          <p:cNvPr id="83" name="Shape 81"/>
          <p:cNvSpPr/>
          <p:nvPr/>
        </p:nvSpPr>
        <p:spPr>
          <a:xfrm>
            <a:off x="8131175" y="3981452"/>
            <a:ext cx="3736975" cy="2482850"/>
          </a:xfrm>
          <a:custGeom>
            <a:avLst/>
            <a:gdLst/>
            <a:ahLst/>
            <a:cxnLst/>
            <a:rect l="l" t="t" r="r" b="b"/>
            <a:pathLst>
              <a:path w="3736975" h="2482850">
                <a:moveTo>
                  <a:pt x="95242" y="0"/>
                </a:moveTo>
                <a:lnTo>
                  <a:pt x="3641733" y="0"/>
                </a:lnTo>
                <a:cubicBezTo>
                  <a:pt x="3694334" y="0"/>
                  <a:pt x="3736975" y="42641"/>
                  <a:pt x="3736975" y="95242"/>
                </a:cubicBezTo>
                <a:lnTo>
                  <a:pt x="3736975" y="2387608"/>
                </a:lnTo>
                <a:cubicBezTo>
                  <a:pt x="3736975" y="2440209"/>
                  <a:pt x="3694334" y="2482850"/>
                  <a:pt x="3641733" y="2482850"/>
                </a:cubicBezTo>
                <a:lnTo>
                  <a:pt x="95242" y="2482850"/>
                </a:lnTo>
                <a:cubicBezTo>
                  <a:pt x="42641" y="2482850"/>
                  <a:pt x="0" y="2440209"/>
                  <a:pt x="0" y="2387608"/>
                </a:cubicBezTo>
                <a:lnTo>
                  <a:pt x="0" y="95242"/>
                </a:lnTo>
                <a:cubicBezTo>
                  <a:pt x="0" y="42677"/>
                  <a:pt x="42677" y="0"/>
                  <a:pt x="95242" y="0"/>
                </a:cubicBezTo>
                <a:close/>
              </a:path>
            </a:pathLst>
          </a:custGeom>
          <a:solidFill>
            <a:srgbClr val="1A1D21">
              <a:alpha val="50196"/>
            </a:srgbClr>
          </a:solidFill>
          <a:ln w="10160">
            <a:solidFill>
              <a:srgbClr val="B8A890">
                <a:alpha val="30196"/>
              </a:srgbClr>
            </a:solidFill>
            <a:prstDash val="solid"/>
          </a:ln>
        </p:spPr>
        <p:txBody>
          <a:bodyPr/>
          <a:lstStyle/>
          <a:p>
            <a:endParaRPr lang="en-US"/>
          </a:p>
        </p:txBody>
      </p:sp>
      <p:sp>
        <p:nvSpPr>
          <p:cNvPr id="84" name="Text 82"/>
          <p:cNvSpPr/>
          <p:nvPr/>
        </p:nvSpPr>
        <p:spPr>
          <a:xfrm>
            <a:off x="8293100" y="4143375"/>
            <a:ext cx="349250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Liter" pitchFamily="34" charset="0"/>
                <a:ea typeface="Liter" pitchFamily="34" charset="-122"/>
                <a:cs typeface="Liter" pitchFamily="34" charset="-120"/>
              </a:rPr>
              <a:t>Quality Metrics</a:t>
            </a:r>
            <a:endParaRPr lang="en-US" sz="1600" dirty="0"/>
          </a:p>
        </p:txBody>
      </p:sp>
      <p:sp>
        <p:nvSpPr>
          <p:cNvPr id="85" name="Shape 83"/>
          <p:cNvSpPr/>
          <p:nvPr/>
        </p:nvSpPr>
        <p:spPr>
          <a:xfrm>
            <a:off x="8293100" y="4460875"/>
            <a:ext cx="3413125" cy="349250"/>
          </a:xfrm>
          <a:custGeom>
            <a:avLst/>
            <a:gdLst/>
            <a:ahLst/>
            <a:cxnLst/>
            <a:rect l="l" t="t" r="r" b="b"/>
            <a:pathLst>
              <a:path w="3413125" h="349250">
                <a:moveTo>
                  <a:pt x="31750" y="0"/>
                </a:moveTo>
                <a:lnTo>
                  <a:pt x="3381375" y="0"/>
                </a:lnTo>
                <a:cubicBezTo>
                  <a:pt x="3398910" y="0"/>
                  <a:pt x="3413125" y="14215"/>
                  <a:pt x="3413125" y="31750"/>
                </a:cubicBezTo>
                <a:lnTo>
                  <a:pt x="3413125" y="317500"/>
                </a:lnTo>
                <a:cubicBezTo>
                  <a:pt x="3413125" y="335035"/>
                  <a:pt x="3398910" y="349250"/>
                  <a:pt x="3381375" y="349250"/>
                </a:cubicBezTo>
                <a:lnTo>
                  <a:pt x="31750" y="349250"/>
                </a:lnTo>
                <a:cubicBezTo>
                  <a:pt x="14215" y="349250"/>
                  <a:pt x="0" y="335035"/>
                  <a:pt x="0" y="317500"/>
                </a:cubicBezTo>
                <a:lnTo>
                  <a:pt x="0" y="31750"/>
                </a:lnTo>
                <a:cubicBezTo>
                  <a:pt x="0" y="14215"/>
                  <a:pt x="14215" y="0"/>
                  <a:pt x="31750" y="0"/>
                </a:cubicBezTo>
                <a:close/>
              </a:path>
            </a:pathLst>
          </a:custGeom>
          <a:solidFill>
            <a:srgbClr val="4A6C8C">
              <a:alpha val="10196"/>
            </a:srgbClr>
          </a:solidFill>
          <a:ln/>
        </p:spPr>
        <p:txBody>
          <a:bodyPr/>
          <a:lstStyle/>
          <a:p>
            <a:endParaRPr lang="en-US"/>
          </a:p>
        </p:txBody>
      </p:sp>
      <p:sp>
        <p:nvSpPr>
          <p:cNvPr id="86" name="Text 84"/>
          <p:cNvSpPr/>
          <p:nvPr/>
        </p:nvSpPr>
        <p:spPr>
          <a:xfrm>
            <a:off x="8356600" y="4540250"/>
            <a:ext cx="1119188" cy="190500"/>
          </a:xfrm>
          <a:prstGeom prst="rect">
            <a:avLst/>
          </a:prstGeom>
          <a:noFill/>
          <a:ln/>
        </p:spPr>
        <p:txBody>
          <a:bodyPr wrap="square" lIns="0" tIns="0" rIns="0" bIns="0" rtlCol="0" anchor="ctr"/>
          <a:lstStyle/>
          <a:p>
            <a:pPr>
              <a:lnSpc>
                <a:spcPct val="130000"/>
              </a:lnSpc>
            </a:pPr>
            <a:r>
              <a:rPr lang="en-US" sz="1000" dirty="0">
                <a:solidFill>
                  <a:srgbClr val="E0E2E5">
                    <a:alpha val="90000"/>
                  </a:srgbClr>
                </a:solidFill>
                <a:latin typeface="Quattrocento Sans" pitchFamily="34" charset="0"/>
                <a:ea typeface="Quattrocento Sans" pitchFamily="34" charset="-122"/>
                <a:cs typeface="Quattrocento Sans" pitchFamily="34" charset="-120"/>
              </a:rPr>
              <a:t>Boundary Precision</a:t>
            </a:r>
            <a:endParaRPr lang="en-US" sz="1600" dirty="0"/>
          </a:p>
        </p:txBody>
      </p:sp>
      <p:sp>
        <p:nvSpPr>
          <p:cNvPr id="87" name="Text 85"/>
          <p:cNvSpPr/>
          <p:nvPr/>
        </p:nvSpPr>
        <p:spPr>
          <a:xfrm>
            <a:off x="11373247" y="4524375"/>
            <a:ext cx="341313" cy="222250"/>
          </a:xfrm>
          <a:prstGeom prst="rect">
            <a:avLst/>
          </a:prstGeom>
          <a:noFill/>
          <a:ln/>
        </p:spPr>
        <p:txBody>
          <a:bodyPr wrap="square" lIns="0" tIns="0" rIns="0" bIns="0" rtlCol="0" anchor="ctr"/>
          <a:lstStyle/>
          <a:p>
            <a:pPr>
              <a:lnSpc>
                <a:spcPct val="130000"/>
              </a:lnSpc>
            </a:pPr>
            <a:r>
              <a:rPr lang="en-US" sz="1125" b="1" dirty="0">
                <a:solidFill>
                  <a:srgbClr val="4A6C8C"/>
                </a:solidFill>
                <a:latin typeface="Quattrocento Sans" pitchFamily="34" charset="0"/>
                <a:ea typeface="Quattrocento Sans" pitchFamily="34" charset="-122"/>
                <a:cs typeface="Quattrocento Sans" pitchFamily="34" charset="-120"/>
              </a:rPr>
              <a:t>95%</a:t>
            </a:r>
            <a:endParaRPr lang="en-US" sz="1600" dirty="0"/>
          </a:p>
        </p:txBody>
      </p:sp>
      <p:sp>
        <p:nvSpPr>
          <p:cNvPr id="88" name="Shape 86"/>
          <p:cNvSpPr/>
          <p:nvPr/>
        </p:nvSpPr>
        <p:spPr>
          <a:xfrm>
            <a:off x="8293100" y="4873625"/>
            <a:ext cx="3413125" cy="349250"/>
          </a:xfrm>
          <a:custGeom>
            <a:avLst/>
            <a:gdLst/>
            <a:ahLst/>
            <a:cxnLst/>
            <a:rect l="l" t="t" r="r" b="b"/>
            <a:pathLst>
              <a:path w="3413125" h="349250">
                <a:moveTo>
                  <a:pt x="31750" y="0"/>
                </a:moveTo>
                <a:lnTo>
                  <a:pt x="3381375" y="0"/>
                </a:lnTo>
                <a:cubicBezTo>
                  <a:pt x="3398910" y="0"/>
                  <a:pt x="3413125" y="14215"/>
                  <a:pt x="3413125" y="31750"/>
                </a:cubicBezTo>
                <a:lnTo>
                  <a:pt x="3413125" y="317500"/>
                </a:lnTo>
                <a:cubicBezTo>
                  <a:pt x="3413125" y="335035"/>
                  <a:pt x="3398910" y="349250"/>
                  <a:pt x="3381375" y="349250"/>
                </a:cubicBezTo>
                <a:lnTo>
                  <a:pt x="31750" y="349250"/>
                </a:lnTo>
                <a:cubicBezTo>
                  <a:pt x="14215" y="349250"/>
                  <a:pt x="0" y="335035"/>
                  <a:pt x="0" y="317500"/>
                </a:cubicBezTo>
                <a:lnTo>
                  <a:pt x="0" y="31750"/>
                </a:lnTo>
                <a:cubicBezTo>
                  <a:pt x="0" y="14215"/>
                  <a:pt x="14215" y="0"/>
                  <a:pt x="31750" y="0"/>
                </a:cubicBezTo>
                <a:close/>
              </a:path>
            </a:pathLst>
          </a:custGeom>
          <a:solidFill>
            <a:srgbClr val="5A7D7C">
              <a:alpha val="10196"/>
            </a:srgbClr>
          </a:solidFill>
          <a:ln/>
        </p:spPr>
        <p:txBody>
          <a:bodyPr/>
          <a:lstStyle/>
          <a:p>
            <a:endParaRPr lang="en-US"/>
          </a:p>
        </p:txBody>
      </p:sp>
      <p:sp>
        <p:nvSpPr>
          <p:cNvPr id="89" name="Text 87"/>
          <p:cNvSpPr/>
          <p:nvPr/>
        </p:nvSpPr>
        <p:spPr>
          <a:xfrm>
            <a:off x="8356600" y="4953000"/>
            <a:ext cx="952500" cy="190500"/>
          </a:xfrm>
          <a:prstGeom prst="rect">
            <a:avLst/>
          </a:prstGeom>
          <a:noFill/>
          <a:ln/>
        </p:spPr>
        <p:txBody>
          <a:bodyPr wrap="square" lIns="0" tIns="0" rIns="0" bIns="0" rtlCol="0" anchor="ctr"/>
          <a:lstStyle/>
          <a:p>
            <a:pPr>
              <a:lnSpc>
                <a:spcPct val="130000"/>
              </a:lnSpc>
            </a:pPr>
            <a:r>
              <a:rPr lang="en-US" sz="1000" dirty="0">
                <a:solidFill>
                  <a:srgbClr val="E0E2E5">
                    <a:alpha val="90000"/>
                  </a:srgbClr>
                </a:solidFill>
                <a:latin typeface="Quattrocento Sans" pitchFamily="34" charset="0"/>
                <a:ea typeface="Quattrocento Sans" pitchFamily="34" charset="-122"/>
                <a:cs typeface="Quattrocento Sans" pitchFamily="34" charset="-120"/>
              </a:rPr>
              <a:t>Shape Accuracy</a:t>
            </a:r>
            <a:endParaRPr lang="en-US" sz="1600" dirty="0"/>
          </a:p>
        </p:txBody>
      </p:sp>
      <p:sp>
        <p:nvSpPr>
          <p:cNvPr id="90" name="Text 88"/>
          <p:cNvSpPr/>
          <p:nvPr/>
        </p:nvSpPr>
        <p:spPr>
          <a:xfrm>
            <a:off x="11377414" y="4937125"/>
            <a:ext cx="341313" cy="222250"/>
          </a:xfrm>
          <a:prstGeom prst="rect">
            <a:avLst/>
          </a:prstGeom>
          <a:noFill/>
          <a:ln/>
        </p:spPr>
        <p:txBody>
          <a:bodyPr wrap="square" lIns="0" tIns="0" rIns="0" bIns="0" rtlCol="0" anchor="ctr"/>
          <a:lstStyle/>
          <a:p>
            <a:pPr>
              <a:lnSpc>
                <a:spcPct val="130000"/>
              </a:lnSpc>
            </a:pPr>
            <a:r>
              <a:rPr lang="en-US" sz="1125" b="1" dirty="0">
                <a:solidFill>
                  <a:srgbClr val="5A7D7C"/>
                </a:solidFill>
                <a:latin typeface="Quattrocento Sans" pitchFamily="34" charset="0"/>
                <a:ea typeface="Quattrocento Sans" pitchFamily="34" charset="-122"/>
                <a:cs typeface="Quattrocento Sans" pitchFamily="34" charset="-120"/>
              </a:rPr>
              <a:t>92%</a:t>
            </a:r>
            <a:endParaRPr lang="en-US" sz="1600" dirty="0"/>
          </a:p>
        </p:txBody>
      </p:sp>
      <p:sp>
        <p:nvSpPr>
          <p:cNvPr id="91" name="Shape 89"/>
          <p:cNvSpPr/>
          <p:nvPr/>
        </p:nvSpPr>
        <p:spPr>
          <a:xfrm>
            <a:off x="8293100" y="5286375"/>
            <a:ext cx="3413125" cy="349250"/>
          </a:xfrm>
          <a:custGeom>
            <a:avLst/>
            <a:gdLst/>
            <a:ahLst/>
            <a:cxnLst/>
            <a:rect l="l" t="t" r="r" b="b"/>
            <a:pathLst>
              <a:path w="3413125" h="349250">
                <a:moveTo>
                  <a:pt x="31750" y="0"/>
                </a:moveTo>
                <a:lnTo>
                  <a:pt x="3381375" y="0"/>
                </a:lnTo>
                <a:cubicBezTo>
                  <a:pt x="3398910" y="0"/>
                  <a:pt x="3413125" y="14215"/>
                  <a:pt x="3413125" y="31750"/>
                </a:cubicBezTo>
                <a:lnTo>
                  <a:pt x="3413125" y="317500"/>
                </a:lnTo>
                <a:cubicBezTo>
                  <a:pt x="3413125" y="335035"/>
                  <a:pt x="3398910" y="349250"/>
                  <a:pt x="3381375" y="349250"/>
                </a:cubicBezTo>
                <a:lnTo>
                  <a:pt x="31750" y="349250"/>
                </a:lnTo>
                <a:cubicBezTo>
                  <a:pt x="14215" y="349250"/>
                  <a:pt x="0" y="335035"/>
                  <a:pt x="0" y="317500"/>
                </a:cubicBezTo>
                <a:lnTo>
                  <a:pt x="0" y="31750"/>
                </a:lnTo>
                <a:cubicBezTo>
                  <a:pt x="0" y="14215"/>
                  <a:pt x="14215" y="0"/>
                  <a:pt x="31750" y="0"/>
                </a:cubicBezTo>
                <a:close/>
              </a:path>
            </a:pathLst>
          </a:custGeom>
          <a:solidFill>
            <a:srgbClr val="B8A890">
              <a:alpha val="10196"/>
            </a:srgbClr>
          </a:solidFill>
          <a:ln/>
        </p:spPr>
        <p:txBody>
          <a:bodyPr/>
          <a:lstStyle/>
          <a:p>
            <a:endParaRPr lang="en-US"/>
          </a:p>
        </p:txBody>
      </p:sp>
      <p:sp>
        <p:nvSpPr>
          <p:cNvPr id="92" name="Text 90"/>
          <p:cNvSpPr/>
          <p:nvPr/>
        </p:nvSpPr>
        <p:spPr>
          <a:xfrm>
            <a:off x="8356600" y="5365750"/>
            <a:ext cx="960438" cy="190500"/>
          </a:xfrm>
          <a:prstGeom prst="rect">
            <a:avLst/>
          </a:prstGeom>
          <a:noFill/>
          <a:ln/>
        </p:spPr>
        <p:txBody>
          <a:bodyPr wrap="square" lIns="0" tIns="0" rIns="0" bIns="0" rtlCol="0" anchor="ctr"/>
          <a:lstStyle/>
          <a:p>
            <a:pPr>
              <a:lnSpc>
                <a:spcPct val="130000"/>
              </a:lnSpc>
            </a:pPr>
            <a:r>
              <a:rPr lang="en-US" sz="1000" dirty="0">
                <a:solidFill>
                  <a:srgbClr val="E0E2E5">
                    <a:alpha val="90000"/>
                  </a:srgbClr>
                </a:solidFill>
                <a:latin typeface="Quattrocento Sans" pitchFamily="34" charset="0"/>
                <a:ea typeface="Quattrocento Sans" pitchFamily="34" charset="-122"/>
                <a:cs typeface="Quattrocento Sans" pitchFamily="34" charset="-120"/>
              </a:rPr>
              <a:t>Noise Reduction</a:t>
            </a:r>
            <a:endParaRPr lang="en-US" sz="1600" dirty="0"/>
          </a:p>
        </p:txBody>
      </p:sp>
      <p:sp>
        <p:nvSpPr>
          <p:cNvPr id="93" name="Text 91"/>
          <p:cNvSpPr/>
          <p:nvPr/>
        </p:nvSpPr>
        <p:spPr>
          <a:xfrm>
            <a:off x="11369576" y="5349875"/>
            <a:ext cx="349250" cy="222250"/>
          </a:xfrm>
          <a:prstGeom prst="rect">
            <a:avLst/>
          </a:prstGeom>
          <a:noFill/>
          <a:ln/>
        </p:spPr>
        <p:txBody>
          <a:bodyPr wrap="square" lIns="0" tIns="0" rIns="0" bIns="0" rtlCol="0" anchor="ctr"/>
          <a:lstStyle/>
          <a:p>
            <a:pPr>
              <a:lnSpc>
                <a:spcPct val="130000"/>
              </a:lnSpc>
            </a:pPr>
            <a:r>
              <a:rPr lang="en-US" sz="1125" b="1" dirty="0">
                <a:solidFill>
                  <a:srgbClr val="B8A890"/>
                </a:solidFill>
                <a:latin typeface="Quattrocento Sans" pitchFamily="34" charset="0"/>
                <a:ea typeface="Quattrocento Sans" pitchFamily="34" charset="-122"/>
                <a:cs typeface="Quattrocento Sans" pitchFamily="34" charset="-120"/>
              </a:rPr>
              <a:t>88%</a:t>
            </a:r>
            <a:endParaRPr lang="en-US" sz="1600" dirty="0"/>
          </a:p>
        </p:txBody>
      </p:sp>
      <p:sp>
        <p:nvSpPr>
          <p:cNvPr id="94" name="Shape 92"/>
          <p:cNvSpPr/>
          <p:nvPr/>
        </p:nvSpPr>
        <p:spPr>
          <a:xfrm>
            <a:off x="8293100" y="5699125"/>
            <a:ext cx="3413125" cy="349250"/>
          </a:xfrm>
          <a:custGeom>
            <a:avLst/>
            <a:gdLst/>
            <a:ahLst/>
            <a:cxnLst/>
            <a:rect l="l" t="t" r="r" b="b"/>
            <a:pathLst>
              <a:path w="3413125" h="349250">
                <a:moveTo>
                  <a:pt x="31750" y="0"/>
                </a:moveTo>
                <a:lnTo>
                  <a:pt x="3381375" y="0"/>
                </a:lnTo>
                <a:cubicBezTo>
                  <a:pt x="3398910" y="0"/>
                  <a:pt x="3413125" y="14215"/>
                  <a:pt x="3413125" y="31750"/>
                </a:cubicBezTo>
                <a:lnTo>
                  <a:pt x="3413125" y="317500"/>
                </a:lnTo>
                <a:cubicBezTo>
                  <a:pt x="3413125" y="335035"/>
                  <a:pt x="3398910" y="349250"/>
                  <a:pt x="3381375" y="349250"/>
                </a:cubicBezTo>
                <a:lnTo>
                  <a:pt x="31750" y="349250"/>
                </a:lnTo>
                <a:cubicBezTo>
                  <a:pt x="14215" y="349250"/>
                  <a:pt x="0" y="335035"/>
                  <a:pt x="0" y="317500"/>
                </a:cubicBezTo>
                <a:lnTo>
                  <a:pt x="0" y="31750"/>
                </a:lnTo>
                <a:cubicBezTo>
                  <a:pt x="0" y="14215"/>
                  <a:pt x="14215" y="0"/>
                  <a:pt x="31750" y="0"/>
                </a:cubicBezTo>
                <a:close/>
              </a:path>
            </a:pathLst>
          </a:custGeom>
          <a:solidFill>
            <a:srgbClr val="4A6C8C">
              <a:alpha val="10196"/>
            </a:srgbClr>
          </a:solidFill>
          <a:ln/>
        </p:spPr>
        <p:txBody>
          <a:bodyPr/>
          <a:lstStyle/>
          <a:p>
            <a:endParaRPr lang="en-US"/>
          </a:p>
        </p:txBody>
      </p:sp>
      <p:sp>
        <p:nvSpPr>
          <p:cNvPr id="95" name="Text 93"/>
          <p:cNvSpPr/>
          <p:nvPr/>
        </p:nvSpPr>
        <p:spPr>
          <a:xfrm>
            <a:off x="8356600" y="5778500"/>
            <a:ext cx="801688" cy="190500"/>
          </a:xfrm>
          <a:prstGeom prst="rect">
            <a:avLst/>
          </a:prstGeom>
          <a:noFill/>
          <a:ln/>
        </p:spPr>
        <p:txBody>
          <a:bodyPr wrap="square" lIns="0" tIns="0" rIns="0" bIns="0" rtlCol="0" anchor="ctr"/>
          <a:lstStyle/>
          <a:p>
            <a:pPr>
              <a:lnSpc>
                <a:spcPct val="130000"/>
              </a:lnSpc>
            </a:pPr>
            <a:r>
              <a:rPr lang="en-US" sz="1000" dirty="0">
                <a:solidFill>
                  <a:srgbClr val="E0E2E5">
                    <a:alpha val="90000"/>
                  </a:srgbClr>
                </a:solidFill>
                <a:latin typeface="Quattrocento Sans" pitchFamily="34" charset="0"/>
                <a:ea typeface="Quattrocento Sans" pitchFamily="34" charset="-122"/>
                <a:cs typeface="Quattrocento Sans" pitchFamily="34" charset="-120"/>
              </a:rPr>
              <a:t>Visibility Gain</a:t>
            </a:r>
            <a:endParaRPr lang="en-US" sz="1600" dirty="0"/>
          </a:p>
        </p:txBody>
      </p:sp>
      <p:sp>
        <p:nvSpPr>
          <p:cNvPr id="96" name="Text 94"/>
          <p:cNvSpPr/>
          <p:nvPr/>
        </p:nvSpPr>
        <p:spPr>
          <a:xfrm>
            <a:off x="11292682" y="5762625"/>
            <a:ext cx="428625" cy="222250"/>
          </a:xfrm>
          <a:prstGeom prst="rect">
            <a:avLst/>
          </a:prstGeom>
          <a:noFill/>
          <a:ln/>
        </p:spPr>
        <p:txBody>
          <a:bodyPr wrap="square" lIns="0" tIns="0" rIns="0" bIns="0" rtlCol="0" anchor="ctr"/>
          <a:lstStyle/>
          <a:p>
            <a:pPr>
              <a:lnSpc>
                <a:spcPct val="130000"/>
              </a:lnSpc>
            </a:pPr>
            <a:r>
              <a:rPr lang="en-US" sz="1125" b="1" dirty="0">
                <a:solidFill>
                  <a:srgbClr val="4A6C8C"/>
                </a:solidFill>
                <a:latin typeface="Quattrocento Sans" pitchFamily="34" charset="0"/>
                <a:ea typeface="Quattrocento Sans" pitchFamily="34" charset="-122"/>
                <a:cs typeface="Quattrocento Sans" pitchFamily="34" charset="-120"/>
              </a:rPr>
              <a:t>+40%</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8329" y="318329"/>
            <a:ext cx="11619008" cy="190997"/>
          </a:xfrm>
          <a:prstGeom prst="rect">
            <a:avLst/>
          </a:prstGeom>
          <a:noFill/>
          <a:ln/>
        </p:spPr>
        <p:txBody>
          <a:bodyPr wrap="square" lIns="0" tIns="0" rIns="0" bIns="0" rtlCol="0" anchor="ctr"/>
          <a:lstStyle/>
          <a:p>
            <a:pPr>
              <a:lnSpc>
                <a:spcPct val="130000"/>
              </a:lnSpc>
            </a:pPr>
            <a:r>
              <a:rPr lang="en-US" sz="1003" b="1" kern="0" spc="100" dirty="0">
                <a:solidFill>
                  <a:srgbClr val="B8A890"/>
                </a:solidFill>
                <a:latin typeface="Quattrocento Sans" pitchFamily="34" charset="0"/>
                <a:ea typeface="Quattrocento Sans" pitchFamily="34" charset="-122"/>
                <a:cs typeface="Quattrocento Sans" pitchFamily="34" charset="-120"/>
              </a:rPr>
              <a:t>TECHNICAL ANALYSIS</a:t>
            </a:r>
            <a:endParaRPr lang="en-US" sz="1600" dirty="0"/>
          </a:p>
        </p:txBody>
      </p:sp>
      <p:sp>
        <p:nvSpPr>
          <p:cNvPr id="3" name="Text 1"/>
          <p:cNvSpPr/>
          <p:nvPr/>
        </p:nvSpPr>
        <p:spPr>
          <a:xfrm>
            <a:off x="318329" y="572992"/>
            <a:ext cx="11746339" cy="381995"/>
          </a:xfrm>
          <a:prstGeom prst="rect">
            <a:avLst/>
          </a:prstGeom>
          <a:noFill/>
          <a:ln/>
        </p:spPr>
        <p:txBody>
          <a:bodyPr wrap="square" lIns="0" tIns="0" rIns="0" bIns="0" rtlCol="0" anchor="ctr"/>
          <a:lstStyle/>
          <a:p>
            <a:pPr>
              <a:lnSpc>
                <a:spcPct val="80000"/>
              </a:lnSpc>
            </a:pPr>
            <a:r>
              <a:rPr lang="en-US" sz="3008" b="1" dirty="0">
                <a:solidFill>
                  <a:srgbClr val="E0E2E5"/>
                </a:solidFill>
                <a:latin typeface="Liter" pitchFamily="34" charset="0"/>
                <a:ea typeface="Liter" pitchFamily="34" charset="-122"/>
                <a:cs typeface="Liter" pitchFamily="34" charset="-120"/>
              </a:rPr>
              <a:t>Morphological Operations: Detailed Analysis</a:t>
            </a:r>
            <a:endParaRPr lang="en-US" sz="1600" dirty="0"/>
          </a:p>
        </p:txBody>
      </p:sp>
      <p:sp>
        <p:nvSpPr>
          <p:cNvPr id="4" name="Shape 2"/>
          <p:cNvSpPr/>
          <p:nvPr/>
        </p:nvSpPr>
        <p:spPr>
          <a:xfrm>
            <a:off x="334245" y="1114151"/>
            <a:ext cx="5682172" cy="1782642"/>
          </a:xfrm>
          <a:custGeom>
            <a:avLst/>
            <a:gdLst/>
            <a:ahLst/>
            <a:cxnLst/>
            <a:rect l="l" t="t" r="r" b="b"/>
            <a:pathLst>
              <a:path w="5682172" h="1782642">
                <a:moveTo>
                  <a:pt x="31833" y="0"/>
                </a:moveTo>
                <a:lnTo>
                  <a:pt x="5586676" y="0"/>
                </a:lnTo>
                <a:cubicBezTo>
                  <a:pt x="5639417" y="0"/>
                  <a:pt x="5682172" y="42755"/>
                  <a:pt x="5682172" y="95496"/>
                </a:cubicBezTo>
                <a:lnTo>
                  <a:pt x="5682172" y="1687146"/>
                </a:lnTo>
                <a:cubicBezTo>
                  <a:pt x="5682172" y="1739887"/>
                  <a:pt x="5639417" y="1782642"/>
                  <a:pt x="5586676" y="1782642"/>
                </a:cubicBezTo>
                <a:lnTo>
                  <a:pt x="31833" y="1782642"/>
                </a:lnTo>
                <a:cubicBezTo>
                  <a:pt x="14252" y="1782642"/>
                  <a:pt x="0" y="1768390"/>
                  <a:pt x="0" y="1750809"/>
                </a:cubicBezTo>
                <a:lnTo>
                  <a:pt x="0" y="31833"/>
                </a:lnTo>
                <a:cubicBezTo>
                  <a:pt x="0" y="14264"/>
                  <a:pt x="14264" y="0"/>
                  <a:pt x="31833" y="0"/>
                </a:cubicBezTo>
                <a:close/>
              </a:path>
            </a:pathLst>
          </a:custGeom>
          <a:solidFill>
            <a:srgbClr val="4A6C8C">
              <a:alpha val="10196"/>
            </a:srgbClr>
          </a:solidFill>
          <a:ln/>
        </p:spPr>
        <p:txBody>
          <a:bodyPr/>
          <a:lstStyle/>
          <a:p>
            <a:endParaRPr lang="en-US"/>
          </a:p>
        </p:txBody>
      </p:sp>
      <p:sp>
        <p:nvSpPr>
          <p:cNvPr id="5" name="Shape 3"/>
          <p:cNvSpPr/>
          <p:nvPr/>
        </p:nvSpPr>
        <p:spPr>
          <a:xfrm>
            <a:off x="334245" y="1114151"/>
            <a:ext cx="31833" cy="1782642"/>
          </a:xfrm>
          <a:custGeom>
            <a:avLst/>
            <a:gdLst/>
            <a:ahLst/>
            <a:cxnLst/>
            <a:rect l="l" t="t" r="r" b="b"/>
            <a:pathLst>
              <a:path w="31833" h="1782642">
                <a:moveTo>
                  <a:pt x="31833" y="0"/>
                </a:moveTo>
                <a:lnTo>
                  <a:pt x="31833" y="0"/>
                </a:lnTo>
                <a:lnTo>
                  <a:pt x="31833" y="1782642"/>
                </a:lnTo>
                <a:lnTo>
                  <a:pt x="31833" y="1782642"/>
                </a:lnTo>
                <a:cubicBezTo>
                  <a:pt x="14252" y="1782642"/>
                  <a:pt x="0" y="1768390"/>
                  <a:pt x="0" y="1750809"/>
                </a:cubicBezTo>
                <a:lnTo>
                  <a:pt x="0" y="31833"/>
                </a:lnTo>
                <a:cubicBezTo>
                  <a:pt x="0" y="14252"/>
                  <a:pt x="14252" y="0"/>
                  <a:pt x="31833" y="0"/>
                </a:cubicBezTo>
                <a:close/>
              </a:path>
            </a:pathLst>
          </a:custGeom>
          <a:solidFill>
            <a:srgbClr val="4A6C8C"/>
          </a:solidFill>
          <a:ln/>
        </p:spPr>
        <p:txBody>
          <a:bodyPr/>
          <a:lstStyle/>
          <a:p>
            <a:endParaRPr lang="en-US"/>
          </a:p>
        </p:txBody>
      </p:sp>
      <p:sp>
        <p:nvSpPr>
          <p:cNvPr id="6" name="Shape 4"/>
          <p:cNvSpPr/>
          <p:nvPr/>
        </p:nvSpPr>
        <p:spPr>
          <a:xfrm>
            <a:off x="529222" y="1305149"/>
            <a:ext cx="159164" cy="159164"/>
          </a:xfrm>
          <a:custGeom>
            <a:avLst/>
            <a:gdLst/>
            <a:ahLst/>
            <a:cxnLst/>
            <a:rect l="l" t="t" r="r" b="b"/>
            <a:pathLst>
              <a:path w="159164" h="159164">
                <a:moveTo>
                  <a:pt x="139269" y="79582"/>
                </a:moveTo>
                <a:cubicBezTo>
                  <a:pt x="139269" y="46630"/>
                  <a:pt x="112534" y="19896"/>
                  <a:pt x="79582" y="19896"/>
                </a:cubicBezTo>
                <a:lnTo>
                  <a:pt x="79582" y="139269"/>
                </a:lnTo>
                <a:cubicBezTo>
                  <a:pt x="112534" y="139269"/>
                  <a:pt x="139269" y="112534"/>
                  <a:pt x="139269" y="79582"/>
                </a:cubicBezTo>
                <a:close/>
                <a:moveTo>
                  <a:pt x="0" y="79582"/>
                </a:moveTo>
                <a:cubicBezTo>
                  <a:pt x="0" y="35660"/>
                  <a:pt x="35660" y="0"/>
                  <a:pt x="79582" y="0"/>
                </a:cubicBezTo>
                <a:cubicBezTo>
                  <a:pt x="123505" y="0"/>
                  <a:pt x="159164" y="35660"/>
                  <a:pt x="159164" y="79582"/>
                </a:cubicBezTo>
                <a:cubicBezTo>
                  <a:pt x="159164" y="123505"/>
                  <a:pt x="123505" y="159164"/>
                  <a:pt x="79582" y="159164"/>
                </a:cubicBezTo>
                <a:cubicBezTo>
                  <a:pt x="35660" y="159164"/>
                  <a:pt x="0" y="123505"/>
                  <a:pt x="0" y="79582"/>
                </a:cubicBezTo>
                <a:close/>
              </a:path>
            </a:pathLst>
          </a:custGeom>
          <a:solidFill>
            <a:srgbClr val="B8A890"/>
          </a:solidFill>
          <a:ln/>
        </p:spPr>
        <p:txBody>
          <a:bodyPr/>
          <a:lstStyle/>
          <a:p>
            <a:endParaRPr lang="en-US"/>
          </a:p>
        </p:txBody>
      </p:sp>
      <p:sp>
        <p:nvSpPr>
          <p:cNvPr id="7" name="Text 5"/>
          <p:cNvSpPr/>
          <p:nvPr/>
        </p:nvSpPr>
        <p:spPr>
          <a:xfrm>
            <a:off x="708282" y="1273316"/>
            <a:ext cx="5228554" cy="222830"/>
          </a:xfrm>
          <a:prstGeom prst="rect">
            <a:avLst/>
          </a:prstGeom>
          <a:noFill/>
          <a:ln/>
        </p:spPr>
        <p:txBody>
          <a:bodyPr wrap="square" lIns="0" tIns="0" rIns="0" bIns="0" rtlCol="0" anchor="ctr"/>
          <a:lstStyle/>
          <a:p>
            <a:pPr>
              <a:lnSpc>
                <a:spcPct val="120000"/>
              </a:lnSpc>
            </a:pPr>
            <a:r>
              <a:rPr lang="en-US" sz="1253" b="1" dirty="0">
                <a:solidFill>
                  <a:srgbClr val="E0E2E5"/>
                </a:solidFill>
                <a:latin typeface="Liter" pitchFamily="34" charset="0"/>
                <a:ea typeface="Liter" pitchFamily="34" charset="-122"/>
                <a:cs typeface="Liter" pitchFamily="34" charset="-120"/>
              </a:rPr>
              <a:t>Adaptive Thresholding</a:t>
            </a:r>
            <a:endParaRPr lang="en-US" sz="1600" dirty="0"/>
          </a:p>
        </p:txBody>
      </p:sp>
      <p:sp>
        <p:nvSpPr>
          <p:cNvPr id="8" name="Shape 6"/>
          <p:cNvSpPr/>
          <p:nvPr/>
        </p:nvSpPr>
        <p:spPr>
          <a:xfrm>
            <a:off x="509326" y="1591645"/>
            <a:ext cx="5347927" cy="541159"/>
          </a:xfrm>
          <a:custGeom>
            <a:avLst/>
            <a:gdLst/>
            <a:ahLst/>
            <a:cxnLst/>
            <a:rect l="l" t="t" r="r" b="b"/>
            <a:pathLst>
              <a:path w="5347927" h="541159">
                <a:moveTo>
                  <a:pt x="63667" y="0"/>
                </a:moveTo>
                <a:lnTo>
                  <a:pt x="5284260" y="0"/>
                </a:lnTo>
                <a:cubicBezTo>
                  <a:pt x="5319422" y="0"/>
                  <a:pt x="5347927" y="28505"/>
                  <a:pt x="5347927" y="63667"/>
                </a:cubicBezTo>
                <a:lnTo>
                  <a:pt x="5347927" y="477492"/>
                </a:lnTo>
                <a:cubicBezTo>
                  <a:pt x="5347927" y="512654"/>
                  <a:pt x="5319422" y="541159"/>
                  <a:pt x="5284260" y="541159"/>
                </a:cubicBezTo>
                <a:lnTo>
                  <a:pt x="63667" y="541159"/>
                </a:lnTo>
                <a:cubicBezTo>
                  <a:pt x="28505" y="541159"/>
                  <a:pt x="0" y="512654"/>
                  <a:pt x="0" y="477492"/>
                </a:cubicBezTo>
                <a:lnTo>
                  <a:pt x="0" y="63667"/>
                </a:lnTo>
                <a:cubicBezTo>
                  <a:pt x="0" y="28528"/>
                  <a:pt x="28528" y="0"/>
                  <a:pt x="63667" y="0"/>
                </a:cubicBezTo>
                <a:close/>
              </a:path>
            </a:pathLst>
          </a:custGeom>
          <a:solidFill>
            <a:srgbClr val="1A1D21">
              <a:alpha val="50196"/>
            </a:srgbClr>
          </a:solidFill>
          <a:ln/>
        </p:spPr>
        <p:txBody>
          <a:bodyPr/>
          <a:lstStyle/>
          <a:p>
            <a:endParaRPr lang="en-US"/>
          </a:p>
        </p:txBody>
      </p:sp>
      <p:sp>
        <p:nvSpPr>
          <p:cNvPr id="9" name="Text 7"/>
          <p:cNvSpPr/>
          <p:nvPr/>
        </p:nvSpPr>
        <p:spPr>
          <a:xfrm>
            <a:off x="604825" y="1687144"/>
            <a:ext cx="5220595" cy="350162"/>
          </a:xfrm>
          <a:prstGeom prst="rect">
            <a:avLst/>
          </a:prstGeom>
          <a:noFill/>
          <a:ln/>
        </p:spPr>
        <p:txBody>
          <a:bodyPr wrap="square" lIns="0" tIns="0" rIns="0" bIns="0" rtlCol="0" anchor="ctr"/>
          <a:lstStyle/>
          <a:p>
            <a:pPr>
              <a:lnSpc>
                <a:spcPct val="110000"/>
              </a:lnSpc>
            </a:pPr>
            <a:r>
              <a:rPr lang="en-US" sz="1003" b="1" dirty="0">
                <a:solidFill>
                  <a:srgbClr val="4A6C8C"/>
                </a:solidFill>
                <a:latin typeface="Quattrocento Sans" pitchFamily="34" charset="0"/>
                <a:ea typeface="Quattrocento Sans" pitchFamily="34" charset="-122"/>
                <a:cs typeface="Quattrocento Sans" pitchFamily="34" charset="-120"/>
              </a:rPr>
              <a:t>Result:</a:t>
            </a:r>
            <a:r>
              <a:rPr lang="en-US" sz="1003" dirty="0">
                <a:solidFill>
                  <a:srgbClr val="E0E2E5">
                    <a:alpha val="90000"/>
                  </a:srgbClr>
                </a:solidFill>
                <a:latin typeface="Quattrocento Sans" pitchFamily="34" charset="0"/>
                <a:ea typeface="Quattrocento Sans" pitchFamily="34" charset="-122"/>
                <a:cs typeface="Quattrocento Sans" pitchFamily="34" charset="-120"/>
              </a:rPr>
              <a:t> Successfully separates object from background, creating clean binary segmentation that enables subsequent morphological operations.</a:t>
            </a:r>
            <a:endParaRPr lang="en-US" sz="1600" dirty="0"/>
          </a:p>
        </p:txBody>
      </p:sp>
      <p:sp>
        <p:nvSpPr>
          <p:cNvPr id="10" name="Shape 8"/>
          <p:cNvSpPr/>
          <p:nvPr/>
        </p:nvSpPr>
        <p:spPr>
          <a:xfrm>
            <a:off x="553097" y="2228303"/>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11" name="Text 9"/>
          <p:cNvSpPr/>
          <p:nvPr/>
        </p:nvSpPr>
        <p:spPr>
          <a:xfrm>
            <a:off x="712261" y="2196470"/>
            <a:ext cx="2451133"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Adaptive threshold handles illumination variations</a:t>
            </a:r>
            <a:endParaRPr lang="en-US" sz="1600" dirty="0"/>
          </a:p>
        </p:txBody>
      </p:sp>
      <p:sp>
        <p:nvSpPr>
          <p:cNvPr id="12" name="Shape 10"/>
          <p:cNvSpPr/>
          <p:nvPr/>
        </p:nvSpPr>
        <p:spPr>
          <a:xfrm>
            <a:off x="553097" y="2419300"/>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13" name="Text 11"/>
          <p:cNvSpPr/>
          <p:nvPr/>
        </p:nvSpPr>
        <p:spPr>
          <a:xfrm>
            <a:off x="712261" y="2387467"/>
            <a:ext cx="1830392"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Produces high-contrast binary image</a:t>
            </a:r>
            <a:endParaRPr lang="en-US" sz="1600" dirty="0"/>
          </a:p>
        </p:txBody>
      </p:sp>
      <p:sp>
        <p:nvSpPr>
          <p:cNvPr id="14" name="Shape 12"/>
          <p:cNvSpPr/>
          <p:nvPr/>
        </p:nvSpPr>
        <p:spPr>
          <a:xfrm>
            <a:off x="553097" y="2610298"/>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15" name="Text 13"/>
          <p:cNvSpPr/>
          <p:nvPr/>
        </p:nvSpPr>
        <p:spPr>
          <a:xfrm>
            <a:off x="712261" y="2578465"/>
            <a:ext cx="1273316"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Preserves object integrity</a:t>
            </a:r>
            <a:endParaRPr lang="en-US" sz="1600" dirty="0"/>
          </a:p>
        </p:txBody>
      </p:sp>
      <p:sp>
        <p:nvSpPr>
          <p:cNvPr id="16" name="Shape 14"/>
          <p:cNvSpPr/>
          <p:nvPr/>
        </p:nvSpPr>
        <p:spPr>
          <a:xfrm>
            <a:off x="334245" y="3024125"/>
            <a:ext cx="5682172" cy="1782642"/>
          </a:xfrm>
          <a:custGeom>
            <a:avLst/>
            <a:gdLst/>
            <a:ahLst/>
            <a:cxnLst/>
            <a:rect l="l" t="t" r="r" b="b"/>
            <a:pathLst>
              <a:path w="5682172" h="1782642">
                <a:moveTo>
                  <a:pt x="31833" y="0"/>
                </a:moveTo>
                <a:lnTo>
                  <a:pt x="5586676" y="0"/>
                </a:lnTo>
                <a:cubicBezTo>
                  <a:pt x="5639417" y="0"/>
                  <a:pt x="5682172" y="42755"/>
                  <a:pt x="5682172" y="95496"/>
                </a:cubicBezTo>
                <a:lnTo>
                  <a:pt x="5682172" y="1687146"/>
                </a:lnTo>
                <a:cubicBezTo>
                  <a:pt x="5682172" y="1739887"/>
                  <a:pt x="5639417" y="1782642"/>
                  <a:pt x="5586676" y="1782642"/>
                </a:cubicBezTo>
                <a:lnTo>
                  <a:pt x="31833" y="1782642"/>
                </a:lnTo>
                <a:cubicBezTo>
                  <a:pt x="14252" y="1782642"/>
                  <a:pt x="0" y="1768390"/>
                  <a:pt x="0" y="1750809"/>
                </a:cubicBezTo>
                <a:lnTo>
                  <a:pt x="0" y="31833"/>
                </a:lnTo>
                <a:cubicBezTo>
                  <a:pt x="0" y="14264"/>
                  <a:pt x="14264" y="0"/>
                  <a:pt x="31833" y="0"/>
                </a:cubicBezTo>
                <a:close/>
              </a:path>
            </a:pathLst>
          </a:custGeom>
          <a:solidFill>
            <a:srgbClr val="5A7D7C">
              <a:alpha val="10196"/>
            </a:srgbClr>
          </a:solidFill>
          <a:ln/>
        </p:spPr>
        <p:txBody>
          <a:bodyPr/>
          <a:lstStyle/>
          <a:p>
            <a:endParaRPr lang="en-US"/>
          </a:p>
        </p:txBody>
      </p:sp>
      <p:sp>
        <p:nvSpPr>
          <p:cNvPr id="17" name="Shape 15"/>
          <p:cNvSpPr/>
          <p:nvPr/>
        </p:nvSpPr>
        <p:spPr>
          <a:xfrm>
            <a:off x="334245" y="3024125"/>
            <a:ext cx="31833" cy="1782642"/>
          </a:xfrm>
          <a:custGeom>
            <a:avLst/>
            <a:gdLst/>
            <a:ahLst/>
            <a:cxnLst/>
            <a:rect l="l" t="t" r="r" b="b"/>
            <a:pathLst>
              <a:path w="31833" h="1782642">
                <a:moveTo>
                  <a:pt x="31833" y="0"/>
                </a:moveTo>
                <a:lnTo>
                  <a:pt x="31833" y="0"/>
                </a:lnTo>
                <a:lnTo>
                  <a:pt x="31833" y="1782642"/>
                </a:lnTo>
                <a:lnTo>
                  <a:pt x="31833" y="1782642"/>
                </a:lnTo>
                <a:cubicBezTo>
                  <a:pt x="14252" y="1782642"/>
                  <a:pt x="0" y="1768390"/>
                  <a:pt x="0" y="1750809"/>
                </a:cubicBezTo>
                <a:lnTo>
                  <a:pt x="0" y="31833"/>
                </a:lnTo>
                <a:cubicBezTo>
                  <a:pt x="0" y="14252"/>
                  <a:pt x="14252" y="0"/>
                  <a:pt x="31833" y="0"/>
                </a:cubicBezTo>
                <a:close/>
              </a:path>
            </a:pathLst>
          </a:custGeom>
          <a:solidFill>
            <a:srgbClr val="5A7D7C"/>
          </a:solidFill>
          <a:ln/>
        </p:spPr>
        <p:txBody>
          <a:bodyPr/>
          <a:lstStyle/>
          <a:p>
            <a:endParaRPr lang="en-US"/>
          </a:p>
        </p:txBody>
      </p:sp>
      <p:sp>
        <p:nvSpPr>
          <p:cNvPr id="18" name="Shape 16"/>
          <p:cNvSpPr/>
          <p:nvPr/>
        </p:nvSpPr>
        <p:spPr>
          <a:xfrm>
            <a:off x="529222" y="3215123"/>
            <a:ext cx="159164" cy="159164"/>
          </a:xfrm>
          <a:custGeom>
            <a:avLst/>
            <a:gdLst/>
            <a:ahLst/>
            <a:cxnLst/>
            <a:rect l="l" t="t" r="r" b="b"/>
            <a:pathLst>
              <a:path w="159164" h="159164">
                <a:moveTo>
                  <a:pt x="141756" y="69634"/>
                </a:moveTo>
                <a:lnTo>
                  <a:pt x="96991" y="69634"/>
                </a:lnTo>
                <a:cubicBezTo>
                  <a:pt x="92856" y="69634"/>
                  <a:pt x="89530" y="66308"/>
                  <a:pt x="89530" y="62174"/>
                </a:cubicBezTo>
                <a:lnTo>
                  <a:pt x="89530" y="17409"/>
                </a:lnTo>
                <a:cubicBezTo>
                  <a:pt x="89530" y="14393"/>
                  <a:pt x="91333" y="11658"/>
                  <a:pt x="94131" y="10507"/>
                </a:cubicBezTo>
                <a:cubicBezTo>
                  <a:pt x="96929" y="9357"/>
                  <a:pt x="100131" y="10010"/>
                  <a:pt x="102276" y="12124"/>
                </a:cubicBezTo>
                <a:lnTo>
                  <a:pt x="114710" y="24559"/>
                </a:lnTo>
                <a:lnTo>
                  <a:pt x="137528" y="1741"/>
                </a:lnTo>
                <a:cubicBezTo>
                  <a:pt x="138647" y="622"/>
                  <a:pt x="140170" y="0"/>
                  <a:pt x="141756" y="0"/>
                </a:cubicBezTo>
                <a:cubicBezTo>
                  <a:pt x="143341" y="0"/>
                  <a:pt x="144865" y="622"/>
                  <a:pt x="146015" y="1772"/>
                </a:cubicBezTo>
                <a:lnTo>
                  <a:pt x="157424" y="13181"/>
                </a:lnTo>
                <a:cubicBezTo>
                  <a:pt x="158543" y="14300"/>
                  <a:pt x="159164" y="15823"/>
                  <a:pt x="159164" y="17409"/>
                </a:cubicBezTo>
                <a:cubicBezTo>
                  <a:pt x="159164" y="18994"/>
                  <a:pt x="158543" y="20517"/>
                  <a:pt x="157393" y="21668"/>
                </a:cubicBezTo>
                <a:lnTo>
                  <a:pt x="134606" y="44454"/>
                </a:lnTo>
                <a:lnTo>
                  <a:pt x="147041" y="56889"/>
                </a:lnTo>
                <a:cubicBezTo>
                  <a:pt x="149186" y="59034"/>
                  <a:pt x="149807" y="62236"/>
                  <a:pt x="148657" y="65034"/>
                </a:cubicBezTo>
                <a:cubicBezTo>
                  <a:pt x="147507" y="67831"/>
                  <a:pt x="144771" y="69634"/>
                  <a:pt x="141756" y="69634"/>
                </a:cubicBezTo>
                <a:close/>
                <a:moveTo>
                  <a:pt x="141756" y="89530"/>
                </a:moveTo>
                <a:cubicBezTo>
                  <a:pt x="144771" y="89530"/>
                  <a:pt x="147507" y="91333"/>
                  <a:pt x="148657" y="94131"/>
                </a:cubicBezTo>
                <a:cubicBezTo>
                  <a:pt x="149807" y="96929"/>
                  <a:pt x="149186" y="100131"/>
                  <a:pt x="147041" y="102276"/>
                </a:cubicBezTo>
                <a:lnTo>
                  <a:pt x="134606" y="114710"/>
                </a:lnTo>
                <a:lnTo>
                  <a:pt x="157424" y="137528"/>
                </a:lnTo>
                <a:cubicBezTo>
                  <a:pt x="158543" y="138647"/>
                  <a:pt x="159196" y="140170"/>
                  <a:pt x="159196" y="141787"/>
                </a:cubicBezTo>
                <a:cubicBezTo>
                  <a:pt x="159196" y="143403"/>
                  <a:pt x="158574" y="144896"/>
                  <a:pt x="157424" y="146046"/>
                </a:cubicBezTo>
                <a:lnTo>
                  <a:pt x="146015" y="157455"/>
                </a:lnTo>
                <a:cubicBezTo>
                  <a:pt x="144865" y="158543"/>
                  <a:pt x="143341" y="159164"/>
                  <a:pt x="141756" y="159164"/>
                </a:cubicBezTo>
                <a:cubicBezTo>
                  <a:pt x="140170" y="159164"/>
                  <a:pt x="138647" y="158543"/>
                  <a:pt x="137497" y="157393"/>
                </a:cubicBezTo>
                <a:lnTo>
                  <a:pt x="114710" y="134606"/>
                </a:lnTo>
                <a:lnTo>
                  <a:pt x="102276" y="147041"/>
                </a:lnTo>
                <a:cubicBezTo>
                  <a:pt x="100131" y="149186"/>
                  <a:pt x="96929" y="149807"/>
                  <a:pt x="94131" y="148657"/>
                </a:cubicBezTo>
                <a:cubicBezTo>
                  <a:pt x="91333" y="147507"/>
                  <a:pt x="89530" y="144771"/>
                  <a:pt x="89530" y="141756"/>
                </a:cubicBezTo>
                <a:lnTo>
                  <a:pt x="89530" y="96991"/>
                </a:lnTo>
                <a:cubicBezTo>
                  <a:pt x="89530" y="92856"/>
                  <a:pt x="92856" y="89530"/>
                  <a:pt x="96991" y="89530"/>
                </a:cubicBezTo>
                <a:lnTo>
                  <a:pt x="141756" y="89530"/>
                </a:lnTo>
                <a:close/>
                <a:moveTo>
                  <a:pt x="62174" y="89530"/>
                </a:moveTo>
                <a:cubicBezTo>
                  <a:pt x="66308" y="89530"/>
                  <a:pt x="69634" y="92856"/>
                  <a:pt x="69634" y="96991"/>
                </a:cubicBezTo>
                <a:lnTo>
                  <a:pt x="69634" y="141756"/>
                </a:lnTo>
                <a:cubicBezTo>
                  <a:pt x="69634" y="144771"/>
                  <a:pt x="67831" y="147507"/>
                  <a:pt x="65034" y="148657"/>
                </a:cubicBezTo>
                <a:cubicBezTo>
                  <a:pt x="62236" y="149807"/>
                  <a:pt x="59034" y="149186"/>
                  <a:pt x="56889" y="147041"/>
                </a:cubicBezTo>
                <a:lnTo>
                  <a:pt x="44454" y="134606"/>
                </a:lnTo>
                <a:lnTo>
                  <a:pt x="21636" y="157424"/>
                </a:lnTo>
                <a:cubicBezTo>
                  <a:pt x="20517" y="158543"/>
                  <a:pt x="18994" y="159164"/>
                  <a:pt x="17409" y="159164"/>
                </a:cubicBezTo>
                <a:cubicBezTo>
                  <a:pt x="15823" y="159164"/>
                  <a:pt x="14300" y="158543"/>
                  <a:pt x="13150" y="157393"/>
                </a:cubicBezTo>
                <a:lnTo>
                  <a:pt x="1772" y="146015"/>
                </a:lnTo>
                <a:cubicBezTo>
                  <a:pt x="622" y="144865"/>
                  <a:pt x="0" y="143341"/>
                  <a:pt x="0" y="141756"/>
                </a:cubicBezTo>
                <a:cubicBezTo>
                  <a:pt x="0" y="140170"/>
                  <a:pt x="622" y="138647"/>
                  <a:pt x="1772" y="137497"/>
                </a:cubicBezTo>
                <a:lnTo>
                  <a:pt x="24559" y="114710"/>
                </a:lnTo>
                <a:lnTo>
                  <a:pt x="12124" y="102276"/>
                </a:lnTo>
                <a:cubicBezTo>
                  <a:pt x="9979" y="100131"/>
                  <a:pt x="9357" y="96929"/>
                  <a:pt x="10507" y="94131"/>
                </a:cubicBezTo>
                <a:cubicBezTo>
                  <a:pt x="11658" y="91333"/>
                  <a:pt x="14393" y="89530"/>
                  <a:pt x="17409" y="89530"/>
                </a:cubicBezTo>
                <a:lnTo>
                  <a:pt x="62174" y="89530"/>
                </a:lnTo>
                <a:close/>
                <a:moveTo>
                  <a:pt x="17409" y="69634"/>
                </a:moveTo>
                <a:cubicBezTo>
                  <a:pt x="14393" y="69634"/>
                  <a:pt x="11658" y="67831"/>
                  <a:pt x="10507" y="65034"/>
                </a:cubicBezTo>
                <a:cubicBezTo>
                  <a:pt x="9357" y="62236"/>
                  <a:pt x="10010" y="59034"/>
                  <a:pt x="12124" y="56889"/>
                </a:cubicBezTo>
                <a:lnTo>
                  <a:pt x="24559" y="44454"/>
                </a:lnTo>
                <a:lnTo>
                  <a:pt x="1772" y="21668"/>
                </a:lnTo>
                <a:cubicBezTo>
                  <a:pt x="622" y="20517"/>
                  <a:pt x="0" y="18994"/>
                  <a:pt x="0" y="17409"/>
                </a:cubicBezTo>
                <a:cubicBezTo>
                  <a:pt x="0" y="15823"/>
                  <a:pt x="622" y="14300"/>
                  <a:pt x="1772" y="13150"/>
                </a:cubicBezTo>
                <a:lnTo>
                  <a:pt x="13150" y="1772"/>
                </a:lnTo>
                <a:cubicBezTo>
                  <a:pt x="14300" y="622"/>
                  <a:pt x="15823" y="0"/>
                  <a:pt x="17409" y="0"/>
                </a:cubicBezTo>
                <a:cubicBezTo>
                  <a:pt x="18994" y="0"/>
                  <a:pt x="20517" y="622"/>
                  <a:pt x="21668" y="1772"/>
                </a:cubicBezTo>
                <a:lnTo>
                  <a:pt x="44454" y="24559"/>
                </a:lnTo>
                <a:lnTo>
                  <a:pt x="56889" y="12124"/>
                </a:lnTo>
                <a:cubicBezTo>
                  <a:pt x="59034" y="9979"/>
                  <a:pt x="62236" y="9357"/>
                  <a:pt x="65034" y="10507"/>
                </a:cubicBezTo>
                <a:cubicBezTo>
                  <a:pt x="67831" y="11658"/>
                  <a:pt x="69634" y="14393"/>
                  <a:pt x="69634" y="17409"/>
                </a:cubicBezTo>
                <a:lnTo>
                  <a:pt x="69634" y="62174"/>
                </a:lnTo>
                <a:cubicBezTo>
                  <a:pt x="69634" y="66308"/>
                  <a:pt x="66308" y="69634"/>
                  <a:pt x="62174" y="69634"/>
                </a:cubicBezTo>
                <a:lnTo>
                  <a:pt x="17409" y="69634"/>
                </a:lnTo>
                <a:close/>
              </a:path>
            </a:pathLst>
          </a:custGeom>
          <a:solidFill>
            <a:srgbClr val="B8A890"/>
          </a:solidFill>
          <a:ln/>
        </p:spPr>
        <p:txBody>
          <a:bodyPr/>
          <a:lstStyle/>
          <a:p>
            <a:endParaRPr lang="en-US"/>
          </a:p>
        </p:txBody>
      </p:sp>
      <p:sp>
        <p:nvSpPr>
          <p:cNvPr id="19" name="Text 17"/>
          <p:cNvSpPr/>
          <p:nvPr/>
        </p:nvSpPr>
        <p:spPr>
          <a:xfrm>
            <a:off x="708282" y="3183290"/>
            <a:ext cx="5228554" cy="222830"/>
          </a:xfrm>
          <a:prstGeom prst="rect">
            <a:avLst/>
          </a:prstGeom>
          <a:noFill/>
          <a:ln/>
        </p:spPr>
        <p:txBody>
          <a:bodyPr wrap="square" lIns="0" tIns="0" rIns="0" bIns="0" rtlCol="0" anchor="ctr"/>
          <a:lstStyle/>
          <a:p>
            <a:pPr>
              <a:lnSpc>
                <a:spcPct val="120000"/>
              </a:lnSpc>
            </a:pPr>
            <a:r>
              <a:rPr lang="en-US" sz="1253" b="1" dirty="0">
                <a:solidFill>
                  <a:srgbClr val="E0E2E5"/>
                </a:solidFill>
                <a:latin typeface="Liter" pitchFamily="34" charset="0"/>
                <a:ea typeface="Liter" pitchFamily="34" charset="-122"/>
                <a:cs typeface="Liter" pitchFamily="34" charset="-120"/>
              </a:rPr>
              <a:t>Morphological Erosion</a:t>
            </a:r>
            <a:endParaRPr lang="en-US" sz="1600" dirty="0"/>
          </a:p>
        </p:txBody>
      </p:sp>
      <p:sp>
        <p:nvSpPr>
          <p:cNvPr id="20" name="Shape 18"/>
          <p:cNvSpPr/>
          <p:nvPr/>
        </p:nvSpPr>
        <p:spPr>
          <a:xfrm>
            <a:off x="509326" y="3501619"/>
            <a:ext cx="5347927" cy="541159"/>
          </a:xfrm>
          <a:custGeom>
            <a:avLst/>
            <a:gdLst/>
            <a:ahLst/>
            <a:cxnLst/>
            <a:rect l="l" t="t" r="r" b="b"/>
            <a:pathLst>
              <a:path w="5347927" h="541159">
                <a:moveTo>
                  <a:pt x="63667" y="0"/>
                </a:moveTo>
                <a:lnTo>
                  <a:pt x="5284260" y="0"/>
                </a:lnTo>
                <a:cubicBezTo>
                  <a:pt x="5319422" y="0"/>
                  <a:pt x="5347927" y="28505"/>
                  <a:pt x="5347927" y="63667"/>
                </a:cubicBezTo>
                <a:lnTo>
                  <a:pt x="5347927" y="477492"/>
                </a:lnTo>
                <a:cubicBezTo>
                  <a:pt x="5347927" y="512654"/>
                  <a:pt x="5319422" y="541159"/>
                  <a:pt x="5284260" y="541159"/>
                </a:cubicBezTo>
                <a:lnTo>
                  <a:pt x="63667" y="541159"/>
                </a:lnTo>
                <a:cubicBezTo>
                  <a:pt x="28505" y="541159"/>
                  <a:pt x="0" y="512654"/>
                  <a:pt x="0" y="477492"/>
                </a:cubicBezTo>
                <a:lnTo>
                  <a:pt x="0" y="63667"/>
                </a:lnTo>
                <a:cubicBezTo>
                  <a:pt x="0" y="28528"/>
                  <a:pt x="28528" y="0"/>
                  <a:pt x="63667" y="0"/>
                </a:cubicBezTo>
                <a:close/>
              </a:path>
            </a:pathLst>
          </a:custGeom>
          <a:solidFill>
            <a:srgbClr val="1A1D21">
              <a:alpha val="50196"/>
            </a:srgbClr>
          </a:solidFill>
          <a:ln/>
        </p:spPr>
        <p:txBody>
          <a:bodyPr/>
          <a:lstStyle/>
          <a:p>
            <a:endParaRPr lang="en-US"/>
          </a:p>
        </p:txBody>
      </p:sp>
      <p:sp>
        <p:nvSpPr>
          <p:cNvPr id="21" name="Text 19"/>
          <p:cNvSpPr/>
          <p:nvPr/>
        </p:nvSpPr>
        <p:spPr>
          <a:xfrm>
            <a:off x="604825" y="3597117"/>
            <a:ext cx="5220595" cy="350162"/>
          </a:xfrm>
          <a:prstGeom prst="rect">
            <a:avLst/>
          </a:prstGeom>
          <a:noFill/>
          <a:ln/>
        </p:spPr>
        <p:txBody>
          <a:bodyPr wrap="square" lIns="0" tIns="0" rIns="0" bIns="0" rtlCol="0" anchor="ctr"/>
          <a:lstStyle/>
          <a:p>
            <a:pPr>
              <a:lnSpc>
                <a:spcPct val="110000"/>
              </a:lnSpc>
            </a:pPr>
            <a:r>
              <a:rPr lang="en-US" sz="1003" b="1" dirty="0">
                <a:solidFill>
                  <a:srgbClr val="5A7D7C"/>
                </a:solidFill>
                <a:latin typeface="Quattrocento Sans" pitchFamily="34" charset="0"/>
                <a:ea typeface="Quattrocento Sans" pitchFamily="34" charset="-122"/>
                <a:cs typeface="Quattrocento Sans" pitchFamily="34" charset="-120"/>
              </a:rPr>
              <a:t>Result:</a:t>
            </a:r>
            <a:r>
              <a:rPr lang="en-US" sz="1003" dirty="0">
                <a:solidFill>
                  <a:srgbClr val="E0E2E5">
                    <a:alpha val="90000"/>
                  </a:srgbClr>
                </a:solidFill>
                <a:latin typeface="Quattrocento Sans" pitchFamily="34" charset="0"/>
                <a:ea typeface="Quattrocento Sans" pitchFamily="34" charset="-122"/>
                <a:cs typeface="Quattrocento Sans" pitchFamily="34" charset="-120"/>
              </a:rPr>
              <a:t> Improves object shape by removing small noise and spurious details, producing cleaner geometry for boundary extraction.</a:t>
            </a:r>
            <a:endParaRPr lang="en-US" sz="1600" dirty="0"/>
          </a:p>
        </p:txBody>
      </p:sp>
      <p:sp>
        <p:nvSpPr>
          <p:cNvPr id="22" name="Shape 20"/>
          <p:cNvSpPr/>
          <p:nvPr/>
        </p:nvSpPr>
        <p:spPr>
          <a:xfrm>
            <a:off x="553097" y="4138277"/>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23" name="Text 21"/>
          <p:cNvSpPr/>
          <p:nvPr/>
        </p:nvSpPr>
        <p:spPr>
          <a:xfrm>
            <a:off x="712261" y="4106444"/>
            <a:ext cx="1535937"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Eliminates isolated noise pixels</a:t>
            </a:r>
            <a:endParaRPr lang="en-US" sz="1600" dirty="0"/>
          </a:p>
        </p:txBody>
      </p:sp>
      <p:sp>
        <p:nvSpPr>
          <p:cNvPr id="24" name="Shape 22"/>
          <p:cNvSpPr/>
          <p:nvPr/>
        </p:nvSpPr>
        <p:spPr>
          <a:xfrm>
            <a:off x="553097" y="4329274"/>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25" name="Text 23"/>
          <p:cNvSpPr/>
          <p:nvPr/>
        </p:nvSpPr>
        <p:spPr>
          <a:xfrm>
            <a:off x="712261" y="4297441"/>
            <a:ext cx="1376773"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Smooths object boundaries</a:t>
            </a:r>
            <a:endParaRPr lang="en-US" sz="1600" dirty="0"/>
          </a:p>
        </p:txBody>
      </p:sp>
      <p:sp>
        <p:nvSpPr>
          <p:cNvPr id="26" name="Shape 24"/>
          <p:cNvSpPr/>
          <p:nvPr/>
        </p:nvSpPr>
        <p:spPr>
          <a:xfrm>
            <a:off x="553097" y="4520272"/>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27" name="Text 25"/>
          <p:cNvSpPr/>
          <p:nvPr/>
        </p:nvSpPr>
        <p:spPr>
          <a:xfrm>
            <a:off x="712261" y="4488439"/>
            <a:ext cx="1376773"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Refines geometric structure</a:t>
            </a:r>
            <a:endParaRPr lang="en-US" sz="1600" dirty="0"/>
          </a:p>
        </p:txBody>
      </p:sp>
      <p:sp>
        <p:nvSpPr>
          <p:cNvPr id="28" name="Shape 26"/>
          <p:cNvSpPr/>
          <p:nvPr/>
        </p:nvSpPr>
        <p:spPr>
          <a:xfrm>
            <a:off x="6193190" y="1114151"/>
            <a:ext cx="5682172" cy="1782642"/>
          </a:xfrm>
          <a:custGeom>
            <a:avLst/>
            <a:gdLst/>
            <a:ahLst/>
            <a:cxnLst/>
            <a:rect l="l" t="t" r="r" b="b"/>
            <a:pathLst>
              <a:path w="5682172" h="1782642">
                <a:moveTo>
                  <a:pt x="31833" y="0"/>
                </a:moveTo>
                <a:lnTo>
                  <a:pt x="5586676" y="0"/>
                </a:lnTo>
                <a:cubicBezTo>
                  <a:pt x="5639417" y="0"/>
                  <a:pt x="5682172" y="42755"/>
                  <a:pt x="5682172" y="95496"/>
                </a:cubicBezTo>
                <a:lnTo>
                  <a:pt x="5682172" y="1687146"/>
                </a:lnTo>
                <a:cubicBezTo>
                  <a:pt x="5682172" y="1739887"/>
                  <a:pt x="5639417" y="1782642"/>
                  <a:pt x="5586676" y="1782642"/>
                </a:cubicBezTo>
                <a:lnTo>
                  <a:pt x="31833" y="1782642"/>
                </a:lnTo>
                <a:cubicBezTo>
                  <a:pt x="14252" y="1782642"/>
                  <a:pt x="0" y="1768390"/>
                  <a:pt x="0" y="1750809"/>
                </a:cubicBezTo>
                <a:lnTo>
                  <a:pt x="0" y="31833"/>
                </a:lnTo>
                <a:cubicBezTo>
                  <a:pt x="0" y="14264"/>
                  <a:pt x="14264" y="0"/>
                  <a:pt x="31833" y="0"/>
                </a:cubicBezTo>
                <a:close/>
              </a:path>
            </a:pathLst>
          </a:custGeom>
          <a:solidFill>
            <a:srgbClr val="B8A890">
              <a:alpha val="10196"/>
            </a:srgbClr>
          </a:solidFill>
          <a:ln/>
        </p:spPr>
        <p:txBody>
          <a:bodyPr/>
          <a:lstStyle/>
          <a:p>
            <a:endParaRPr lang="en-US"/>
          </a:p>
        </p:txBody>
      </p:sp>
      <p:sp>
        <p:nvSpPr>
          <p:cNvPr id="29" name="Shape 27"/>
          <p:cNvSpPr/>
          <p:nvPr/>
        </p:nvSpPr>
        <p:spPr>
          <a:xfrm>
            <a:off x="6193190" y="1114151"/>
            <a:ext cx="31833" cy="1782642"/>
          </a:xfrm>
          <a:custGeom>
            <a:avLst/>
            <a:gdLst/>
            <a:ahLst/>
            <a:cxnLst/>
            <a:rect l="l" t="t" r="r" b="b"/>
            <a:pathLst>
              <a:path w="31833" h="1782642">
                <a:moveTo>
                  <a:pt x="31833" y="0"/>
                </a:moveTo>
                <a:lnTo>
                  <a:pt x="31833" y="0"/>
                </a:lnTo>
                <a:lnTo>
                  <a:pt x="31833" y="1782642"/>
                </a:lnTo>
                <a:lnTo>
                  <a:pt x="31833" y="1782642"/>
                </a:lnTo>
                <a:cubicBezTo>
                  <a:pt x="14252" y="1782642"/>
                  <a:pt x="0" y="1768390"/>
                  <a:pt x="0" y="1750809"/>
                </a:cubicBezTo>
                <a:lnTo>
                  <a:pt x="0" y="31833"/>
                </a:lnTo>
                <a:cubicBezTo>
                  <a:pt x="0" y="14252"/>
                  <a:pt x="14252" y="0"/>
                  <a:pt x="31833" y="0"/>
                </a:cubicBezTo>
                <a:close/>
              </a:path>
            </a:pathLst>
          </a:custGeom>
          <a:solidFill>
            <a:srgbClr val="B8A890"/>
          </a:solidFill>
          <a:ln/>
        </p:spPr>
        <p:txBody>
          <a:bodyPr/>
          <a:lstStyle/>
          <a:p>
            <a:endParaRPr lang="en-US"/>
          </a:p>
        </p:txBody>
      </p:sp>
      <p:sp>
        <p:nvSpPr>
          <p:cNvPr id="30" name="Shape 28"/>
          <p:cNvSpPr/>
          <p:nvPr/>
        </p:nvSpPr>
        <p:spPr>
          <a:xfrm>
            <a:off x="6388167" y="1305149"/>
            <a:ext cx="159164" cy="159164"/>
          </a:xfrm>
          <a:custGeom>
            <a:avLst/>
            <a:gdLst/>
            <a:ahLst/>
            <a:cxnLst/>
            <a:rect l="l" t="t" r="r" b="b"/>
            <a:pathLst>
              <a:path w="159164" h="159164">
                <a:moveTo>
                  <a:pt x="20486" y="71033"/>
                </a:moveTo>
                <a:cubicBezTo>
                  <a:pt x="24621" y="42123"/>
                  <a:pt x="49521" y="19896"/>
                  <a:pt x="79582" y="19896"/>
                </a:cubicBezTo>
                <a:cubicBezTo>
                  <a:pt x="96058" y="19896"/>
                  <a:pt x="110980" y="26579"/>
                  <a:pt x="121798" y="37366"/>
                </a:cubicBezTo>
                <a:cubicBezTo>
                  <a:pt x="121860" y="37429"/>
                  <a:pt x="121922" y="37491"/>
                  <a:pt x="121985" y="37553"/>
                </a:cubicBezTo>
                <a:lnTo>
                  <a:pt x="124347" y="39791"/>
                </a:lnTo>
                <a:lnTo>
                  <a:pt x="109457" y="39791"/>
                </a:lnTo>
                <a:cubicBezTo>
                  <a:pt x="103954" y="39791"/>
                  <a:pt x="99509" y="44237"/>
                  <a:pt x="99509" y="49739"/>
                </a:cubicBezTo>
                <a:cubicBezTo>
                  <a:pt x="99509" y="55241"/>
                  <a:pt x="103954" y="59687"/>
                  <a:pt x="109457" y="59687"/>
                </a:cubicBezTo>
                <a:lnTo>
                  <a:pt x="149248" y="59687"/>
                </a:lnTo>
                <a:cubicBezTo>
                  <a:pt x="154750" y="59687"/>
                  <a:pt x="159196" y="55241"/>
                  <a:pt x="159196" y="49739"/>
                </a:cubicBezTo>
                <a:lnTo>
                  <a:pt x="159196" y="9948"/>
                </a:lnTo>
                <a:cubicBezTo>
                  <a:pt x="159196" y="4445"/>
                  <a:pt x="154750" y="0"/>
                  <a:pt x="149248" y="0"/>
                </a:cubicBezTo>
                <a:cubicBezTo>
                  <a:pt x="143745" y="0"/>
                  <a:pt x="139300" y="4445"/>
                  <a:pt x="139300" y="9948"/>
                </a:cubicBezTo>
                <a:lnTo>
                  <a:pt x="139300" y="26548"/>
                </a:lnTo>
                <a:lnTo>
                  <a:pt x="135787" y="23222"/>
                </a:lnTo>
                <a:cubicBezTo>
                  <a:pt x="121394" y="8891"/>
                  <a:pt x="101498" y="0"/>
                  <a:pt x="79582" y="0"/>
                </a:cubicBezTo>
                <a:cubicBezTo>
                  <a:pt x="39480" y="0"/>
                  <a:pt x="6311" y="29657"/>
                  <a:pt x="808" y="68236"/>
                </a:cubicBezTo>
                <a:cubicBezTo>
                  <a:pt x="31" y="73676"/>
                  <a:pt x="3793" y="78712"/>
                  <a:pt x="9233" y="79489"/>
                </a:cubicBezTo>
                <a:cubicBezTo>
                  <a:pt x="14673" y="80266"/>
                  <a:pt x="19709" y="76474"/>
                  <a:pt x="20486" y="71064"/>
                </a:cubicBezTo>
                <a:close/>
                <a:moveTo>
                  <a:pt x="158356" y="90929"/>
                </a:moveTo>
                <a:cubicBezTo>
                  <a:pt x="159133" y="85489"/>
                  <a:pt x="155341" y="80453"/>
                  <a:pt x="149932" y="79676"/>
                </a:cubicBezTo>
                <a:cubicBezTo>
                  <a:pt x="144523" y="78898"/>
                  <a:pt x="139455" y="82691"/>
                  <a:pt x="138678" y="88100"/>
                </a:cubicBezTo>
                <a:cubicBezTo>
                  <a:pt x="134544" y="117011"/>
                  <a:pt x="109643" y="139238"/>
                  <a:pt x="79582" y="139238"/>
                </a:cubicBezTo>
                <a:cubicBezTo>
                  <a:pt x="63106" y="139238"/>
                  <a:pt x="48185" y="132554"/>
                  <a:pt x="37366" y="121767"/>
                </a:cubicBezTo>
                <a:cubicBezTo>
                  <a:pt x="37304" y="121705"/>
                  <a:pt x="37242" y="121643"/>
                  <a:pt x="37180" y="121581"/>
                </a:cubicBezTo>
                <a:lnTo>
                  <a:pt x="34817" y="119342"/>
                </a:lnTo>
                <a:lnTo>
                  <a:pt x="49708" y="119342"/>
                </a:lnTo>
                <a:cubicBezTo>
                  <a:pt x="55210" y="119342"/>
                  <a:pt x="59656" y="114897"/>
                  <a:pt x="59656" y="109395"/>
                </a:cubicBezTo>
                <a:cubicBezTo>
                  <a:pt x="59656" y="103892"/>
                  <a:pt x="55210" y="99447"/>
                  <a:pt x="49708" y="99447"/>
                </a:cubicBezTo>
                <a:lnTo>
                  <a:pt x="9948" y="99478"/>
                </a:lnTo>
                <a:cubicBezTo>
                  <a:pt x="7305" y="99478"/>
                  <a:pt x="4756" y="100535"/>
                  <a:pt x="2891" y="102431"/>
                </a:cubicBezTo>
                <a:cubicBezTo>
                  <a:pt x="1026" y="104327"/>
                  <a:pt x="-31" y="106845"/>
                  <a:pt x="0" y="109519"/>
                </a:cubicBezTo>
                <a:lnTo>
                  <a:pt x="311" y="148999"/>
                </a:lnTo>
                <a:cubicBezTo>
                  <a:pt x="342" y="154501"/>
                  <a:pt x="4850" y="158916"/>
                  <a:pt x="10352" y="158854"/>
                </a:cubicBezTo>
                <a:cubicBezTo>
                  <a:pt x="15854" y="158791"/>
                  <a:pt x="20269" y="154315"/>
                  <a:pt x="20206" y="148813"/>
                </a:cubicBezTo>
                <a:lnTo>
                  <a:pt x="20082" y="132803"/>
                </a:lnTo>
                <a:lnTo>
                  <a:pt x="23408" y="135943"/>
                </a:lnTo>
                <a:cubicBezTo>
                  <a:pt x="37802" y="150274"/>
                  <a:pt x="57666" y="159164"/>
                  <a:pt x="79582" y="159164"/>
                </a:cubicBezTo>
                <a:cubicBezTo>
                  <a:pt x="119684" y="159164"/>
                  <a:pt x="152854" y="129508"/>
                  <a:pt x="158356" y="90929"/>
                </a:cubicBezTo>
                <a:close/>
              </a:path>
            </a:pathLst>
          </a:custGeom>
          <a:solidFill>
            <a:srgbClr val="B8A890"/>
          </a:solidFill>
          <a:ln/>
        </p:spPr>
        <p:txBody>
          <a:bodyPr/>
          <a:lstStyle/>
          <a:p>
            <a:endParaRPr lang="en-US"/>
          </a:p>
        </p:txBody>
      </p:sp>
      <p:sp>
        <p:nvSpPr>
          <p:cNvPr id="31" name="Text 29"/>
          <p:cNvSpPr/>
          <p:nvPr/>
        </p:nvSpPr>
        <p:spPr>
          <a:xfrm>
            <a:off x="6567227" y="1273316"/>
            <a:ext cx="5228554" cy="222830"/>
          </a:xfrm>
          <a:prstGeom prst="rect">
            <a:avLst/>
          </a:prstGeom>
          <a:noFill/>
          <a:ln/>
        </p:spPr>
        <p:txBody>
          <a:bodyPr wrap="square" lIns="0" tIns="0" rIns="0" bIns="0" rtlCol="0" anchor="ctr"/>
          <a:lstStyle/>
          <a:p>
            <a:pPr>
              <a:lnSpc>
                <a:spcPct val="120000"/>
              </a:lnSpc>
            </a:pPr>
            <a:r>
              <a:rPr lang="en-US" sz="1253" b="1" dirty="0">
                <a:solidFill>
                  <a:srgbClr val="E0E2E5"/>
                </a:solidFill>
                <a:latin typeface="Liter" pitchFamily="34" charset="0"/>
                <a:ea typeface="Liter" pitchFamily="34" charset="-122"/>
                <a:cs typeface="Liter" pitchFamily="34" charset="-120"/>
              </a:rPr>
              <a:t>Boundary Extraction</a:t>
            </a:r>
            <a:endParaRPr lang="en-US" sz="1600" dirty="0"/>
          </a:p>
        </p:txBody>
      </p:sp>
      <p:sp>
        <p:nvSpPr>
          <p:cNvPr id="32" name="Shape 30"/>
          <p:cNvSpPr/>
          <p:nvPr/>
        </p:nvSpPr>
        <p:spPr>
          <a:xfrm>
            <a:off x="6368271" y="1591645"/>
            <a:ext cx="5347927" cy="541159"/>
          </a:xfrm>
          <a:custGeom>
            <a:avLst/>
            <a:gdLst/>
            <a:ahLst/>
            <a:cxnLst/>
            <a:rect l="l" t="t" r="r" b="b"/>
            <a:pathLst>
              <a:path w="5347927" h="541159">
                <a:moveTo>
                  <a:pt x="63667" y="0"/>
                </a:moveTo>
                <a:lnTo>
                  <a:pt x="5284260" y="0"/>
                </a:lnTo>
                <a:cubicBezTo>
                  <a:pt x="5319422" y="0"/>
                  <a:pt x="5347927" y="28505"/>
                  <a:pt x="5347927" y="63667"/>
                </a:cubicBezTo>
                <a:lnTo>
                  <a:pt x="5347927" y="477492"/>
                </a:lnTo>
                <a:cubicBezTo>
                  <a:pt x="5347927" y="512654"/>
                  <a:pt x="5319422" y="541159"/>
                  <a:pt x="5284260" y="541159"/>
                </a:cubicBezTo>
                <a:lnTo>
                  <a:pt x="63667" y="541159"/>
                </a:lnTo>
                <a:cubicBezTo>
                  <a:pt x="28505" y="541159"/>
                  <a:pt x="0" y="512654"/>
                  <a:pt x="0" y="477492"/>
                </a:cubicBezTo>
                <a:lnTo>
                  <a:pt x="0" y="63667"/>
                </a:lnTo>
                <a:cubicBezTo>
                  <a:pt x="0" y="28528"/>
                  <a:pt x="28528" y="0"/>
                  <a:pt x="63667" y="0"/>
                </a:cubicBezTo>
                <a:close/>
              </a:path>
            </a:pathLst>
          </a:custGeom>
          <a:solidFill>
            <a:srgbClr val="1A1D21">
              <a:alpha val="50196"/>
            </a:srgbClr>
          </a:solidFill>
          <a:ln/>
        </p:spPr>
        <p:txBody>
          <a:bodyPr/>
          <a:lstStyle/>
          <a:p>
            <a:endParaRPr lang="en-US"/>
          </a:p>
        </p:txBody>
      </p:sp>
      <p:sp>
        <p:nvSpPr>
          <p:cNvPr id="33" name="Text 31"/>
          <p:cNvSpPr/>
          <p:nvPr/>
        </p:nvSpPr>
        <p:spPr>
          <a:xfrm>
            <a:off x="6463770" y="1687144"/>
            <a:ext cx="5220595" cy="350162"/>
          </a:xfrm>
          <a:prstGeom prst="rect">
            <a:avLst/>
          </a:prstGeom>
          <a:noFill/>
          <a:ln/>
        </p:spPr>
        <p:txBody>
          <a:bodyPr wrap="square" lIns="0" tIns="0" rIns="0" bIns="0" rtlCol="0" anchor="ctr"/>
          <a:lstStyle/>
          <a:p>
            <a:pPr>
              <a:lnSpc>
                <a:spcPct val="110000"/>
              </a:lnSpc>
            </a:pPr>
            <a:r>
              <a:rPr lang="en-US" sz="1003" b="1" dirty="0">
                <a:solidFill>
                  <a:srgbClr val="B8A890"/>
                </a:solidFill>
                <a:latin typeface="Quattrocento Sans" pitchFamily="34" charset="0"/>
                <a:ea typeface="Quattrocento Sans" pitchFamily="34" charset="-122"/>
                <a:cs typeface="Quattrocento Sans" pitchFamily="34" charset="-120"/>
              </a:rPr>
              <a:t>Result:</a:t>
            </a:r>
            <a:r>
              <a:rPr lang="en-US" sz="1003" dirty="0">
                <a:solidFill>
                  <a:srgbClr val="E0E2E5">
                    <a:alpha val="90000"/>
                  </a:srgbClr>
                </a:solidFill>
                <a:latin typeface="Quattrocento Sans" pitchFamily="34" charset="0"/>
                <a:ea typeface="Quattrocento Sans" pitchFamily="34" charset="-122"/>
                <a:cs typeface="Quattrocento Sans" pitchFamily="34" charset="-120"/>
              </a:rPr>
              <a:t> Provides accurate and thin contours by subtracting eroded image from binary original, yielding precise object outlines.</a:t>
            </a:r>
            <a:endParaRPr lang="en-US" sz="1600" dirty="0"/>
          </a:p>
        </p:txBody>
      </p:sp>
      <p:sp>
        <p:nvSpPr>
          <p:cNvPr id="34" name="Shape 32"/>
          <p:cNvSpPr/>
          <p:nvPr/>
        </p:nvSpPr>
        <p:spPr>
          <a:xfrm>
            <a:off x="6412041" y="2228303"/>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35" name="Text 33"/>
          <p:cNvSpPr/>
          <p:nvPr/>
        </p:nvSpPr>
        <p:spPr>
          <a:xfrm>
            <a:off x="6571206" y="2196470"/>
            <a:ext cx="1496146"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Single-pixel width boundaries</a:t>
            </a:r>
            <a:endParaRPr lang="en-US" sz="1600" dirty="0"/>
          </a:p>
        </p:txBody>
      </p:sp>
      <p:sp>
        <p:nvSpPr>
          <p:cNvPr id="36" name="Shape 34"/>
          <p:cNvSpPr/>
          <p:nvPr/>
        </p:nvSpPr>
        <p:spPr>
          <a:xfrm>
            <a:off x="6412041" y="2419300"/>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37" name="Text 35"/>
          <p:cNvSpPr/>
          <p:nvPr/>
        </p:nvSpPr>
        <p:spPr>
          <a:xfrm>
            <a:off x="6571206" y="2387467"/>
            <a:ext cx="1615520"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Accurate contour representation</a:t>
            </a:r>
            <a:endParaRPr lang="en-US" sz="1600" dirty="0"/>
          </a:p>
        </p:txBody>
      </p:sp>
      <p:sp>
        <p:nvSpPr>
          <p:cNvPr id="38" name="Shape 36"/>
          <p:cNvSpPr/>
          <p:nvPr/>
        </p:nvSpPr>
        <p:spPr>
          <a:xfrm>
            <a:off x="6412041" y="2610298"/>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39" name="Text 37"/>
          <p:cNvSpPr/>
          <p:nvPr/>
        </p:nvSpPr>
        <p:spPr>
          <a:xfrm>
            <a:off x="6571206" y="2578465"/>
            <a:ext cx="851530"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Minimal artifacts</a:t>
            </a:r>
            <a:endParaRPr lang="en-US" sz="1600" dirty="0"/>
          </a:p>
        </p:txBody>
      </p:sp>
      <p:sp>
        <p:nvSpPr>
          <p:cNvPr id="40" name="Shape 38"/>
          <p:cNvSpPr/>
          <p:nvPr/>
        </p:nvSpPr>
        <p:spPr>
          <a:xfrm>
            <a:off x="6193190" y="3024125"/>
            <a:ext cx="5682172" cy="1782642"/>
          </a:xfrm>
          <a:custGeom>
            <a:avLst/>
            <a:gdLst/>
            <a:ahLst/>
            <a:cxnLst/>
            <a:rect l="l" t="t" r="r" b="b"/>
            <a:pathLst>
              <a:path w="5682172" h="1782642">
                <a:moveTo>
                  <a:pt x="31833" y="0"/>
                </a:moveTo>
                <a:lnTo>
                  <a:pt x="5586676" y="0"/>
                </a:lnTo>
                <a:cubicBezTo>
                  <a:pt x="5639417" y="0"/>
                  <a:pt x="5682172" y="42755"/>
                  <a:pt x="5682172" y="95496"/>
                </a:cubicBezTo>
                <a:lnTo>
                  <a:pt x="5682172" y="1687146"/>
                </a:lnTo>
                <a:cubicBezTo>
                  <a:pt x="5682172" y="1739887"/>
                  <a:pt x="5639417" y="1782642"/>
                  <a:pt x="5586676" y="1782642"/>
                </a:cubicBezTo>
                <a:lnTo>
                  <a:pt x="31833" y="1782642"/>
                </a:lnTo>
                <a:cubicBezTo>
                  <a:pt x="14252" y="1782642"/>
                  <a:pt x="0" y="1768390"/>
                  <a:pt x="0" y="1750809"/>
                </a:cubicBezTo>
                <a:lnTo>
                  <a:pt x="0" y="31833"/>
                </a:lnTo>
                <a:cubicBezTo>
                  <a:pt x="0" y="14264"/>
                  <a:pt x="14264" y="0"/>
                  <a:pt x="31833" y="0"/>
                </a:cubicBezTo>
                <a:close/>
              </a:path>
            </a:pathLst>
          </a:custGeom>
          <a:solidFill>
            <a:srgbClr val="4A6C8C">
              <a:alpha val="10196"/>
            </a:srgbClr>
          </a:solidFill>
          <a:ln/>
        </p:spPr>
        <p:txBody>
          <a:bodyPr/>
          <a:lstStyle/>
          <a:p>
            <a:endParaRPr lang="en-US"/>
          </a:p>
        </p:txBody>
      </p:sp>
      <p:sp>
        <p:nvSpPr>
          <p:cNvPr id="41" name="Shape 39"/>
          <p:cNvSpPr/>
          <p:nvPr/>
        </p:nvSpPr>
        <p:spPr>
          <a:xfrm>
            <a:off x="6193190" y="3024125"/>
            <a:ext cx="31833" cy="1782642"/>
          </a:xfrm>
          <a:custGeom>
            <a:avLst/>
            <a:gdLst/>
            <a:ahLst/>
            <a:cxnLst/>
            <a:rect l="l" t="t" r="r" b="b"/>
            <a:pathLst>
              <a:path w="31833" h="1782642">
                <a:moveTo>
                  <a:pt x="31833" y="0"/>
                </a:moveTo>
                <a:lnTo>
                  <a:pt x="31833" y="0"/>
                </a:lnTo>
                <a:lnTo>
                  <a:pt x="31833" y="1782642"/>
                </a:lnTo>
                <a:lnTo>
                  <a:pt x="31833" y="1782642"/>
                </a:lnTo>
                <a:cubicBezTo>
                  <a:pt x="14252" y="1782642"/>
                  <a:pt x="0" y="1768390"/>
                  <a:pt x="0" y="1750809"/>
                </a:cubicBezTo>
                <a:lnTo>
                  <a:pt x="0" y="31833"/>
                </a:lnTo>
                <a:cubicBezTo>
                  <a:pt x="0" y="14252"/>
                  <a:pt x="14252" y="0"/>
                  <a:pt x="31833" y="0"/>
                </a:cubicBezTo>
                <a:close/>
              </a:path>
            </a:pathLst>
          </a:custGeom>
          <a:solidFill>
            <a:srgbClr val="4A6C8C"/>
          </a:solidFill>
          <a:ln/>
        </p:spPr>
        <p:txBody>
          <a:bodyPr/>
          <a:lstStyle/>
          <a:p>
            <a:endParaRPr lang="en-US"/>
          </a:p>
        </p:txBody>
      </p:sp>
      <p:sp>
        <p:nvSpPr>
          <p:cNvPr id="42" name="Shape 40"/>
          <p:cNvSpPr/>
          <p:nvPr/>
        </p:nvSpPr>
        <p:spPr>
          <a:xfrm>
            <a:off x="6398114" y="3215123"/>
            <a:ext cx="139269" cy="159164"/>
          </a:xfrm>
          <a:custGeom>
            <a:avLst/>
            <a:gdLst/>
            <a:ahLst/>
            <a:cxnLst/>
            <a:rect l="l" t="t" r="r" b="b"/>
            <a:pathLst>
              <a:path w="139269" h="159164">
                <a:moveTo>
                  <a:pt x="52226" y="9948"/>
                </a:moveTo>
                <a:lnTo>
                  <a:pt x="7461" y="9948"/>
                </a:lnTo>
                <a:cubicBezTo>
                  <a:pt x="3326" y="9948"/>
                  <a:pt x="0" y="13274"/>
                  <a:pt x="0" y="17409"/>
                </a:cubicBezTo>
                <a:lnTo>
                  <a:pt x="0" y="62174"/>
                </a:lnTo>
                <a:cubicBezTo>
                  <a:pt x="0" y="65189"/>
                  <a:pt x="1803" y="67925"/>
                  <a:pt x="4601" y="69075"/>
                </a:cubicBezTo>
                <a:cubicBezTo>
                  <a:pt x="7399" y="70225"/>
                  <a:pt x="10601" y="69572"/>
                  <a:pt x="12746" y="67458"/>
                </a:cubicBezTo>
                <a:lnTo>
                  <a:pt x="25180" y="55024"/>
                </a:lnTo>
                <a:lnTo>
                  <a:pt x="49739" y="79582"/>
                </a:lnTo>
                <a:lnTo>
                  <a:pt x="25180" y="104141"/>
                </a:lnTo>
                <a:lnTo>
                  <a:pt x="12746" y="91706"/>
                </a:lnTo>
                <a:cubicBezTo>
                  <a:pt x="10601" y="89561"/>
                  <a:pt x="7399" y="88939"/>
                  <a:pt x="4601" y="90090"/>
                </a:cubicBezTo>
                <a:cubicBezTo>
                  <a:pt x="1803" y="91240"/>
                  <a:pt x="0" y="93975"/>
                  <a:pt x="0" y="96991"/>
                </a:cubicBezTo>
                <a:lnTo>
                  <a:pt x="0" y="141756"/>
                </a:lnTo>
                <a:cubicBezTo>
                  <a:pt x="0" y="145890"/>
                  <a:pt x="3326" y="149217"/>
                  <a:pt x="7461" y="149217"/>
                </a:cubicBezTo>
                <a:lnTo>
                  <a:pt x="52226" y="149217"/>
                </a:lnTo>
                <a:cubicBezTo>
                  <a:pt x="55241" y="149217"/>
                  <a:pt x="57977" y="147414"/>
                  <a:pt x="59127" y="144616"/>
                </a:cubicBezTo>
                <a:cubicBezTo>
                  <a:pt x="60277" y="141818"/>
                  <a:pt x="59656" y="138616"/>
                  <a:pt x="57511" y="136471"/>
                </a:cubicBezTo>
                <a:lnTo>
                  <a:pt x="45076" y="124036"/>
                </a:lnTo>
                <a:lnTo>
                  <a:pt x="69634" y="99478"/>
                </a:lnTo>
                <a:lnTo>
                  <a:pt x="94193" y="124036"/>
                </a:lnTo>
                <a:lnTo>
                  <a:pt x="81758" y="136471"/>
                </a:lnTo>
                <a:cubicBezTo>
                  <a:pt x="79613" y="138616"/>
                  <a:pt x="78992" y="141818"/>
                  <a:pt x="80142" y="144616"/>
                </a:cubicBezTo>
                <a:cubicBezTo>
                  <a:pt x="81292" y="147414"/>
                  <a:pt x="84028" y="149217"/>
                  <a:pt x="87043" y="149217"/>
                </a:cubicBezTo>
                <a:lnTo>
                  <a:pt x="131808" y="149217"/>
                </a:lnTo>
                <a:cubicBezTo>
                  <a:pt x="135943" y="149217"/>
                  <a:pt x="139269" y="145890"/>
                  <a:pt x="139269" y="141756"/>
                </a:cubicBezTo>
                <a:lnTo>
                  <a:pt x="139269" y="96991"/>
                </a:lnTo>
                <a:cubicBezTo>
                  <a:pt x="139269" y="93975"/>
                  <a:pt x="137466" y="91240"/>
                  <a:pt x="134668" y="90090"/>
                </a:cubicBezTo>
                <a:cubicBezTo>
                  <a:pt x="131870" y="88939"/>
                  <a:pt x="128668" y="89561"/>
                  <a:pt x="126523" y="91706"/>
                </a:cubicBezTo>
                <a:lnTo>
                  <a:pt x="114089" y="104141"/>
                </a:lnTo>
                <a:lnTo>
                  <a:pt x="89530" y="79582"/>
                </a:lnTo>
                <a:lnTo>
                  <a:pt x="114089" y="55024"/>
                </a:lnTo>
                <a:lnTo>
                  <a:pt x="126523" y="67458"/>
                </a:lnTo>
                <a:cubicBezTo>
                  <a:pt x="128668" y="69603"/>
                  <a:pt x="131870" y="70225"/>
                  <a:pt x="134668" y="69075"/>
                </a:cubicBezTo>
                <a:cubicBezTo>
                  <a:pt x="137466" y="67925"/>
                  <a:pt x="139269" y="65189"/>
                  <a:pt x="139269" y="62174"/>
                </a:cubicBezTo>
                <a:lnTo>
                  <a:pt x="139269" y="17409"/>
                </a:lnTo>
                <a:cubicBezTo>
                  <a:pt x="139269" y="13274"/>
                  <a:pt x="135943" y="9948"/>
                  <a:pt x="131808" y="9948"/>
                </a:cubicBezTo>
                <a:lnTo>
                  <a:pt x="87043" y="9948"/>
                </a:lnTo>
                <a:cubicBezTo>
                  <a:pt x="84028" y="9948"/>
                  <a:pt x="81292" y="11751"/>
                  <a:pt x="80142" y="14549"/>
                </a:cubicBezTo>
                <a:cubicBezTo>
                  <a:pt x="78992" y="17346"/>
                  <a:pt x="79644" y="20548"/>
                  <a:pt x="81758" y="22693"/>
                </a:cubicBezTo>
                <a:lnTo>
                  <a:pt x="94193" y="35128"/>
                </a:lnTo>
                <a:lnTo>
                  <a:pt x="69634" y="59687"/>
                </a:lnTo>
                <a:lnTo>
                  <a:pt x="45076" y="35128"/>
                </a:lnTo>
                <a:lnTo>
                  <a:pt x="57511" y="22693"/>
                </a:lnTo>
                <a:cubicBezTo>
                  <a:pt x="59656" y="20548"/>
                  <a:pt x="60277" y="17346"/>
                  <a:pt x="59127" y="14549"/>
                </a:cubicBezTo>
                <a:cubicBezTo>
                  <a:pt x="57977" y="11751"/>
                  <a:pt x="55241" y="9948"/>
                  <a:pt x="52226" y="9948"/>
                </a:cubicBezTo>
                <a:close/>
              </a:path>
            </a:pathLst>
          </a:custGeom>
          <a:solidFill>
            <a:srgbClr val="B8A890"/>
          </a:solidFill>
          <a:ln/>
        </p:spPr>
        <p:txBody>
          <a:bodyPr/>
          <a:lstStyle/>
          <a:p>
            <a:endParaRPr lang="en-US"/>
          </a:p>
        </p:txBody>
      </p:sp>
      <p:sp>
        <p:nvSpPr>
          <p:cNvPr id="43" name="Text 41"/>
          <p:cNvSpPr/>
          <p:nvPr/>
        </p:nvSpPr>
        <p:spPr>
          <a:xfrm>
            <a:off x="6567227" y="3183290"/>
            <a:ext cx="5228554" cy="222830"/>
          </a:xfrm>
          <a:prstGeom prst="rect">
            <a:avLst/>
          </a:prstGeom>
          <a:noFill/>
          <a:ln/>
        </p:spPr>
        <p:txBody>
          <a:bodyPr wrap="square" lIns="0" tIns="0" rIns="0" bIns="0" rtlCol="0" anchor="ctr"/>
          <a:lstStyle/>
          <a:p>
            <a:pPr>
              <a:lnSpc>
                <a:spcPct val="120000"/>
              </a:lnSpc>
            </a:pPr>
            <a:r>
              <a:rPr lang="en-US" sz="1253" b="1" dirty="0">
                <a:solidFill>
                  <a:srgbClr val="E0E2E5"/>
                </a:solidFill>
                <a:latin typeface="Liter" pitchFamily="34" charset="0"/>
                <a:ea typeface="Liter" pitchFamily="34" charset="-122"/>
                <a:cs typeface="Liter" pitchFamily="34" charset="-120"/>
              </a:rPr>
              <a:t>Morphological Dilation</a:t>
            </a:r>
            <a:endParaRPr lang="en-US" sz="1600" dirty="0"/>
          </a:p>
        </p:txBody>
      </p:sp>
      <p:sp>
        <p:nvSpPr>
          <p:cNvPr id="44" name="Shape 42"/>
          <p:cNvSpPr/>
          <p:nvPr/>
        </p:nvSpPr>
        <p:spPr>
          <a:xfrm>
            <a:off x="6368271" y="3501619"/>
            <a:ext cx="5347927" cy="541159"/>
          </a:xfrm>
          <a:custGeom>
            <a:avLst/>
            <a:gdLst/>
            <a:ahLst/>
            <a:cxnLst/>
            <a:rect l="l" t="t" r="r" b="b"/>
            <a:pathLst>
              <a:path w="5347927" h="541159">
                <a:moveTo>
                  <a:pt x="63667" y="0"/>
                </a:moveTo>
                <a:lnTo>
                  <a:pt x="5284260" y="0"/>
                </a:lnTo>
                <a:cubicBezTo>
                  <a:pt x="5319422" y="0"/>
                  <a:pt x="5347927" y="28505"/>
                  <a:pt x="5347927" y="63667"/>
                </a:cubicBezTo>
                <a:lnTo>
                  <a:pt x="5347927" y="477492"/>
                </a:lnTo>
                <a:cubicBezTo>
                  <a:pt x="5347927" y="512654"/>
                  <a:pt x="5319422" y="541159"/>
                  <a:pt x="5284260" y="541159"/>
                </a:cubicBezTo>
                <a:lnTo>
                  <a:pt x="63667" y="541159"/>
                </a:lnTo>
                <a:cubicBezTo>
                  <a:pt x="28505" y="541159"/>
                  <a:pt x="0" y="512654"/>
                  <a:pt x="0" y="477492"/>
                </a:cubicBezTo>
                <a:lnTo>
                  <a:pt x="0" y="63667"/>
                </a:lnTo>
                <a:cubicBezTo>
                  <a:pt x="0" y="28528"/>
                  <a:pt x="28528" y="0"/>
                  <a:pt x="63667" y="0"/>
                </a:cubicBezTo>
                <a:close/>
              </a:path>
            </a:pathLst>
          </a:custGeom>
          <a:solidFill>
            <a:srgbClr val="1A1D21">
              <a:alpha val="50196"/>
            </a:srgbClr>
          </a:solidFill>
          <a:ln/>
        </p:spPr>
        <p:txBody>
          <a:bodyPr/>
          <a:lstStyle/>
          <a:p>
            <a:endParaRPr lang="en-US"/>
          </a:p>
        </p:txBody>
      </p:sp>
      <p:sp>
        <p:nvSpPr>
          <p:cNvPr id="45" name="Text 43"/>
          <p:cNvSpPr/>
          <p:nvPr/>
        </p:nvSpPr>
        <p:spPr>
          <a:xfrm>
            <a:off x="6463770" y="3597117"/>
            <a:ext cx="5220595" cy="350162"/>
          </a:xfrm>
          <a:prstGeom prst="rect">
            <a:avLst/>
          </a:prstGeom>
          <a:noFill/>
          <a:ln/>
        </p:spPr>
        <p:txBody>
          <a:bodyPr wrap="square" lIns="0" tIns="0" rIns="0" bIns="0" rtlCol="0" anchor="ctr"/>
          <a:lstStyle/>
          <a:p>
            <a:pPr>
              <a:lnSpc>
                <a:spcPct val="110000"/>
              </a:lnSpc>
            </a:pPr>
            <a:r>
              <a:rPr lang="en-US" sz="1003" b="1" dirty="0">
                <a:solidFill>
                  <a:srgbClr val="4A6C8C"/>
                </a:solidFill>
                <a:latin typeface="Quattrocento Sans" pitchFamily="34" charset="0"/>
                <a:ea typeface="Quattrocento Sans" pitchFamily="34" charset="-122"/>
                <a:cs typeface="Quattrocento Sans" pitchFamily="34" charset="-120"/>
              </a:rPr>
              <a:t>Result:</a:t>
            </a:r>
            <a:r>
              <a:rPr lang="en-US" sz="1003" dirty="0">
                <a:solidFill>
                  <a:srgbClr val="E0E2E5">
                    <a:alpha val="90000"/>
                  </a:srgbClr>
                </a:solidFill>
                <a:latin typeface="Quattrocento Sans" pitchFamily="34" charset="0"/>
                <a:ea typeface="Quattrocento Sans" pitchFamily="34" charset="-122"/>
                <a:cs typeface="Quattrocento Sans" pitchFamily="34" charset="-120"/>
              </a:rPr>
              <a:t> Enhances visibility of boundaries by thickening contours, making them easier to analyze and interpret.</a:t>
            </a:r>
            <a:endParaRPr lang="en-US" sz="1600" dirty="0"/>
          </a:p>
        </p:txBody>
      </p:sp>
      <p:sp>
        <p:nvSpPr>
          <p:cNvPr id="46" name="Shape 44"/>
          <p:cNvSpPr/>
          <p:nvPr/>
        </p:nvSpPr>
        <p:spPr>
          <a:xfrm>
            <a:off x="6412041" y="4138277"/>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47" name="Text 45"/>
          <p:cNvSpPr/>
          <p:nvPr/>
        </p:nvSpPr>
        <p:spPr>
          <a:xfrm>
            <a:off x="6571206" y="4106444"/>
            <a:ext cx="1607561"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Increases boundary prominence</a:t>
            </a:r>
            <a:endParaRPr lang="en-US" sz="1600" dirty="0"/>
          </a:p>
        </p:txBody>
      </p:sp>
      <p:sp>
        <p:nvSpPr>
          <p:cNvPr id="48" name="Shape 46"/>
          <p:cNvSpPr/>
          <p:nvPr/>
        </p:nvSpPr>
        <p:spPr>
          <a:xfrm>
            <a:off x="6412041" y="4329274"/>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49" name="Text 47"/>
          <p:cNvSpPr/>
          <p:nvPr/>
        </p:nvSpPr>
        <p:spPr>
          <a:xfrm>
            <a:off x="6571206" y="4297441"/>
            <a:ext cx="1138026"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Improves visual clarity</a:t>
            </a:r>
            <a:endParaRPr lang="en-US" sz="1600" dirty="0"/>
          </a:p>
        </p:txBody>
      </p:sp>
      <p:sp>
        <p:nvSpPr>
          <p:cNvPr id="50" name="Shape 48"/>
          <p:cNvSpPr/>
          <p:nvPr/>
        </p:nvSpPr>
        <p:spPr>
          <a:xfrm>
            <a:off x="6412041" y="4520272"/>
            <a:ext cx="55708" cy="111415"/>
          </a:xfrm>
          <a:custGeom>
            <a:avLst/>
            <a:gdLst/>
            <a:ahLst/>
            <a:cxnLst/>
            <a:rect l="l" t="t" r="r" b="b"/>
            <a:pathLst>
              <a:path w="55708" h="111415">
                <a:moveTo>
                  <a:pt x="7072" y="20890"/>
                </a:moveTo>
                <a:cubicBezTo>
                  <a:pt x="7072" y="18083"/>
                  <a:pt x="8770" y="15537"/>
                  <a:pt x="11381" y="14449"/>
                </a:cubicBezTo>
                <a:cubicBezTo>
                  <a:pt x="13992" y="13361"/>
                  <a:pt x="16973" y="13970"/>
                  <a:pt x="18954" y="15972"/>
                </a:cubicBezTo>
                <a:lnTo>
                  <a:pt x="53771" y="50790"/>
                </a:lnTo>
                <a:cubicBezTo>
                  <a:pt x="56491" y="53510"/>
                  <a:pt x="56491" y="57927"/>
                  <a:pt x="53771" y="60647"/>
                </a:cubicBezTo>
                <a:lnTo>
                  <a:pt x="18954" y="95464"/>
                </a:lnTo>
                <a:cubicBezTo>
                  <a:pt x="16952" y="97466"/>
                  <a:pt x="13970" y="98054"/>
                  <a:pt x="11359" y="96966"/>
                </a:cubicBezTo>
                <a:cubicBezTo>
                  <a:pt x="8748" y="95878"/>
                  <a:pt x="7072" y="93332"/>
                  <a:pt x="7072" y="90525"/>
                </a:cubicBezTo>
                <a:lnTo>
                  <a:pt x="7072" y="20890"/>
                </a:lnTo>
                <a:close/>
              </a:path>
            </a:pathLst>
          </a:custGeom>
          <a:solidFill>
            <a:srgbClr val="B8A890"/>
          </a:solidFill>
          <a:ln/>
        </p:spPr>
        <p:txBody>
          <a:bodyPr/>
          <a:lstStyle/>
          <a:p>
            <a:endParaRPr lang="en-US"/>
          </a:p>
        </p:txBody>
      </p:sp>
      <p:sp>
        <p:nvSpPr>
          <p:cNvPr id="51" name="Text 49"/>
          <p:cNvSpPr/>
          <p:nvPr/>
        </p:nvSpPr>
        <p:spPr>
          <a:xfrm>
            <a:off x="6571206" y="4488439"/>
            <a:ext cx="1217608"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Facilitates measurement</a:t>
            </a:r>
            <a:endParaRPr lang="en-US" sz="1600" dirty="0"/>
          </a:p>
        </p:txBody>
      </p:sp>
      <p:sp>
        <p:nvSpPr>
          <p:cNvPr id="52" name="Shape 50"/>
          <p:cNvSpPr/>
          <p:nvPr/>
        </p:nvSpPr>
        <p:spPr>
          <a:xfrm>
            <a:off x="321512" y="4969115"/>
            <a:ext cx="3738774" cy="1566179"/>
          </a:xfrm>
          <a:custGeom>
            <a:avLst/>
            <a:gdLst/>
            <a:ahLst/>
            <a:cxnLst/>
            <a:rect l="l" t="t" r="r" b="b"/>
            <a:pathLst>
              <a:path w="3738774" h="1566179">
                <a:moveTo>
                  <a:pt x="95506" y="0"/>
                </a:moveTo>
                <a:lnTo>
                  <a:pt x="3643268" y="0"/>
                </a:lnTo>
                <a:cubicBezTo>
                  <a:pt x="3696015" y="0"/>
                  <a:pt x="3738774" y="42759"/>
                  <a:pt x="3738774" y="95506"/>
                </a:cubicBezTo>
                <a:lnTo>
                  <a:pt x="3738774" y="1470673"/>
                </a:lnTo>
                <a:cubicBezTo>
                  <a:pt x="3738774" y="1523419"/>
                  <a:pt x="3696015" y="1566179"/>
                  <a:pt x="3643268" y="1566179"/>
                </a:cubicBezTo>
                <a:lnTo>
                  <a:pt x="95506" y="1566179"/>
                </a:lnTo>
                <a:cubicBezTo>
                  <a:pt x="42759" y="1566179"/>
                  <a:pt x="0" y="1523419"/>
                  <a:pt x="0" y="1470673"/>
                </a:cubicBezTo>
                <a:lnTo>
                  <a:pt x="0" y="95506"/>
                </a:lnTo>
                <a:cubicBezTo>
                  <a:pt x="0" y="42759"/>
                  <a:pt x="42759" y="0"/>
                  <a:pt x="95506"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53" name="Text 51"/>
          <p:cNvSpPr/>
          <p:nvPr/>
        </p:nvSpPr>
        <p:spPr>
          <a:xfrm>
            <a:off x="416215" y="5099629"/>
            <a:ext cx="3549368" cy="222830"/>
          </a:xfrm>
          <a:prstGeom prst="rect">
            <a:avLst/>
          </a:prstGeom>
          <a:noFill/>
          <a:ln/>
        </p:spPr>
        <p:txBody>
          <a:bodyPr wrap="square" lIns="0" tIns="0" rIns="0" bIns="0" rtlCol="0" anchor="ctr"/>
          <a:lstStyle/>
          <a:p>
            <a:pPr algn="ctr">
              <a:lnSpc>
                <a:spcPct val="130000"/>
              </a:lnSpc>
            </a:pPr>
            <a:r>
              <a:rPr lang="en-US" sz="1128" b="1" dirty="0">
                <a:solidFill>
                  <a:srgbClr val="E0E2E5"/>
                </a:solidFill>
                <a:latin typeface="Liter" pitchFamily="34" charset="0"/>
                <a:ea typeface="Liter" pitchFamily="34" charset="-122"/>
                <a:cs typeface="Liter" pitchFamily="34" charset="-120"/>
              </a:rPr>
              <a:t>Processing Evolution</a:t>
            </a:r>
            <a:endParaRPr lang="en-US" sz="1600" dirty="0"/>
          </a:p>
        </p:txBody>
      </p:sp>
      <p:sp>
        <p:nvSpPr>
          <p:cNvPr id="54" name="Shape 52"/>
          <p:cNvSpPr/>
          <p:nvPr/>
        </p:nvSpPr>
        <p:spPr>
          <a:xfrm>
            <a:off x="452027" y="5417958"/>
            <a:ext cx="509326" cy="509326"/>
          </a:xfrm>
          <a:custGeom>
            <a:avLst/>
            <a:gdLst/>
            <a:ahLst/>
            <a:cxnLst/>
            <a:rect l="l" t="t" r="r" b="b"/>
            <a:pathLst>
              <a:path w="509326" h="509326">
                <a:moveTo>
                  <a:pt x="63666" y="0"/>
                </a:moveTo>
                <a:lnTo>
                  <a:pt x="445661" y="0"/>
                </a:lnTo>
                <a:cubicBezTo>
                  <a:pt x="480822" y="0"/>
                  <a:pt x="509326" y="28504"/>
                  <a:pt x="509326" y="63666"/>
                </a:cubicBezTo>
                <a:lnTo>
                  <a:pt x="509326" y="445661"/>
                </a:lnTo>
                <a:cubicBezTo>
                  <a:pt x="509326" y="480822"/>
                  <a:pt x="480822" y="509326"/>
                  <a:pt x="445661" y="509326"/>
                </a:cubicBezTo>
                <a:lnTo>
                  <a:pt x="63666" y="509326"/>
                </a:lnTo>
                <a:cubicBezTo>
                  <a:pt x="28504" y="509326"/>
                  <a:pt x="0" y="480822"/>
                  <a:pt x="0" y="445661"/>
                </a:cubicBezTo>
                <a:lnTo>
                  <a:pt x="0" y="63666"/>
                </a:lnTo>
                <a:cubicBezTo>
                  <a:pt x="0" y="28504"/>
                  <a:pt x="28504" y="0"/>
                  <a:pt x="63666" y="0"/>
                </a:cubicBezTo>
                <a:close/>
              </a:path>
            </a:pathLst>
          </a:custGeom>
          <a:gradFill flip="none" rotWithShape="1">
            <a:gsLst>
              <a:gs pos="0">
                <a:srgbClr val="4A6C8C">
                  <a:alpha val="30000"/>
                </a:srgbClr>
              </a:gs>
              <a:gs pos="100000">
                <a:srgbClr val="1A1D21"/>
              </a:gs>
            </a:gsLst>
            <a:lin ang="2700000" scaled="1"/>
          </a:gradFill>
          <a:ln/>
        </p:spPr>
        <p:txBody>
          <a:bodyPr/>
          <a:lstStyle/>
          <a:p>
            <a:endParaRPr lang="en-US"/>
          </a:p>
        </p:txBody>
      </p:sp>
      <p:sp>
        <p:nvSpPr>
          <p:cNvPr id="55" name="Text 53"/>
          <p:cNvSpPr/>
          <p:nvPr/>
        </p:nvSpPr>
        <p:spPr>
          <a:xfrm>
            <a:off x="595574" y="5608955"/>
            <a:ext cx="222830" cy="127332"/>
          </a:xfrm>
          <a:prstGeom prst="rect">
            <a:avLst/>
          </a:prstGeom>
          <a:noFill/>
          <a:ln/>
        </p:spPr>
        <p:txBody>
          <a:bodyPr wrap="square" lIns="0" tIns="0" rIns="0" bIns="0" rtlCol="0" anchor="ctr"/>
          <a:lstStyle/>
          <a:p>
            <a:pPr algn="ctr">
              <a:lnSpc>
                <a:spcPct val="110000"/>
              </a:lnSpc>
            </a:pPr>
            <a:r>
              <a:rPr lang="en-US" sz="752" b="1" dirty="0">
                <a:solidFill>
                  <a:srgbClr val="E0E2E5"/>
                </a:solidFill>
                <a:latin typeface="Quattrocento Sans" pitchFamily="34" charset="0"/>
                <a:ea typeface="Quattrocento Sans" pitchFamily="34" charset="-122"/>
                <a:cs typeface="Quattrocento Sans" pitchFamily="34" charset="-120"/>
              </a:rPr>
              <a:t>RGB</a:t>
            </a:r>
            <a:endParaRPr lang="en-US" sz="1600" dirty="0"/>
          </a:p>
        </p:txBody>
      </p:sp>
      <p:sp>
        <p:nvSpPr>
          <p:cNvPr id="56" name="Text 54"/>
          <p:cNvSpPr/>
          <p:nvPr/>
        </p:nvSpPr>
        <p:spPr>
          <a:xfrm>
            <a:off x="428152" y="5990950"/>
            <a:ext cx="557076" cy="127332"/>
          </a:xfrm>
          <a:prstGeom prst="rect">
            <a:avLst/>
          </a:prstGeom>
          <a:noFill/>
          <a:ln/>
        </p:spPr>
        <p:txBody>
          <a:bodyPr wrap="square" lIns="0" tIns="0" rIns="0" bIns="0" rtlCol="0" anchor="ctr"/>
          <a:lstStyle/>
          <a:p>
            <a:pPr algn="ctr">
              <a:lnSpc>
                <a:spcPct val="110000"/>
              </a:lnSpc>
            </a:pPr>
            <a:r>
              <a:rPr lang="en-US" sz="752" dirty="0">
                <a:solidFill>
                  <a:srgbClr val="E0E2E5">
                    <a:alpha val="70000"/>
                  </a:srgbClr>
                </a:solidFill>
                <a:latin typeface="Quattrocento Sans" pitchFamily="34" charset="0"/>
                <a:ea typeface="Quattrocento Sans" pitchFamily="34" charset="-122"/>
                <a:cs typeface="Quattrocento Sans" pitchFamily="34" charset="-120"/>
              </a:rPr>
              <a:t>Color</a:t>
            </a:r>
            <a:endParaRPr lang="en-US" sz="1600" dirty="0"/>
          </a:p>
        </p:txBody>
      </p:sp>
      <p:sp>
        <p:nvSpPr>
          <p:cNvPr id="57" name="Shape 55"/>
          <p:cNvSpPr/>
          <p:nvPr/>
        </p:nvSpPr>
        <p:spPr>
          <a:xfrm>
            <a:off x="1369610" y="5688444"/>
            <a:ext cx="159164" cy="159164"/>
          </a:xfrm>
          <a:custGeom>
            <a:avLst/>
            <a:gdLst/>
            <a:ahLst/>
            <a:cxnLst/>
            <a:rect l="l" t="t" r="r" b="b"/>
            <a:pathLst>
              <a:path w="159164" h="159164">
                <a:moveTo>
                  <a:pt x="156242" y="86608"/>
                </a:moveTo>
                <a:cubicBezTo>
                  <a:pt x="160128" y="82722"/>
                  <a:pt x="160128" y="76411"/>
                  <a:pt x="156242" y="72526"/>
                </a:cubicBezTo>
                <a:lnTo>
                  <a:pt x="106503" y="22787"/>
                </a:lnTo>
                <a:cubicBezTo>
                  <a:pt x="102618" y="18901"/>
                  <a:pt x="96307" y="18901"/>
                  <a:pt x="92421" y="22787"/>
                </a:cubicBezTo>
                <a:cubicBezTo>
                  <a:pt x="88535" y="26672"/>
                  <a:pt x="88535" y="32983"/>
                  <a:pt x="92421" y="36869"/>
                </a:cubicBezTo>
                <a:lnTo>
                  <a:pt x="125187" y="69634"/>
                </a:lnTo>
                <a:lnTo>
                  <a:pt x="9948" y="69634"/>
                </a:lnTo>
                <a:cubicBezTo>
                  <a:pt x="4445" y="69634"/>
                  <a:pt x="0" y="74080"/>
                  <a:pt x="0" y="79582"/>
                </a:cubicBezTo>
                <a:cubicBezTo>
                  <a:pt x="0" y="85085"/>
                  <a:pt x="4445" y="89530"/>
                  <a:pt x="9948" y="89530"/>
                </a:cubicBezTo>
                <a:lnTo>
                  <a:pt x="125187" y="89530"/>
                </a:lnTo>
                <a:lnTo>
                  <a:pt x="92421" y="122296"/>
                </a:lnTo>
                <a:cubicBezTo>
                  <a:pt x="88535" y="126181"/>
                  <a:pt x="88535" y="132492"/>
                  <a:pt x="92421" y="136378"/>
                </a:cubicBezTo>
                <a:cubicBezTo>
                  <a:pt x="96307" y="140264"/>
                  <a:pt x="102618" y="140264"/>
                  <a:pt x="106503" y="136378"/>
                </a:cubicBezTo>
                <a:lnTo>
                  <a:pt x="156242" y="86639"/>
                </a:lnTo>
                <a:close/>
              </a:path>
            </a:pathLst>
          </a:custGeom>
          <a:solidFill>
            <a:srgbClr val="B8A890"/>
          </a:solidFill>
          <a:ln/>
        </p:spPr>
        <p:txBody>
          <a:bodyPr/>
          <a:lstStyle/>
          <a:p>
            <a:endParaRPr lang="en-US"/>
          </a:p>
        </p:txBody>
      </p:sp>
      <p:sp>
        <p:nvSpPr>
          <p:cNvPr id="58" name="Shape 56"/>
          <p:cNvSpPr/>
          <p:nvPr/>
        </p:nvSpPr>
        <p:spPr>
          <a:xfrm>
            <a:off x="1937032" y="5417958"/>
            <a:ext cx="509326" cy="509326"/>
          </a:xfrm>
          <a:custGeom>
            <a:avLst/>
            <a:gdLst/>
            <a:ahLst/>
            <a:cxnLst/>
            <a:rect l="l" t="t" r="r" b="b"/>
            <a:pathLst>
              <a:path w="509326" h="509326">
                <a:moveTo>
                  <a:pt x="63666" y="0"/>
                </a:moveTo>
                <a:lnTo>
                  <a:pt x="445661" y="0"/>
                </a:lnTo>
                <a:cubicBezTo>
                  <a:pt x="480822" y="0"/>
                  <a:pt x="509326" y="28504"/>
                  <a:pt x="509326" y="63666"/>
                </a:cubicBezTo>
                <a:lnTo>
                  <a:pt x="509326" y="445661"/>
                </a:lnTo>
                <a:cubicBezTo>
                  <a:pt x="509326" y="480822"/>
                  <a:pt x="480822" y="509326"/>
                  <a:pt x="445661" y="509326"/>
                </a:cubicBezTo>
                <a:lnTo>
                  <a:pt x="63666" y="509326"/>
                </a:lnTo>
                <a:cubicBezTo>
                  <a:pt x="28504" y="509326"/>
                  <a:pt x="0" y="480822"/>
                  <a:pt x="0" y="445661"/>
                </a:cubicBezTo>
                <a:lnTo>
                  <a:pt x="0" y="63666"/>
                </a:lnTo>
                <a:cubicBezTo>
                  <a:pt x="0" y="28504"/>
                  <a:pt x="28504" y="0"/>
                  <a:pt x="63666" y="0"/>
                </a:cubicBezTo>
                <a:close/>
              </a:path>
            </a:pathLst>
          </a:custGeom>
          <a:gradFill flip="none" rotWithShape="1">
            <a:gsLst>
              <a:gs pos="0">
                <a:srgbClr val="5A7D7C">
                  <a:alpha val="30000"/>
                </a:srgbClr>
              </a:gs>
              <a:gs pos="100000">
                <a:srgbClr val="1A1D21"/>
              </a:gs>
            </a:gsLst>
            <a:lin ang="2700000" scaled="1"/>
          </a:gradFill>
          <a:ln/>
        </p:spPr>
        <p:txBody>
          <a:bodyPr/>
          <a:lstStyle/>
          <a:p>
            <a:endParaRPr lang="en-US"/>
          </a:p>
        </p:txBody>
      </p:sp>
      <p:sp>
        <p:nvSpPr>
          <p:cNvPr id="59" name="Text 57"/>
          <p:cNvSpPr/>
          <p:nvPr/>
        </p:nvSpPr>
        <p:spPr>
          <a:xfrm>
            <a:off x="2070034" y="5608955"/>
            <a:ext cx="246705" cy="127332"/>
          </a:xfrm>
          <a:prstGeom prst="rect">
            <a:avLst/>
          </a:prstGeom>
          <a:noFill/>
          <a:ln/>
        </p:spPr>
        <p:txBody>
          <a:bodyPr wrap="square" lIns="0" tIns="0" rIns="0" bIns="0" rtlCol="0" anchor="ctr"/>
          <a:lstStyle/>
          <a:p>
            <a:pPr algn="ctr">
              <a:lnSpc>
                <a:spcPct val="110000"/>
              </a:lnSpc>
            </a:pPr>
            <a:r>
              <a:rPr lang="en-US" sz="752" b="1" dirty="0">
                <a:solidFill>
                  <a:srgbClr val="E0E2E5"/>
                </a:solidFill>
                <a:latin typeface="Quattrocento Sans" pitchFamily="34" charset="0"/>
                <a:ea typeface="Quattrocento Sans" pitchFamily="34" charset="-122"/>
                <a:cs typeface="Quattrocento Sans" pitchFamily="34" charset="-120"/>
              </a:rPr>
              <a:t>Gray</a:t>
            </a:r>
            <a:endParaRPr lang="en-US" sz="1600" dirty="0"/>
          </a:p>
        </p:txBody>
      </p:sp>
      <p:sp>
        <p:nvSpPr>
          <p:cNvPr id="60" name="Text 58"/>
          <p:cNvSpPr/>
          <p:nvPr/>
        </p:nvSpPr>
        <p:spPr>
          <a:xfrm>
            <a:off x="1913157" y="5990950"/>
            <a:ext cx="557076" cy="127332"/>
          </a:xfrm>
          <a:prstGeom prst="rect">
            <a:avLst/>
          </a:prstGeom>
          <a:noFill/>
          <a:ln/>
        </p:spPr>
        <p:txBody>
          <a:bodyPr wrap="square" lIns="0" tIns="0" rIns="0" bIns="0" rtlCol="0" anchor="ctr"/>
          <a:lstStyle/>
          <a:p>
            <a:pPr algn="ctr">
              <a:lnSpc>
                <a:spcPct val="110000"/>
              </a:lnSpc>
            </a:pPr>
            <a:r>
              <a:rPr lang="en-US" sz="752" dirty="0">
                <a:solidFill>
                  <a:srgbClr val="E0E2E5">
                    <a:alpha val="70000"/>
                  </a:srgbClr>
                </a:solidFill>
                <a:latin typeface="Quattrocento Sans" pitchFamily="34" charset="0"/>
                <a:ea typeface="Quattrocento Sans" pitchFamily="34" charset="-122"/>
                <a:cs typeface="Quattrocento Sans" pitchFamily="34" charset="-120"/>
              </a:rPr>
              <a:t>Intensity</a:t>
            </a:r>
            <a:endParaRPr lang="en-US" sz="1600" dirty="0"/>
          </a:p>
        </p:txBody>
      </p:sp>
      <p:sp>
        <p:nvSpPr>
          <p:cNvPr id="61" name="Shape 59"/>
          <p:cNvSpPr/>
          <p:nvPr/>
        </p:nvSpPr>
        <p:spPr>
          <a:xfrm>
            <a:off x="2854615" y="5688444"/>
            <a:ext cx="159164" cy="159164"/>
          </a:xfrm>
          <a:custGeom>
            <a:avLst/>
            <a:gdLst/>
            <a:ahLst/>
            <a:cxnLst/>
            <a:rect l="l" t="t" r="r" b="b"/>
            <a:pathLst>
              <a:path w="159164" h="159164">
                <a:moveTo>
                  <a:pt x="156242" y="86608"/>
                </a:moveTo>
                <a:cubicBezTo>
                  <a:pt x="160128" y="82722"/>
                  <a:pt x="160128" y="76411"/>
                  <a:pt x="156242" y="72526"/>
                </a:cubicBezTo>
                <a:lnTo>
                  <a:pt x="106503" y="22787"/>
                </a:lnTo>
                <a:cubicBezTo>
                  <a:pt x="102618" y="18901"/>
                  <a:pt x="96307" y="18901"/>
                  <a:pt x="92421" y="22787"/>
                </a:cubicBezTo>
                <a:cubicBezTo>
                  <a:pt x="88535" y="26672"/>
                  <a:pt x="88535" y="32983"/>
                  <a:pt x="92421" y="36869"/>
                </a:cubicBezTo>
                <a:lnTo>
                  <a:pt x="125187" y="69634"/>
                </a:lnTo>
                <a:lnTo>
                  <a:pt x="9948" y="69634"/>
                </a:lnTo>
                <a:cubicBezTo>
                  <a:pt x="4445" y="69634"/>
                  <a:pt x="0" y="74080"/>
                  <a:pt x="0" y="79582"/>
                </a:cubicBezTo>
                <a:cubicBezTo>
                  <a:pt x="0" y="85085"/>
                  <a:pt x="4445" y="89530"/>
                  <a:pt x="9948" y="89530"/>
                </a:cubicBezTo>
                <a:lnTo>
                  <a:pt x="125187" y="89530"/>
                </a:lnTo>
                <a:lnTo>
                  <a:pt x="92421" y="122296"/>
                </a:lnTo>
                <a:cubicBezTo>
                  <a:pt x="88535" y="126181"/>
                  <a:pt x="88535" y="132492"/>
                  <a:pt x="92421" y="136378"/>
                </a:cubicBezTo>
                <a:cubicBezTo>
                  <a:pt x="96307" y="140264"/>
                  <a:pt x="102618" y="140264"/>
                  <a:pt x="106503" y="136378"/>
                </a:cubicBezTo>
                <a:lnTo>
                  <a:pt x="156242" y="86639"/>
                </a:lnTo>
                <a:close/>
              </a:path>
            </a:pathLst>
          </a:custGeom>
          <a:solidFill>
            <a:srgbClr val="B8A890"/>
          </a:solidFill>
          <a:ln/>
        </p:spPr>
        <p:txBody>
          <a:bodyPr/>
          <a:lstStyle/>
          <a:p>
            <a:endParaRPr lang="en-US"/>
          </a:p>
        </p:txBody>
      </p:sp>
      <p:sp>
        <p:nvSpPr>
          <p:cNvPr id="62" name="Shape 60"/>
          <p:cNvSpPr/>
          <p:nvPr/>
        </p:nvSpPr>
        <p:spPr>
          <a:xfrm>
            <a:off x="3422037" y="5417958"/>
            <a:ext cx="509326" cy="509326"/>
          </a:xfrm>
          <a:custGeom>
            <a:avLst/>
            <a:gdLst/>
            <a:ahLst/>
            <a:cxnLst/>
            <a:rect l="l" t="t" r="r" b="b"/>
            <a:pathLst>
              <a:path w="509326" h="509326">
                <a:moveTo>
                  <a:pt x="63666" y="0"/>
                </a:moveTo>
                <a:lnTo>
                  <a:pt x="445661" y="0"/>
                </a:lnTo>
                <a:cubicBezTo>
                  <a:pt x="480822" y="0"/>
                  <a:pt x="509326" y="28504"/>
                  <a:pt x="509326" y="63666"/>
                </a:cubicBezTo>
                <a:lnTo>
                  <a:pt x="509326" y="445661"/>
                </a:lnTo>
                <a:cubicBezTo>
                  <a:pt x="509326" y="480822"/>
                  <a:pt x="480822" y="509326"/>
                  <a:pt x="445661" y="509326"/>
                </a:cubicBezTo>
                <a:lnTo>
                  <a:pt x="63666" y="509326"/>
                </a:lnTo>
                <a:cubicBezTo>
                  <a:pt x="28504" y="509326"/>
                  <a:pt x="0" y="480822"/>
                  <a:pt x="0" y="445661"/>
                </a:cubicBezTo>
                <a:lnTo>
                  <a:pt x="0" y="63666"/>
                </a:lnTo>
                <a:cubicBezTo>
                  <a:pt x="0" y="28504"/>
                  <a:pt x="28504" y="0"/>
                  <a:pt x="63666" y="0"/>
                </a:cubicBezTo>
                <a:close/>
              </a:path>
            </a:pathLst>
          </a:custGeom>
          <a:gradFill flip="none" rotWithShape="1">
            <a:gsLst>
              <a:gs pos="0">
                <a:srgbClr val="B8A890">
                  <a:alpha val="30000"/>
                </a:srgbClr>
              </a:gs>
              <a:gs pos="100000">
                <a:srgbClr val="1A1D21"/>
              </a:gs>
            </a:gsLst>
            <a:lin ang="2700000" scaled="1"/>
          </a:gradFill>
          <a:ln/>
        </p:spPr>
        <p:txBody>
          <a:bodyPr/>
          <a:lstStyle/>
          <a:p>
            <a:endParaRPr lang="en-US"/>
          </a:p>
        </p:txBody>
      </p:sp>
      <p:sp>
        <p:nvSpPr>
          <p:cNvPr id="63" name="Text 61"/>
          <p:cNvSpPr/>
          <p:nvPr/>
        </p:nvSpPr>
        <p:spPr>
          <a:xfrm>
            <a:off x="3523703" y="5608955"/>
            <a:ext cx="302413" cy="127332"/>
          </a:xfrm>
          <a:prstGeom prst="rect">
            <a:avLst/>
          </a:prstGeom>
          <a:noFill/>
          <a:ln/>
        </p:spPr>
        <p:txBody>
          <a:bodyPr wrap="square" lIns="0" tIns="0" rIns="0" bIns="0" rtlCol="0" anchor="ctr"/>
          <a:lstStyle/>
          <a:p>
            <a:pPr algn="ctr">
              <a:lnSpc>
                <a:spcPct val="110000"/>
              </a:lnSpc>
            </a:pPr>
            <a:r>
              <a:rPr lang="en-US" sz="752" b="1" dirty="0">
                <a:solidFill>
                  <a:srgbClr val="E0E2E5"/>
                </a:solidFill>
                <a:latin typeface="Quattrocento Sans" pitchFamily="34" charset="0"/>
                <a:ea typeface="Quattrocento Sans" pitchFamily="34" charset="-122"/>
                <a:cs typeface="Quattrocento Sans" pitchFamily="34" charset="-120"/>
              </a:rPr>
              <a:t>Binary</a:t>
            </a:r>
            <a:endParaRPr lang="en-US" sz="1600" dirty="0"/>
          </a:p>
        </p:txBody>
      </p:sp>
      <p:sp>
        <p:nvSpPr>
          <p:cNvPr id="64" name="Text 62"/>
          <p:cNvSpPr/>
          <p:nvPr/>
        </p:nvSpPr>
        <p:spPr>
          <a:xfrm>
            <a:off x="3398162" y="5990950"/>
            <a:ext cx="557076" cy="127332"/>
          </a:xfrm>
          <a:prstGeom prst="rect">
            <a:avLst/>
          </a:prstGeom>
          <a:noFill/>
          <a:ln/>
        </p:spPr>
        <p:txBody>
          <a:bodyPr wrap="square" lIns="0" tIns="0" rIns="0" bIns="0" rtlCol="0" anchor="ctr"/>
          <a:lstStyle/>
          <a:p>
            <a:pPr algn="ctr">
              <a:lnSpc>
                <a:spcPct val="110000"/>
              </a:lnSpc>
            </a:pPr>
            <a:r>
              <a:rPr lang="en-US" sz="752" dirty="0">
                <a:solidFill>
                  <a:srgbClr val="E0E2E5">
                    <a:alpha val="70000"/>
                  </a:srgbClr>
                </a:solidFill>
                <a:latin typeface="Quattrocento Sans" pitchFamily="34" charset="0"/>
                <a:ea typeface="Quattrocento Sans" pitchFamily="34" charset="-122"/>
                <a:cs typeface="Quattrocento Sans" pitchFamily="34" charset="-120"/>
              </a:rPr>
              <a:t>Segmented</a:t>
            </a:r>
            <a:endParaRPr lang="en-US" sz="1600" dirty="0"/>
          </a:p>
        </p:txBody>
      </p:sp>
      <p:sp>
        <p:nvSpPr>
          <p:cNvPr id="65" name="Shape 63"/>
          <p:cNvSpPr/>
          <p:nvPr/>
        </p:nvSpPr>
        <p:spPr>
          <a:xfrm>
            <a:off x="4227508" y="4969115"/>
            <a:ext cx="3738774" cy="1566179"/>
          </a:xfrm>
          <a:custGeom>
            <a:avLst/>
            <a:gdLst/>
            <a:ahLst/>
            <a:cxnLst/>
            <a:rect l="l" t="t" r="r" b="b"/>
            <a:pathLst>
              <a:path w="3738774" h="1566179">
                <a:moveTo>
                  <a:pt x="95506" y="0"/>
                </a:moveTo>
                <a:lnTo>
                  <a:pt x="3643268" y="0"/>
                </a:lnTo>
                <a:cubicBezTo>
                  <a:pt x="3696015" y="0"/>
                  <a:pt x="3738774" y="42759"/>
                  <a:pt x="3738774" y="95506"/>
                </a:cubicBezTo>
                <a:lnTo>
                  <a:pt x="3738774" y="1470673"/>
                </a:lnTo>
                <a:cubicBezTo>
                  <a:pt x="3738774" y="1523419"/>
                  <a:pt x="3696015" y="1566179"/>
                  <a:pt x="3643268" y="1566179"/>
                </a:cubicBezTo>
                <a:lnTo>
                  <a:pt x="95506" y="1566179"/>
                </a:lnTo>
                <a:cubicBezTo>
                  <a:pt x="42759" y="1566179"/>
                  <a:pt x="0" y="1523419"/>
                  <a:pt x="0" y="1470673"/>
                </a:cubicBezTo>
                <a:lnTo>
                  <a:pt x="0" y="95506"/>
                </a:lnTo>
                <a:cubicBezTo>
                  <a:pt x="0" y="42759"/>
                  <a:pt x="42759" y="0"/>
                  <a:pt x="95506"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66" name="Text 64"/>
          <p:cNvSpPr/>
          <p:nvPr/>
        </p:nvSpPr>
        <p:spPr>
          <a:xfrm>
            <a:off x="4358023" y="5099629"/>
            <a:ext cx="3549368" cy="222830"/>
          </a:xfrm>
          <a:prstGeom prst="rect">
            <a:avLst/>
          </a:prstGeom>
          <a:noFill/>
          <a:ln/>
        </p:spPr>
        <p:txBody>
          <a:bodyPr wrap="square" lIns="0" tIns="0" rIns="0" bIns="0" rtlCol="0" anchor="ctr"/>
          <a:lstStyle/>
          <a:p>
            <a:pPr>
              <a:lnSpc>
                <a:spcPct val="130000"/>
              </a:lnSpc>
            </a:pPr>
            <a:r>
              <a:rPr lang="en-US" sz="1128" b="1" dirty="0">
                <a:solidFill>
                  <a:srgbClr val="E0E2E5"/>
                </a:solidFill>
                <a:latin typeface="Liter" pitchFamily="34" charset="0"/>
                <a:ea typeface="Liter" pitchFamily="34" charset="-122"/>
                <a:cs typeface="Liter" pitchFamily="34" charset="-120"/>
              </a:rPr>
              <a:t>Mathematical Foundation</a:t>
            </a:r>
            <a:endParaRPr lang="en-US" sz="1600" dirty="0"/>
          </a:p>
        </p:txBody>
      </p:sp>
      <p:sp>
        <p:nvSpPr>
          <p:cNvPr id="67" name="Shape 65"/>
          <p:cNvSpPr/>
          <p:nvPr/>
        </p:nvSpPr>
        <p:spPr>
          <a:xfrm>
            <a:off x="4358023" y="5417958"/>
            <a:ext cx="3477744" cy="286496"/>
          </a:xfrm>
          <a:custGeom>
            <a:avLst/>
            <a:gdLst/>
            <a:ahLst/>
            <a:cxnLst/>
            <a:rect l="l" t="t" r="r" b="b"/>
            <a:pathLst>
              <a:path w="3477744" h="286496">
                <a:moveTo>
                  <a:pt x="31833" y="0"/>
                </a:moveTo>
                <a:lnTo>
                  <a:pt x="3445912" y="0"/>
                </a:lnTo>
                <a:cubicBezTo>
                  <a:pt x="3463492" y="0"/>
                  <a:pt x="3477744" y="14252"/>
                  <a:pt x="3477744" y="31833"/>
                </a:cubicBezTo>
                <a:lnTo>
                  <a:pt x="3477744" y="254664"/>
                </a:lnTo>
                <a:cubicBezTo>
                  <a:pt x="3477744" y="272244"/>
                  <a:pt x="3463492" y="286496"/>
                  <a:pt x="3445912" y="286496"/>
                </a:cubicBezTo>
                <a:lnTo>
                  <a:pt x="31833" y="286496"/>
                </a:lnTo>
                <a:cubicBezTo>
                  <a:pt x="14252" y="286496"/>
                  <a:pt x="0" y="272244"/>
                  <a:pt x="0" y="254664"/>
                </a:cubicBezTo>
                <a:lnTo>
                  <a:pt x="0" y="31833"/>
                </a:lnTo>
                <a:cubicBezTo>
                  <a:pt x="0" y="14264"/>
                  <a:pt x="14264" y="0"/>
                  <a:pt x="31833" y="0"/>
                </a:cubicBezTo>
                <a:close/>
              </a:path>
            </a:pathLst>
          </a:custGeom>
          <a:solidFill>
            <a:srgbClr val="5A7D7C">
              <a:alpha val="10196"/>
            </a:srgbClr>
          </a:solidFill>
          <a:ln/>
        </p:spPr>
        <p:txBody>
          <a:bodyPr/>
          <a:lstStyle/>
          <a:p>
            <a:endParaRPr lang="en-US"/>
          </a:p>
        </p:txBody>
      </p:sp>
      <p:sp>
        <p:nvSpPr>
          <p:cNvPr id="68" name="Text 66"/>
          <p:cNvSpPr/>
          <p:nvPr/>
        </p:nvSpPr>
        <p:spPr>
          <a:xfrm>
            <a:off x="4421689" y="5481624"/>
            <a:ext cx="3406120" cy="159164"/>
          </a:xfrm>
          <a:prstGeom prst="rect">
            <a:avLst/>
          </a:prstGeom>
          <a:noFill/>
          <a:ln/>
        </p:spPr>
        <p:txBody>
          <a:bodyPr wrap="square" lIns="0" tIns="0" rIns="0" bIns="0" rtlCol="0" anchor="ctr"/>
          <a:lstStyle/>
          <a:p>
            <a:pPr>
              <a:lnSpc>
                <a:spcPct val="120000"/>
              </a:lnSpc>
            </a:pPr>
            <a:r>
              <a:rPr lang="en-US" sz="877" b="1" dirty="0">
                <a:solidFill>
                  <a:srgbClr val="B8A890"/>
                </a:solidFill>
                <a:latin typeface="Quattrocento Sans" pitchFamily="34" charset="0"/>
                <a:ea typeface="Quattrocento Sans" pitchFamily="34" charset="-122"/>
                <a:cs typeface="Quattrocento Sans" pitchFamily="34" charset="-120"/>
              </a:rPr>
              <a:t>Erosion:</a:t>
            </a:r>
            <a:r>
              <a:rPr lang="en-US" sz="877" dirty="0">
                <a:solidFill>
                  <a:srgbClr val="E0E2E5">
                    <a:alpha val="90000"/>
                  </a:srgbClr>
                </a:solidFill>
                <a:latin typeface="Quattrocento Sans" pitchFamily="34" charset="0"/>
                <a:ea typeface="Quattrocento Sans" pitchFamily="34" charset="-122"/>
                <a:cs typeface="Quattrocento Sans" pitchFamily="34" charset="-120"/>
              </a:rPr>
              <a:t> A ⊖ B = {z | (B)ᵤ ⊆ A}</a:t>
            </a:r>
            <a:endParaRPr lang="en-US" sz="1600" dirty="0"/>
          </a:p>
        </p:txBody>
      </p:sp>
      <p:sp>
        <p:nvSpPr>
          <p:cNvPr id="69" name="Shape 67"/>
          <p:cNvSpPr/>
          <p:nvPr/>
        </p:nvSpPr>
        <p:spPr>
          <a:xfrm>
            <a:off x="4358023" y="5768120"/>
            <a:ext cx="3477744" cy="286496"/>
          </a:xfrm>
          <a:custGeom>
            <a:avLst/>
            <a:gdLst/>
            <a:ahLst/>
            <a:cxnLst/>
            <a:rect l="l" t="t" r="r" b="b"/>
            <a:pathLst>
              <a:path w="3477744" h="286496">
                <a:moveTo>
                  <a:pt x="31833" y="0"/>
                </a:moveTo>
                <a:lnTo>
                  <a:pt x="3445912" y="0"/>
                </a:lnTo>
                <a:cubicBezTo>
                  <a:pt x="3463492" y="0"/>
                  <a:pt x="3477744" y="14252"/>
                  <a:pt x="3477744" y="31833"/>
                </a:cubicBezTo>
                <a:lnTo>
                  <a:pt x="3477744" y="254664"/>
                </a:lnTo>
                <a:cubicBezTo>
                  <a:pt x="3477744" y="272244"/>
                  <a:pt x="3463492" y="286496"/>
                  <a:pt x="3445912" y="286496"/>
                </a:cubicBezTo>
                <a:lnTo>
                  <a:pt x="31833" y="286496"/>
                </a:lnTo>
                <a:cubicBezTo>
                  <a:pt x="14252" y="286496"/>
                  <a:pt x="0" y="272244"/>
                  <a:pt x="0" y="254664"/>
                </a:cubicBezTo>
                <a:lnTo>
                  <a:pt x="0" y="31833"/>
                </a:lnTo>
                <a:cubicBezTo>
                  <a:pt x="0" y="14264"/>
                  <a:pt x="14264" y="0"/>
                  <a:pt x="31833" y="0"/>
                </a:cubicBezTo>
                <a:close/>
              </a:path>
            </a:pathLst>
          </a:custGeom>
          <a:solidFill>
            <a:srgbClr val="4A6C8C">
              <a:alpha val="10196"/>
            </a:srgbClr>
          </a:solidFill>
          <a:ln/>
        </p:spPr>
        <p:txBody>
          <a:bodyPr/>
          <a:lstStyle/>
          <a:p>
            <a:endParaRPr lang="en-US"/>
          </a:p>
        </p:txBody>
      </p:sp>
      <p:sp>
        <p:nvSpPr>
          <p:cNvPr id="70" name="Text 68"/>
          <p:cNvSpPr/>
          <p:nvPr/>
        </p:nvSpPr>
        <p:spPr>
          <a:xfrm>
            <a:off x="4421689" y="5831785"/>
            <a:ext cx="3406120" cy="159164"/>
          </a:xfrm>
          <a:prstGeom prst="rect">
            <a:avLst/>
          </a:prstGeom>
          <a:noFill/>
          <a:ln/>
        </p:spPr>
        <p:txBody>
          <a:bodyPr wrap="square" lIns="0" tIns="0" rIns="0" bIns="0" rtlCol="0" anchor="ctr"/>
          <a:lstStyle/>
          <a:p>
            <a:pPr>
              <a:lnSpc>
                <a:spcPct val="120000"/>
              </a:lnSpc>
            </a:pPr>
            <a:r>
              <a:rPr lang="en-US" sz="877" b="1" dirty="0">
                <a:solidFill>
                  <a:srgbClr val="B8A890"/>
                </a:solidFill>
                <a:latin typeface="Quattrocento Sans" pitchFamily="34" charset="0"/>
                <a:ea typeface="Quattrocento Sans" pitchFamily="34" charset="-122"/>
                <a:cs typeface="Quattrocento Sans" pitchFamily="34" charset="-120"/>
              </a:rPr>
              <a:t>Dilation:</a:t>
            </a:r>
            <a:r>
              <a:rPr lang="en-US" sz="877" dirty="0">
                <a:solidFill>
                  <a:srgbClr val="E0E2E5">
                    <a:alpha val="90000"/>
                  </a:srgbClr>
                </a:solidFill>
                <a:latin typeface="Quattrocento Sans" pitchFamily="34" charset="0"/>
                <a:ea typeface="Quattrocento Sans" pitchFamily="34" charset="-122"/>
                <a:cs typeface="Quattrocento Sans" pitchFamily="34" charset="-120"/>
              </a:rPr>
              <a:t> A ⊕ B = {z | (B̂)ᵤ ∩ A ≠ ∅}</a:t>
            </a:r>
            <a:endParaRPr lang="en-US" sz="1600" dirty="0"/>
          </a:p>
        </p:txBody>
      </p:sp>
      <p:sp>
        <p:nvSpPr>
          <p:cNvPr id="71" name="Shape 69"/>
          <p:cNvSpPr/>
          <p:nvPr/>
        </p:nvSpPr>
        <p:spPr>
          <a:xfrm>
            <a:off x="4358023" y="6118281"/>
            <a:ext cx="3477744" cy="286496"/>
          </a:xfrm>
          <a:custGeom>
            <a:avLst/>
            <a:gdLst/>
            <a:ahLst/>
            <a:cxnLst/>
            <a:rect l="l" t="t" r="r" b="b"/>
            <a:pathLst>
              <a:path w="3477744" h="286496">
                <a:moveTo>
                  <a:pt x="31833" y="0"/>
                </a:moveTo>
                <a:lnTo>
                  <a:pt x="3445912" y="0"/>
                </a:lnTo>
                <a:cubicBezTo>
                  <a:pt x="3463492" y="0"/>
                  <a:pt x="3477744" y="14252"/>
                  <a:pt x="3477744" y="31833"/>
                </a:cubicBezTo>
                <a:lnTo>
                  <a:pt x="3477744" y="254664"/>
                </a:lnTo>
                <a:cubicBezTo>
                  <a:pt x="3477744" y="272244"/>
                  <a:pt x="3463492" y="286496"/>
                  <a:pt x="3445912" y="286496"/>
                </a:cubicBezTo>
                <a:lnTo>
                  <a:pt x="31833" y="286496"/>
                </a:lnTo>
                <a:cubicBezTo>
                  <a:pt x="14252" y="286496"/>
                  <a:pt x="0" y="272244"/>
                  <a:pt x="0" y="254664"/>
                </a:cubicBezTo>
                <a:lnTo>
                  <a:pt x="0" y="31833"/>
                </a:lnTo>
                <a:cubicBezTo>
                  <a:pt x="0" y="14264"/>
                  <a:pt x="14264" y="0"/>
                  <a:pt x="31833" y="0"/>
                </a:cubicBezTo>
                <a:close/>
              </a:path>
            </a:pathLst>
          </a:custGeom>
          <a:solidFill>
            <a:srgbClr val="B8A890">
              <a:alpha val="10196"/>
            </a:srgbClr>
          </a:solidFill>
          <a:ln/>
        </p:spPr>
        <p:txBody>
          <a:bodyPr/>
          <a:lstStyle/>
          <a:p>
            <a:endParaRPr lang="en-US"/>
          </a:p>
        </p:txBody>
      </p:sp>
      <p:sp>
        <p:nvSpPr>
          <p:cNvPr id="72" name="Text 70"/>
          <p:cNvSpPr/>
          <p:nvPr/>
        </p:nvSpPr>
        <p:spPr>
          <a:xfrm>
            <a:off x="4421689" y="6181947"/>
            <a:ext cx="3406120" cy="159164"/>
          </a:xfrm>
          <a:prstGeom prst="rect">
            <a:avLst/>
          </a:prstGeom>
          <a:noFill/>
          <a:ln/>
        </p:spPr>
        <p:txBody>
          <a:bodyPr wrap="square" lIns="0" tIns="0" rIns="0" bIns="0" rtlCol="0" anchor="ctr"/>
          <a:lstStyle/>
          <a:p>
            <a:pPr>
              <a:lnSpc>
                <a:spcPct val="120000"/>
              </a:lnSpc>
            </a:pPr>
            <a:r>
              <a:rPr lang="en-US" sz="877" b="1" dirty="0">
                <a:solidFill>
                  <a:srgbClr val="B8A890"/>
                </a:solidFill>
                <a:latin typeface="Quattrocento Sans" pitchFamily="34" charset="0"/>
                <a:ea typeface="Quattrocento Sans" pitchFamily="34" charset="-122"/>
                <a:cs typeface="Quattrocento Sans" pitchFamily="34" charset="-120"/>
              </a:rPr>
              <a:t>Boundary:</a:t>
            </a:r>
            <a:r>
              <a:rPr lang="en-US" sz="877" dirty="0">
                <a:solidFill>
                  <a:srgbClr val="E0E2E5">
                    <a:alpha val="90000"/>
                  </a:srgbClr>
                </a:solidFill>
                <a:latin typeface="Quattrocento Sans" pitchFamily="34" charset="0"/>
                <a:ea typeface="Quattrocento Sans" pitchFamily="34" charset="-122"/>
                <a:cs typeface="Quattrocento Sans" pitchFamily="34" charset="-120"/>
              </a:rPr>
              <a:t> β(A) = A - (A ⊖ B)</a:t>
            </a:r>
            <a:endParaRPr lang="en-US" sz="1600" dirty="0"/>
          </a:p>
        </p:txBody>
      </p:sp>
      <p:sp>
        <p:nvSpPr>
          <p:cNvPr id="73" name="Shape 71"/>
          <p:cNvSpPr/>
          <p:nvPr/>
        </p:nvSpPr>
        <p:spPr>
          <a:xfrm>
            <a:off x="8133504" y="4969115"/>
            <a:ext cx="3738774" cy="1566179"/>
          </a:xfrm>
          <a:custGeom>
            <a:avLst/>
            <a:gdLst/>
            <a:ahLst/>
            <a:cxnLst/>
            <a:rect l="l" t="t" r="r" b="b"/>
            <a:pathLst>
              <a:path w="3738774" h="1566179">
                <a:moveTo>
                  <a:pt x="95506" y="0"/>
                </a:moveTo>
                <a:lnTo>
                  <a:pt x="3643268" y="0"/>
                </a:lnTo>
                <a:cubicBezTo>
                  <a:pt x="3696015" y="0"/>
                  <a:pt x="3738774" y="42759"/>
                  <a:pt x="3738774" y="95506"/>
                </a:cubicBezTo>
                <a:lnTo>
                  <a:pt x="3738774" y="1470673"/>
                </a:lnTo>
                <a:cubicBezTo>
                  <a:pt x="3738774" y="1523419"/>
                  <a:pt x="3696015" y="1566179"/>
                  <a:pt x="3643268" y="1566179"/>
                </a:cubicBezTo>
                <a:lnTo>
                  <a:pt x="95506" y="1566179"/>
                </a:lnTo>
                <a:cubicBezTo>
                  <a:pt x="42759" y="1566179"/>
                  <a:pt x="0" y="1523419"/>
                  <a:pt x="0" y="1470673"/>
                </a:cubicBezTo>
                <a:lnTo>
                  <a:pt x="0" y="95506"/>
                </a:lnTo>
                <a:cubicBezTo>
                  <a:pt x="0" y="42759"/>
                  <a:pt x="42759" y="0"/>
                  <a:pt x="95506" y="0"/>
                </a:cubicBezTo>
                <a:close/>
              </a:path>
            </a:pathLst>
          </a:custGeom>
          <a:solidFill>
            <a:srgbClr val="1A1D21">
              <a:alpha val="50196"/>
            </a:srgbClr>
          </a:solidFill>
          <a:ln w="10160">
            <a:solidFill>
              <a:srgbClr val="B8A890">
                <a:alpha val="30196"/>
              </a:srgbClr>
            </a:solidFill>
            <a:prstDash val="solid"/>
          </a:ln>
        </p:spPr>
        <p:txBody>
          <a:bodyPr/>
          <a:lstStyle/>
          <a:p>
            <a:endParaRPr lang="en-US"/>
          </a:p>
        </p:txBody>
      </p:sp>
      <p:sp>
        <p:nvSpPr>
          <p:cNvPr id="74" name="Text 72"/>
          <p:cNvSpPr/>
          <p:nvPr/>
        </p:nvSpPr>
        <p:spPr>
          <a:xfrm>
            <a:off x="8264020" y="5099629"/>
            <a:ext cx="3549368" cy="222830"/>
          </a:xfrm>
          <a:prstGeom prst="rect">
            <a:avLst/>
          </a:prstGeom>
          <a:noFill/>
          <a:ln/>
        </p:spPr>
        <p:txBody>
          <a:bodyPr wrap="square" lIns="0" tIns="0" rIns="0" bIns="0" rtlCol="0" anchor="ctr"/>
          <a:lstStyle/>
          <a:p>
            <a:pPr>
              <a:lnSpc>
                <a:spcPct val="130000"/>
              </a:lnSpc>
            </a:pPr>
            <a:r>
              <a:rPr lang="en-US" sz="1128" b="1" dirty="0">
                <a:solidFill>
                  <a:srgbClr val="E0E2E5"/>
                </a:solidFill>
                <a:latin typeface="Liter" pitchFamily="34" charset="0"/>
                <a:ea typeface="Liter" pitchFamily="34" charset="-122"/>
                <a:cs typeface="Liter" pitchFamily="34" charset="-120"/>
              </a:rPr>
              <a:t>Performance Metrics</a:t>
            </a:r>
            <a:endParaRPr lang="en-US" sz="1600" dirty="0"/>
          </a:p>
        </p:txBody>
      </p:sp>
      <p:sp>
        <p:nvSpPr>
          <p:cNvPr id="75" name="Text 73"/>
          <p:cNvSpPr/>
          <p:nvPr/>
        </p:nvSpPr>
        <p:spPr>
          <a:xfrm>
            <a:off x="8264020" y="5433874"/>
            <a:ext cx="493410"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Precision</a:t>
            </a:r>
            <a:endParaRPr lang="en-US" sz="1600" dirty="0"/>
          </a:p>
        </p:txBody>
      </p:sp>
      <p:sp>
        <p:nvSpPr>
          <p:cNvPr id="76" name="Text 74"/>
          <p:cNvSpPr/>
          <p:nvPr/>
        </p:nvSpPr>
        <p:spPr>
          <a:xfrm>
            <a:off x="11409508" y="5417958"/>
            <a:ext cx="397911" cy="190997"/>
          </a:xfrm>
          <a:prstGeom prst="rect">
            <a:avLst/>
          </a:prstGeom>
          <a:noFill/>
          <a:ln/>
        </p:spPr>
        <p:txBody>
          <a:bodyPr wrap="square" lIns="0" tIns="0" rIns="0" bIns="0" rtlCol="0" anchor="ctr"/>
          <a:lstStyle/>
          <a:p>
            <a:pPr>
              <a:lnSpc>
                <a:spcPct val="130000"/>
              </a:lnSpc>
            </a:pPr>
            <a:r>
              <a:rPr lang="en-US" sz="1003" b="1" dirty="0">
                <a:solidFill>
                  <a:srgbClr val="4A6C8C"/>
                </a:solidFill>
                <a:latin typeface="Quattrocento Sans" pitchFamily="34" charset="0"/>
                <a:ea typeface="Quattrocento Sans" pitchFamily="34" charset="-122"/>
                <a:cs typeface="Quattrocento Sans" pitchFamily="34" charset="-120"/>
              </a:rPr>
              <a:t>94.2%</a:t>
            </a:r>
            <a:endParaRPr lang="en-US" sz="1600" dirty="0"/>
          </a:p>
        </p:txBody>
      </p:sp>
      <p:sp>
        <p:nvSpPr>
          <p:cNvPr id="77" name="Text 75"/>
          <p:cNvSpPr/>
          <p:nvPr/>
        </p:nvSpPr>
        <p:spPr>
          <a:xfrm>
            <a:off x="8264020" y="5688537"/>
            <a:ext cx="342204"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Recall</a:t>
            </a:r>
            <a:endParaRPr lang="en-US" sz="1600" dirty="0"/>
          </a:p>
        </p:txBody>
      </p:sp>
      <p:sp>
        <p:nvSpPr>
          <p:cNvPr id="78" name="Text 76"/>
          <p:cNvSpPr/>
          <p:nvPr/>
        </p:nvSpPr>
        <p:spPr>
          <a:xfrm>
            <a:off x="11427613" y="5672621"/>
            <a:ext cx="381995" cy="190997"/>
          </a:xfrm>
          <a:prstGeom prst="rect">
            <a:avLst/>
          </a:prstGeom>
          <a:noFill/>
          <a:ln/>
        </p:spPr>
        <p:txBody>
          <a:bodyPr wrap="square" lIns="0" tIns="0" rIns="0" bIns="0" rtlCol="0" anchor="ctr"/>
          <a:lstStyle/>
          <a:p>
            <a:pPr>
              <a:lnSpc>
                <a:spcPct val="130000"/>
              </a:lnSpc>
            </a:pPr>
            <a:r>
              <a:rPr lang="en-US" sz="1003" b="1" dirty="0">
                <a:solidFill>
                  <a:srgbClr val="5A7D7C"/>
                </a:solidFill>
                <a:latin typeface="Quattrocento Sans" pitchFamily="34" charset="0"/>
                <a:ea typeface="Quattrocento Sans" pitchFamily="34" charset="-122"/>
                <a:cs typeface="Quattrocento Sans" pitchFamily="34" charset="-120"/>
              </a:rPr>
              <a:t>91.8%</a:t>
            </a:r>
            <a:endParaRPr lang="en-US" sz="1600" dirty="0"/>
          </a:p>
        </p:txBody>
      </p:sp>
      <p:sp>
        <p:nvSpPr>
          <p:cNvPr id="79" name="Text 77"/>
          <p:cNvSpPr/>
          <p:nvPr/>
        </p:nvSpPr>
        <p:spPr>
          <a:xfrm>
            <a:off x="8264020" y="5943201"/>
            <a:ext cx="477493"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F1-Score</a:t>
            </a:r>
            <a:endParaRPr lang="en-US" sz="1600" dirty="0"/>
          </a:p>
        </p:txBody>
      </p:sp>
      <p:sp>
        <p:nvSpPr>
          <p:cNvPr id="80" name="Text 78"/>
          <p:cNvSpPr/>
          <p:nvPr/>
        </p:nvSpPr>
        <p:spPr>
          <a:xfrm>
            <a:off x="11388319" y="5927284"/>
            <a:ext cx="421786" cy="190997"/>
          </a:xfrm>
          <a:prstGeom prst="rect">
            <a:avLst/>
          </a:prstGeom>
          <a:noFill/>
          <a:ln/>
        </p:spPr>
        <p:txBody>
          <a:bodyPr wrap="square" lIns="0" tIns="0" rIns="0" bIns="0" rtlCol="0" anchor="ctr"/>
          <a:lstStyle/>
          <a:p>
            <a:pPr>
              <a:lnSpc>
                <a:spcPct val="130000"/>
              </a:lnSpc>
            </a:pPr>
            <a:r>
              <a:rPr lang="en-US" sz="1003" b="1" dirty="0">
                <a:solidFill>
                  <a:srgbClr val="B8A890"/>
                </a:solidFill>
                <a:latin typeface="Quattrocento Sans" pitchFamily="34" charset="0"/>
                <a:ea typeface="Quattrocento Sans" pitchFamily="34" charset="-122"/>
                <a:cs typeface="Quattrocento Sans" pitchFamily="34" charset="-120"/>
              </a:rPr>
              <a:t>93.0%</a:t>
            </a:r>
            <a:endParaRPr lang="en-US" sz="1600" dirty="0"/>
          </a:p>
        </p:txBody>
      </p:sp>
      <p:sp>
        <p:nvSpPr>
          <p:cNvPr id="81" name="Text 79"/>
          <p:cNvSpPr/>
          <p:nvPr/>
        </p:nvSpPr>
        <p:spPr>
          <a:xfrm>
            <a:off x="8264020" y="6197864"/>
            <a:ext cx="222830" cy="159164"/>
          </a:xfrm>
          <a:prstGeom prst="rect">
            <a:avLst/>
          </a:prstGeom>
          <a:noFill/>
          <a:ln/>
        </p:spPr>
        <p:txBody>
          <a:bodyPr wrap="square" lIns="0" tIns="0" rIns="0" bIns="0" rtlCol="0" anchor="ctr"/>
          <a:lstStyle/>
          <a:p>
            <a:pPr>
              <a:lnSpc>
                <a:spcPct val="120000"/>
              </a:lnSpc>
            </a:pPr>
            <a:r>
              <a:rPr lang="en-US" sz="877" dirty="0">
                <a:solidFill>
                  <a:srgbClr val="E0E2E5">
                    <a:alpha val="90000"/>
                  </a:srgbClr>
                </a:solidFill>
                <a:latin typeface="Quattrocento Sans" pitchFamily="34" charset="0"/>
                <a:ea typeface="Quattrocento Sans" pitchFamily="34" charset="-122"/>
                <a:cs typeface="Quattrocento Sans" pitchFamily="34" charset="-120"/>
              </a:rPr>
              <a:t>IoU</a:t>
            </a:r>
            <a:endParaRPr lang="en-US" sz="1600" dirty="0"/>
          </a:p>
        </p:txBody>
      </p:sp>
      <p:sp>
        <p:nvSpPr>
          <p:cNvPr id="82" name="Text 80"/>
          <p:cNvSpPr/>
          <p:nvPr/>
        </p:nvSpPr>
        <p:spPr>
          <a:xfrm>
            <a:off x="11411597" y="6181947"/>
            <a:ext cx="397911" cy="190997"/>
          </a:xfrm>
          <a:prstGeom prst="rect">
            <a:avLst/>
          </a:prstGeom>
          <a:noFill/>
          <a:ln/>
        </p:spPr>
        <p:txBody>
          <a:bodyPr wrap="square" lIns="0" tIns="0" rIns="0" bIns="0" rtlCol="0" anchor="ctr"/>
          <a:lstStyle/>
          <a:p>
            <a:pPr>
              <a:lnSpc>
                <a:spcPct val="130000"/>
              </a:lnSpc>
            </a:pPr>
            <a:r>
              <a:rPr lang="en-US" sz="1003" b="1" dirty="0">
                <a:solidFill>
                  <a:srgbClr val="4A6C8C"/>
                </a:solidFill>
                <a:latin typeface="Quattrocento Sans" pitchFamily="34" charset="0"/>
                <a:ea typeface="Quattrocento Sans" pitchFamily="34" charset="-122"/>
                <a:cs typeface="Quattrocento Sans" pitchFamily="34" charset="-120"/>
              </a:rPr>
              <a:t>87.5%</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a:extLst>
            <a:ext uri="{FF2B5EF4-FFF2-40B4-BE49-F238E27FC236}">
              <a16:creationId xmlns:a16="http://schemas.microsoft.com/office/drawing/2014/main" id="{5EB526EC-84E3-4F3C-21DC-FDBA64D40E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87C1AD-39AC-9CAC-1CC8-6FB0C7C05656}"/>
              </a:ext>
            </a:extLst>
          </p:cNvPr>
          <p:cNvSpPr/>
          <p:nvPr/>
        </p:nvSpPr>
        <p:spPr>
          <a:xfrm>
            <a:off x="322753" y="322753"/>
            <a:ext cx="11611044" cy="193652"/>
          </a:xfrm>
          <a:prstGeom prst="rect">
            <a:avLst/>
          </a:prstGeom>
          <a:noFill/>
          <a:ln/>
        </p:spPr>
        <p:txBody>
          <a:bodyPr wrap="square" lIns="0" tIns="0" rIns="0" bIns="0" rtlCol="0" anchor="ctr"/>
          <a:lstStyle/>
          <a:p>
            <a:pPr>
              <a:lnSpc>
                <a:spcPct val="130000"/>
              </a:lnSpc>
            </a:pPr>
            <a:r>
              <a:rPr lang="en-US" sz="1017" b="1" kern="0" spc="102" dirty="0">
                <a:solidFill>
                  <a:srgbClr val="B8A890"/>
                </a:solidFill>
                <a:latin typeface="Quattrocento Sans" pitchFamily="34" charset="0"/>
                <a:ea typeface="Quattrocento Sans" pitchFamily="34" charset="-122"/>
                <a:cs typeface="Quattrocento Sans" pitchFamily="34" charset="-120"/>
              </a:rPr>
              <a:t>RESULTS VALIDATION</a:t>
            </a:r>
            <a:endParaRPr lang="en-US" sz="1600" dirty="0"/>
          </a:p>
        </p:txBody>
      </p:sp>
      <p:sp>
        <p:nvSpPr>
          <p:cNvPr id="3" name="Text 1">
            <a:extLst>
              <a:ext uri="{FF2B5EF4-FFF2-40B4-BE49-F238E27FC236}">
                <a16:creationId xmlns:a16="http://schemas.microsoft.com/office/drawing/2014/main" id="{D195176A-E866-FF0D-9061-3566CB175E43}"/>
              </a:ext>
            </a:extLst>
          </p:cNvPr>
          <p:cNvSpPr/>
          <p:nvPr/>
        </p:nvSpPr>
        <p:spPr>
          <a:xfrm>
            <a:off x="322753" y="580956"/>
            <a:ext cx="11740146" cy="387304"/>
          </a:xfrm>
          <a:prstGeom prst="rect">
            <a:avLst/>
          </a:prstGeom>
          <a:noFill/>
          <a:ln/>
        </p:spPr>
        <p:txBody>
          <a:bodyPr wrap="square" lIns="0" tIns="0" rIns="0" bIns="0" rtlCol="0" anchor="ctr"/>
          <a:lstStyle/>
          <a:p>
            <a:pPr>
              <a:lnSpc>
                <a:spcPct val="80000"/>
              </a:lnSpc>
            </a:pPr>
            <a:r>
              <a:rPr lang="en-US" sz="3050" b="1" dirty="0">
                <a:solidFill>
                  <a:srgbClr val="E0E2E5"/>
                </a:solidFill>
                <a:latin typeface="Liter" pitchFamily="34" charset="0"/>
                <a:ea typeface="Liter" pitchFamily="34" charset="-122"/>
                <a:cs typeface="Liter" pitchFamily="34" charset="-120"/>
              </a:rPr>
              <a:t>Key Results &amp; Visual Evidence</a:t>
            </a:r>
            <a:endParaRPr lang="en-US" sz="1600" dirty="0"/>
          </a:p>
        </p:txBody>
      </p:sp>
      <p:sp>
        <p:nvSpPr>
          <p:cNvPr id="4" name="Shape 2">
            <a:extLst>
              <a:ext uri="{FF2B5EF4-FFF2-40B4-BE49-F238E27FC236}">
                <a16:creationId xmlns:a16="http://schemas.microsoft.com/office/drawing/2014/main" id="{76E15317-E03F-FC88-68E5-D02CFE461F2A}"/>
              </a:ext>
            </a:extLst>
          </p:cNvPr>
          <p:cNvSpPr/>
          <p:nvPr/>
        </p:nvSpPr>
        <p:spPr>
          <a:xfrm>
            <a:off x="325981" y="1132864"/>
            <a:ext cx="2782132" cy="1539532"/>
          </a:xfrm>
          <a:custGeom>
            <a:avLst/>
            <a:gdLst/>
            <a:ahLst/>
            <a:cxnLst/>
            <a:rect l="l" t="t" r="r" b="b"/>
            <a:pathLst>
              <a:path w="2782132" h="1539532">
                <a:moveTo>
                  <a:pt x="96821" y="0"/>
                </a:moveTo>
                <a:lnTo>
                  <a:pt x="2685311" y="0"/>
                </a:lnTo>
                <a:cubicBezTo>
                  <a:pt x="2738784" y="0"/>
                  <a:pt x="2782132" y="43348"/>
                  <a:pt x="2782132" y="96821"/>
                </a:cubicBezTo>
                <a:lnTo>
                  <a:pt x="2782132" y="1442711"/>
                </a:lnTo>
                <a:cubicBezTo>
                  <a:pt x="2782132" y="1496184"/>
                  <a:pt x="2738784" y="1539532"/>
                  <a:pt x="2685311" y="1539532"/>
                </a:cubicBezTo>
                <a:lnTo>
                  <a:pt x="96821" y="1539532"/>
                </a:lnTo>
                <a:cubicBezTo>
                  <a:pt x="43348" y="1539532"/>
                  <a:pt x="0" y="1496184"/>
                  <a:pt x="0" y="1442711"/>
                </a:cubicBezTo>
                <a:lnTo>
                  <a:pt x="0" y="96821"/>
                </a:lnTo>
                <a:cubicBezTo>
                  <a:pt x="0" y="43384"/>
                  <a:pt x="43384" y="0"/>
                  <a:pt x="96821"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5" name="Text 3">
            <a:extLst>
              <a:ext uri="{FF2B5EF4-FFF2-40B4-BE49-F238E27FC236}">
                <a16:creationId xmlns:a16="http://schemas.microsoft.com/office/drawing/2014/main" id="{1741B6F9-9E4B-6A2E-43E9-10B532835B51}"/>
              </a:ext>
            </a:extLst>
          </p:cNvPr>
          <p:cNvSpPr/>
          <p:nvPr/>
        </p:nvSpPr>
        <p:spPr>
          <a:xfrm>
            <a:off x="422000" y="911778"/>
            <a:ext cx="2590094" cy="225927"/>
          </a:xfrm>
          <a:prstGeom prst="rect">
            <a:avLst/>
          </a:prstGeom>
          <a:noFill/>
          <a:ln/>
        </p:spPr>
        <p:txBody>
          <a:bodyPr wrap="square" lIns="0" tIns="0" rIns="0" bIns="0" rtlCol="0" anchor="ctr"/>
          <a:lstStyle/>
          <a:p>
            <a:pPr algn="ctr">
              <a:lnSpc>
                <a:spcPct val="130000"/>
              </a:lnSpc>
            </a:pPr>
            <a:r>
              <a:rPr lang="en-US" sz="1144" b="1" dirty="0">
                <a:solidFill>
                  <a:srgbClr val="E0E2E5"/>
                </a:solidFill>
                <a:latin typeface="Liter" pitchFamily="34" charset="0"/>
                <a:ea typeface="Liter" pitchFamily="34" charset="-122"/>
                <a:cs typeface="Liter" pitchFamily="34" charset="-120"/>
              </a:rPr>
              <a:t>Original</a:t>
            </a:r>
            <a:endParaRPr lang="en-US" sz="1600" dirty="0"/>
          </a:p>
        </p:txBody>
      </p:sp>
      <p:sp>
        <p:nvSpPr>
          <p:cNvPr id="8" name="Text 6">
            <a:extLst>
              <a:ext uri="{FF2B5EF4-FFF2-40B4-BE49-F238E27FC236}">
                <a16:creationId xmlns:a16="http://schemas.microsoft.com/office/drawing/2014/main" id="{27DA5A03-44B3-A6B1-7515-A7CBCDFF3DDE}"/>
              </a:ext>
            </a:extLst>
          </p:cNvPr>
          <p:cNvSpPr/>
          <p:nvPr/>
        </p:nvSpPr>
        <p:spPr>
          <a:xfrm>
            <a:off x="434103" y="2394827"/>
            <a:ext cx="2565887" cy="129101"/>
          </a:xfrm>
          <a:prstGeom prst="rect">
            <a:avLst/>
          </a:prstGeom>
          <a:noFill/>
          <a:ln/>
        </p:spPr>
        <p:txBody>
          <a:bodyPr wrap="square" lIns="0" tIns="0" rIns="0" bIns="0" rtlCol="0" anchor="ctr"/>
          <a:lstStyle/>
          <a:p>
            <a:pPr algn="ctr">
              <a:lnSpc>
                <a:spcPct val="110000"/>
              </a:lnSpc>
            </a:pPr>
            <a:r>
              <a:rPr lang="en-US" sz="762" dirty="0">
                <a:solidFill>
                  <a:srgbClr val="E0E2E5">
                    <a:alpha val="80000"/>
                  </a:srgbClr>
                </a:solidFill>
                <a:latin typeface="Quattrocento Sans" pitchFamily="34" charset="0"/>
                <a:ea typeface="Quattrocento Sans" pitchFamily="34" charset="-122"/>
                <a:cs typeface="Quattrocento Sans" pitchFamily="34" charset="-120"/>
              </a:rPr>
              <a:t>Color image with objects</a:t>
            </a:r>
            <a:endParaRPr lang="en-US" sz="1600" dirty="0"/>
          </a:p>
        </p:txBody>
      </p:sp>
      <p:sp>
        <p:nvSpPr>
          <p:cNvPr id="9" name="Shape 7">
            <a:extLst>
              <a:ext uri="{FF2B5EF4-FFF2-40B4-BE49-F238E27FC236}">
                <a16:creationId xmlns:a16="http://schemas.microsoft.com/office/drawing/2014/main" id="{582F618A-0302-7BB6-4F0B-2D66202A0231}"/>
              </a:ext>
            </a:extLst>
          </p:cNvPr>
          <p:cNvSpPr/>
          <p:nvPr/>
        </p:nvSpPr>
        <p:spPr>
          <a:xfrm>
            <a:off x="3245081" y="1132864"/>
            <a:ext cx="2782132" cy="1539532"/>
          </a:xfrm>
          <a:custGeom>
            <a:avLst/>
            <a:gdLst/>
            <a:ahLst/>
            <a:cxnLst/>
            <a:rect l="l" t="t" r="r" b="b"/>
            <a:pathLst>
              <a:path w="2782132" h="1539532">
                <a:moveTo>
                  <a:pt x="96821" y="0"/>
                </a:moveTo>
                <a:lnTo>
                  <a:pt x="2685311" y="0"/>
                </a:lnTo>
                <a:cubicBezTo>
                  <a:pt x="2738784" y="0"/>
                  <a:pt x="2782132" y="43348"/>
                  <a:pt x="2782132" y="96821"/>
                </a:cubicBezTo>
                <a:lnTo>
                  <a:pt x="2782132" y="1442711"/>
                </a:lnTo>
                <a:cubicBezTo>
                  <a:pt x="2782132" y="1496184"/>
                  <a:pt x="2738784" y="1539532"/>
                  <a:pt x="2685311" y="1539532"/>
                </a:cubicBezTo>
                <a:lnTo>
                  <a:pt x="96821" y="1539532"/>
                </a:lnTo>
                <a:cubicBezTo>
                  <a:pt x="43348" y="1539532"/>
                  <a:pt x="0" y="1496184"/>
                  <a:pt x="0" y="1442711"/>
                </a:cubicBezTo>
                <a:lnTo>
                  <a:pt x="0" y="96821"/>
                </a:lnTo>
                <a:cubicBezTo>
                  <a:pt x="0" y="43384"/>
                  <a:pt x="43384" y="0"/>
                  <a:pt x="96821"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10" name="Text 8">
            <a:extLst>
              <a:ext uri="{FF2B5EF4-FFF2-40B4-BE49-F238E27FC236}">
                <a16:creationId xmlns:a16="http://schemas.microsoft.com/office/drawing/2014/main" id="{0DB7B2C6-735D-3923-2B2A-C8BC4BEAB71C}"/>
              </a:ext>
            </a:extLst>
          </p:cNvPr>
          <p:cNvSpPr/>
          <p:nvPr/>
        </p:nvSpPr>
        <p:spPr>
          <a:xfrm>
            <a:off x="3328997" y="903710"/>
            <a:ext cx="2590094" cy="225927"/>
          </a:xfrm>
          <a:prstGeom prst="rect">
            <a:avLst/>
          </a:prstGeom>
          <a:noFill/>
          <a:ln/>
        </p:spPr>
        <p:txBody>
          <a:bodyPr wrap="square" lIns="0" tIns="0" rIns="0" bIns="0" rtlCol="0" anchor="ctr"/>
          <a:lstStyle/>
          <a:p>
            <a:pPr algn="ctr">
              <a:lnSpc>
                <a:spcPct val="130000"/>
              </a:lnSpc>
            </a:pPr>
            <a:r>
              <a:rPr lang="en-US" sz="1144" b="1" dirty="0">
                <a:solidFill>
                  <a:srgbClr val="E0E2E5"/>
                </a:solidFill>
                <a:latin typeface="Liter" pitchFamily="34" charset="0"/>
                <a:ea typeface="Liter" pitchFamily="34" charset="-122"/>
                <a:cs typeface="Liter" pitchFamily="34" charset="-120"/>
              </a:rPr>
              <a:t>Grayscale</a:t>
            </a:r>
            <a:endParaRPr lang="en-US" sz="1600" dirty="0"/>
          </a:p>
        </p:txBody>
      </p:sp>
      <p:sp>
        <p:nvSpPr>
          <p:cNvPr id="11" name="Shape 9">
            <a:extLst>
              <a:ext uri="{FF2B5EF4-FFF2-40B4-BE49-F238E27FC236}">
                <a16:creationId xmlns:a16="http://schemas.microsoft.com/office/drawing/2014/main" id="{D6F385A3-E7E8-69C1-7776-3F4C8DAA39E8}"/>
              </a:ext>
            </a:extLst>
          </p:cNvPr>
          <p:cNvSpPr/>
          <p:nvPr/>
        </p:nvSpPr>
        <p:spPr>
          <a:xfrm>
            <a:off x="3377410" y="1555669"/>
            <a:ext cx="2517475" cy="774608"/>
          </a:xfrm>
          <a:custGeom>
            <a:avLst/>
            <a:gdLst/>
            <a:ahLst/>
            <a:cxnLst/>
            <a:rect l="l" t="t" r="r" b="b"/>
            <a:pathLst>
              <a:path w="2517475" h="774608">
                <a:moveTo>
                  <a:pt x="64548" y="0"/>
                </a:moveTo>
                <a:lnTo>
                  <a:pt x="2452926" y="0"/>
                </a:lnTo>
                <a:cubicBezTo>
                  <a:pt x="2488575" y="0"/>
                  <a:pt x="2517475" y="28899"/>
                  <a:pt x="2517475" y="64548"/>
                </a:cubicBezTo>
                <a:lnTo>
                  <a:pt x="2517475" y="710059"/>
                </a:lnTo>
                <a:cubicBezTo>
                  <a:pt x="2517475" y="745708"/>
                  <a:pt x="2488575" y="774608"/>
                  <a:pt x="2452926" y="774608"/>
                </a:cubicBezTo>
                <a:lnTo>
                  <a:pt x="64548" y="774608"/>
                </a:lnTo>
                <a:cubicBezTo>
                  <a:pt x="28923" y="774608"/>
                  <a:pt x="0" y="745685"/>
                  <a:pt x="0" y="710059"/>
                </a:cubicBezTo>
                <a:lnTo>
                  <a:pt x="0" y="64548"/>
                </a:lnTo>
                <a:cubicBezTo>
                  <a:pt x="0" y="28923"/>
                  <a:pt x="28923" y="0"/>
                  <a:pt x="64548" y="0"/>
                </a:cubicBezTo>
                <a:close/>
              </a:path>
            </a:pathLst>
          </a:custGeom>
          <a:gradFill flip="none" rotWithShape="1">
            <a:gsLst>
              <a:gs pos="0">
                <a:srgbClr val="5A7D7C">
                  <a:alpha val="30000"/>
                </a:srgbClr>
              </a:gs>
              <a:gs pos="100000">
                <a:srgbClr val="1A1D21"/>
              </a:gs>
            </a:gsLst>
            <a:lin ang="2700000" scaled="1"/>
          </a:gradFill>
          <a:ln/>
        </p:spPr>
        <p:txBody>
          <a:bodyPr/>
          <a:lstStyle/>
          <a:p>
            <a:endParaRPr lang="en-US" dirty="0"/>
          </a:p>
        </p:txBody>
      </p:sp>
      <p:sp>
        <p:nvSpPr>
          <p:cNvPr id="12" name="Text 10">
            <a:extLst>
              <a:ext uri="{FF2B5EF4-FFF2-40B4-BE49-F238E27FC236}">
                <a16:creationId xmlns:a16="http://schemas.microsoft.com/office/drawing/2014/main" id="{168B25F6-FAEF-4708-DA07-192BC1018EA8}"/>
              </a:ext>
            </a:extLst>
          </p:cNvPr>
          <p:cNvSpPr/>
          <p:nvPr/>
        </p:nvSpPr>
        <p:spPr>
          <a:xfrm>
            <a:off x="4428274" y="1862284"/>
            <a:ext cx="476061" cy="161377"/>
          </a:xfrm>
          <a:prstGeom prst="rect">
            <a:avLst/>
          </a:prstGeom>
          <a:noFill/>
          <a:ln/>
        </p:spPr>
        <p:txBody>
          <a:bodyPr wrap="square" lIns="0" tIns="0" rIns="0" bIns="0" rtlCol="0" anchor="ctr"/>
          <a:lstStyle/>
          <a:p>
            <a:pPr>
              <a:lnSpc>
                <a:spcPct val="120000"/>
              </a:lnSpc>
            </a:pPr>
            <a:r>
              <a:rPr lang="en-US" sz="889" b="1" dirty="0">
                <a:solidFill>
                  <a:srgbClr val="E0E2E5"/>
                </a:solidFill>
                <a:latin typeface="Quattrocento Sans" pitchFamily="34" charset="0"/>
                <a:ea typeface="Quattrocento Sans" pitchFamily="34" charset="-122"/>
                <a:cs typeface="Quattrocento Sans" pitchFamily="34" charset="-120"/>
              </a:rPr>
              <a:t>Intensity</a:t>
            </a:r>
            <a:endParaRPr lang="en-US" sz="1600" dirty="0"/>
          </a:p>
        </p:txBody>
      </p:sp>
      <p:sp>
        <p:nvSpPr>
          <p:cNvPr id="13" name="Text 11">
            <a:extLst>
              <a:ext uri="{FF2B5EF4-FFF2-40B4-BE49-F238E27FC236}">
                <a16:creationId xmlns:a16="http://schemas.microsoft.com/office/drawing/2014/main" id="{8707115B-3E2F-CC1D-8EC1-3B1018408816}"/>
              </a:ext>
            </a:extLst>
          </p:cNvPr>
          <p:cNvSpPr/>
          <p:nvPr/>
        </p:nvSpPr>
        <p:spPr>
          <a:xfrm>
            <a:off x="3353204" y="2394827"/>
            <a:ext cx="2565887" cy="129101"/>
          </a:xfrm>
          <a:prstGeom prst="rect">
            <a:avLst/>
          </a:prstGeom>
          <a:noFill/>
          <a:ln/>
        </p:spPr>
        <p:txBody>
          <a:bodyPr wrap="square" lIns="0" tIns="0" rIns="0" bIns="0" rtlCol="0" anchor="ctr"/>
          <a:lstStyle/>
          <a:p>
            <a:pPr algn="ctr">
              <a:lnSpc>
                <a:spcPct val="110000"/>
              </a:lnSpc>
            </a:pPr>
            <a:r>
              <a:rPr lang="en-US" sz="762" dirty="0">
                <a:solidFill>
                  <a:srgbClr val="E0E2E5">
                    <a:alpha val="80000"/>
                  </a:srgbClr>
                </a:solidFill>
                <a:latin typeface="Quattrocento Sans" pitchFamily="34" charset="0"/>
                <a:ea typeface="Quattrocento Sans" pitchFamily="34" charset="-122"/>
                <a:cs typeface="Quattrocento Sans" pitchFamily="34" charset="-120"/>
              </a:rPr>
              <a:t>Single channel processing</a:t>
            </a:r>
            <a:endParaRPr lang="en-US" sz="1600" dirty="0"/>
          </a:p>
        </p:txBody>
      </p:sp>
      <p:sp>
        <p:nvSpPr>
          <p:cNvPr id="14" name="Shape 12">
            <a:extLst>
              <a:ext uri="{FF2B5EF4-FFF2-40B4-BE49-F238E27FC236}">
                <a16:creationId xmlns:a16="http://schemas.microsoft.com/office/drawing/2014/main" id="{4F30D5A4-BFA3-F580-B5B1-175ED9496542}"/>
              </a:ext>
            </a:extLst>
          </p:cNvPr>
          <p:cNvSpPr/>
          <p:nvPr/>
        </p:nvSpPr>
        <p:spPr>
          <a:xfrm>
            <a:off x="6164182" y="1132864"/>
            <a:ext cx="2782132" cy="1539532"/>
          </a:xfrm>
          <a:custGeom>
            <a:avLst/>
            <a:gdLst/>
            <a:ahLst/>
            <a:cxnLst/>
            <a:rect l="l" t="t" r="r" b="b"/>
            <a:pathLst>
              <a:path w="2782132" h="1539532">
                <a:moveTo>
                  <a:pt x="96821" y="0"/>
                </a:moveTo>
                <a:lnTo>
                  <a:pt x="2685311" y="0"/>
                </a:lnTo>
                <a:cubicBezTo>
                  <a:pt x="2738784" y="0"/>
                  <a:pt x="2782132" y="43348"/>
                  <a:pt x="2782132" y="96821"/>
                </a:cubicBezTo>
                <a:lnTo>
                  <a:pt x="2782132" y="1442711"/>
                </a:lnTo>
                <a:cubicBezTo>
                  <a:pt x="2782132" y="1496184"/>
                  <a:pt x="2738784" y="1539532"/>
                  <a:pt x="2685311" y="1539532"/>
                </a:cubicBezTo>
                <a:lnTo>
                  <a:pt x="96821" y="1539532"/>
                </a:lnTo>
                <a:cubicBezTo>
                  <a:pt x="43348" y="1539532"/>
                  <a:pt x="0" y="1496184"/>
                  <a:pt x="0" y="1442711"/>
                </a:cubicBezTo>
                <a:lnTo>
                  <a:pt x="0" y="96821"/>
                </a:lnTo>
                <a:cubicBezTo>
                  <a:pt x="0" y="43384"/>
                  <a:pt x="43384" y="0"/>
                  <a:pt x="96821" y="0"/>
                </a:cubicBezTo>
                <a:close/>
              </a:path>
            </a:pathLst>
          </a:custGeom>
          <a:solidFill>
            <a:srgbClr val="B8A890">
              <a:alpha val="5098"/>
            </a:srgbClr>
          </a:solidFill>
          <a:ln w="10160">
            <a:solidFill>
              <a:srgbClr val="B8A890">
                <a:alpha val="30196"/>
              </a:srgbClr>
            </a:solidFill>
            <a:prstDash val="solid"/>
          </a:ln>
        </p:spPr>
        <p:txBody>
          <a:bodyPr/>
          <a:lstStyle/>
          <a:p>
            <a:endParaRPr lang="en-US"/>
          </a:p>
        </p:txBody>
      </p:sp>
      <p:sp>
        <p:nvSpPr>
          <p:cNvPr id="15" name="Text 13">
            <a:extLst>
              <a:ext uri="{FF2B5EF4-FFF2-40B4-BE49-F238E27FC236}">
                <a16:creationId xmlns:a16="http://schemas.microsoft.com/office/drawing/2014/main" id="{7507C322-4077-6AD5-0EB4-04B89855B789}"/>
              </a:ext>
            </a:extLst>
          </p:cNvPr>
          <p:cNvSpPr/>
          <p:nvPr/>
        </p:nvSpPr>
        <p:spPr>
          <a:xfrm>
            <a:off x="6238868" y="921759"/>
            <a:ext cx="2590094" cy="225927"/>
          </a:xfrm>
          <a:prstGeom prst="rect">
            <a:avLst/>
          </a:prstGeom>
          <a:noFill/>
          <a:ln/>
        </p:spPr>
        <p:txBody>
          <a:bodyPr wrap="square" lIns="0" tIns="0" rIns="0" bIns="0" rtlCol="0" anchor="ctr"/>
          <a:lstStyle/>
          <a:p>
            <a:pPr algn="ctr">
              <a:lnSpc>
                <a:spcPct val="130000"/>
              </a:lnSpc>
            </a:pPr>
            <a:r>
              <a:rPr lang="en-US" sz="1144" b="1" dirty="0">
                <a:solidFill>
                  <a:srgbClr val="E0E2E5"/>
                </a:solidFill>
                <a:latin typeface="Liter" pitchFamily="34" charset="0"/>
                <a:ea typeface="Liter" pitchFamily="34" charset="-122"/>
                <a:cs typeface="Liter" pitchFamily="34" charset="-120"/>
              </a:rPr>
              <a:t>Thresholding(Binary)</a:t>
            </a:r>
            <a:endParaRPr lang="en-US" sz="1600" dirty="0"/>
          </a:p>
        </p:txBody>
      </p:sp>
      <p:sp>
        <p:nvSpPr>
          <p:cNvPr id="16" name="Shape 14">
            <a:extLst>
              <a:ext uri="{FF2B5EF4-FFF2-40B4-BE49-F238E27FC236}">
                <a16:creationId xmlns:a16="http://schemas.microsoft.com/office/drawing/2014/main" id="{0E3FA30E-C2B3-B726-DCE2-3B544A14F76D}"/>
              </a:ext>
            </a:extLst>
          </p:cNvPr>
          <p:cNvSpPr/>
          <p:nvPr/>
        </p:nvSpPr>
        <p:spPr>
          <a:xfrm>
            <a:off x="6296511" y="1555669"/>
            <a:ext cx="2517475" cy="774608"/>
          </a:xfrm>
          <a:custGeom>
            <a:avLst/>
            <a:gdLst/>
            <a:ahLst/>
            <a:cxnLst/>
            <a:rect l="l" t="t" r="r" b="b"/>
            <a:pathLst>
              <a:path w="2517475" h="774608">
                <a:moveTo>
                  <a:pt x="64548" y="0"/>
                </a:moveTo>
                <a:lnTo>
                  <a:pt x="2452926" y="0"/>
                </a:lnTo>
                <a:cubicBezTo>
                  <a:pt x="2488575" y="0"/>
                  <a:pt x="2517475" y="28899"/>
                  <a:pt x="2517475" y="64548"/>
                </a:cubicBezTo>
                <a:lnTo>
                  <a:pt x="2517475" y="710059"/>
                </a:lnTo>
                <a:cubicBezTo>
                  <a:pt x="2517475" y="745708"/>
                  <a:pt x="2488575" y="774608"/>
                  <a:pt x="2452926" y="774608"/>
                </a:cubicBezTo>
                <a:lnTo>
                  <a:pt x="64548" y="774608"/>
                </a:lnTo>
                <a:cubicBezTo>
                  <a:pt x="28923" y="774608"/>
                  <a:pt x="0" y="745685"/>
                  <a:pt x="0" y="710059"/>
                </a:cubicBezTo>
                <a:lnTo>
                  <a:pt x="0" y="64548"/>
                </a:lnTo>
                <a:cubicBezTo>
                  <a:pt x="0" y="28923"/>
                  <a:pt x="28923" y="0"/>
                  <a:pt x="64548" y="0"/>
                </a:cubicBezTo>
                <a:close/>
              </a:path>
            </a:pathLst>
          </a:custGeom>
          <a:gradFill flip="none" rotWithShape="1">
            <a:gsLst>
              <a:gs pos="0">
                <a:srgbClr val="B8A890">
                  <a:alpha val="30000"/>
                </a:srgbClr>
              </a:gs>
              <a:gs pos="100000">
                <a:srgbClr val="1A1D21"/>
              </a:gs>
            </a:gsLst>
            <a:lin ang="2700000" scaled="1"/>
          </a:gradFill>
          <a:ln/>
        </p:spPr>
        <p:txBody>
          <a:bodyPr/>
          <a:lstStyle/>
          <a:p>
            <a:endParaRPr lang="en-US"/>
          </a:p>
        </p:txBody>
      </p:sp>
      <p:sp>
        <p:nvSpPr>
          <p:cNvPr id="17" name="Text 15">
            <a:extLst>
              <a:ext uri="{FF2B5EF4-FFF2-40B4-BE49-F238E27FC236}">
                <a16:creationId xmlns:a16="http://schemas.microsoft.com/office/drawing/2014/main" id="{F80A87A6-EF6F-5BB9-D4C9-6C5B685185FC}"/>
              </a:ext>
            </a:extLst>
          </p:cNvPr>
          <p:cNvSpPr/>
          <p:nvPr/>
        </p:nvSpPr>
        <p:spPr>
          <a:xfrm>
            <a:off x="7278991" y="1862284"/>
            <a:ext cx="613231" cy="161377"/>
          </a:xfrm>
          <a:prstGeom prst="rect">
            <a:avLst/>
          </a:prstGeom>
          <a:noFill/>
          <a:ln/>
        </p:spPr>
        <p:txBody>
          <a:bodyPr wrap="square" lIns="0" tIns="0" rIns="0" bIns="0" rtlCol="0" anchor="ctr"/>
          <a:lstStyle/>
          <a:p>
            <a:pPr>
              <a:lnSpc>
                <a:spcPct val="120000"/>
              </a:lnSpc>
            </a:pPr>
            <a:r>
              <a:rPr lang="en-US" sz="889" b="1" dirty="0">
                <a:solidFill>
                  <a:srgbClr val="E0E2E5"/>
                </a:solidFill>
                <a:latin typeface="Quattrocento Sans" pitchFamily="34" charset="0"/>
                <a:ea typeface="Quattrocento Sans" pitchFamily="34" charset="-122"/>
                <a:cs typeface="Quattrocento Sans" pitchFamily="34" charset="-120"/>
              </a:rPr>
              <a:t>Segmented</a:t>
            </a:r>
            <a:endParaRPr lang="en-US" sz="1600" dirty="0"/>
          </a:p>
        </p:txBody>
      </p:sp>
      <p:sp>
        <p:nvSpPr>
          <p:cNvPr id="18" name="Text 16">
            <a:extLst>
              <a:ext uri="{FF2B5EF4-FFF2-40B4-BE49-F238E27FC236}">
                <a16:creationId xmlns:a16="http://schemas.microsoft.com/office/drawing/2014/main" id="{39AD509F-6D27-929C-A75F-CAD030CB19B4}"/>
              </a:ext>
            </a:extLst>
          </p:cNvPr>
          <p:cNvSpPr/>
          <p:nvPr/>
        </p:nvSpPr>
        <p:spPr>
          <a:xfrm>
            <a:off x="6272304" y="2394827"/>
            <a:ext cx="2565887" cy="129101"/>
          </a:xfrm>
          <a:prstGeom prst="rect">
            <a:avLst/>
          </a:prstGeom>
          <a:noFill/>
          <a:ln/>
        </p:spPr>
        <p:txBody>
          <a:bodyPr wrap="square" lIns="0" tIns="0" rIns="0" bIns="0" rtlCol="0" anchor="ctr"/>
          <a:lstStyle/>
          <a:p>
            <a:pPr algn="ctr">
              <a:lnSpc>
                <a:spcPct val="110000"/>
              </a:lnSpc>
            </a:pPr>
            <a:r>
              <a:rPr lang="en-US" sz="762" dirty="0">
                <a:solidFill>
                  <a:srgbClr val="E0E2E5">
                    <a:alpha val="80000"/>
                  </a:srgbClr>
                </a:solidFill>
                <a:latin typeface="Quattrocento Sans" pitchFamily="34" charset="0"/>
                <a:ea typeface="Quattrocento Sans" pitchFamily="34" charset="-122"/>
                <a:cs typeface="Quattrocento Sans" pitchFamily="34" charset="-120"/>
              </a:rPr>
              <a:t>Object-background separation</a:t>
            </a:r>
            <a:endParaRPr lang="en-US" sz="1600" dirty="0"/>
          </a:p>
        </p:txBody>
      </p:sp>
      <p:sp>
        <p:nvSpPr>
          <p:cNvPr id="19" name="Shape 17">
            <a:extLst>
              <a:ext uri="{FF2B5EF4-FFF2-40B4-BE49-F238E27FC236}">
                <a16:creationId xmlns:a16="http://schemas.microsoft.com/office/drawing/2014/main" id="{BCD2BED1-70EA-2049-4341-379EB0558B14}"/>
              </a:ext>
            </a:extLst>
          </p:cNvPr>
          <p:cNvSpPr/>
          <p:nvPr/>
        </p:nvSpPr>
        <p:spPr>
          <a:xfrm>
            <a:off x="9086510" y="1136091"/>
            <a:ext cx="2780518" cy="1529850"/>
          </a:xfrm>
          <a:custGeom>
            <a:avLst/>
            <a:gdLst/>
            <a:ahLst/>
            <a:cxnLst/>
            <a:rect l="l" t="t" r="r" b="b"/>
            <a:pathLst>
              <a:path w="2780518" h="1529850">
                <a:moveTo>
                  <a:pt x="96824" y="0"/>
                </a:moveTo>
                <a:lnTo>
                  <a:pt x="2683694" y="0"/>
                </a:lnTo>
                <a:cubicBezTo>
                  <a:pt x="2737169" y="0"/>
                  <a:pt x="2780518" y="43350"/>
                  <a:pt x="2780518" y="96824"/>
                </a:cubicBezTo>
                <a:lnTo>
                  <a:pt x="2780518" y="1433026"/>
                </a:lnTo>
                <a:cubicBezTo>
                  <a:pt x="2780518" y="1486500"/>
                  <a:pt x="2737169" y="1529850"/>
                  <a:pt x="2683694" y="1529850"/>
                </a:cubicBezTo>
                <a:lnTo>
                  <a:pt x="96824" y="1529850"/>
                </a:lnTo>
                <a:cubicBezTo>
                  <a:pt x="43350" y="1529850"/>
                  <a:pt x="0" y="1486500"/>
                  <a:pt x="0" y="1433026"/>
                </a:cubicBezTo>
                <a:lnTo>
                  <a:pt x="0" y="96824"/>
                </a:lnTo>
                <a:cubicBezTo>
                  <a:pt x="0" y="43350"/>
                  <a:pt x="43350" y="0"/>
                  <a:pt x="96824" y="0"/>
                </a:cubicBezTo>
                <a:close/>
              </a:path>
            </a:pathLst>
          </a:custGeom>
          <a:solidFill>
            <a:srgbClr val="4A6C8C">
              <a:alpha val="10196"/>
            </a:srgbClr>
          </a:solidFill>
          <a:ln w="20320">
            <a:solidFill>
              <a:srgbClr val="4A6C8C"/>
            </a:solidFill>
            <a:prstDash val="solid"/>
          </a:ln>
        </p:spPr>
        <p:txBody>
          <a:bodyPr/>
          <a:lstStyle/>
          <a:p>
            <a:endParaRPr lang="en-US"/>
          </a:p>
        </p:txBody>
      </p:sp>
      <p:sp>
        <p:nvSpPr>
          <p:cNvPr id="20" name="Shape 18">
            <a:extLst>
              <a:ext uri="{FF2B5EF4-FFF2-40B4-BE49-F238E27FC236}">
                <a16:creationId xmlns:a16="http://schemas.microsoft.com/office/drawing/2014/main" id="{3043D3A1-64F5-E8E1-49B7-7A70B9078E72}"/>
              </a:ext>
            </a:extLst>
          </p:cNvPr>
          <p:cNvSpPr/>
          <p:nvPr/>
        </p:nvSpPr>
        <p:spPr>
          <a:xfrm>
            <a:off x="10219676" y="1311996"/>
            <a:ext cx="145239" cy="145239"/>
          </a:xfrm>
          <a:custGeom>
            <a:avLst/>
            <a:gdLst/>
            <a:ahLst/>
            <a:cxnLst/>
            <a:rect l="l" t="t" r="r" b="b"/>
            <a:pathLst>
              <a:path w="145239" h="145239">
                <a:moveTo>
                  <a:pt x="72619" y="145239"/>
                </a:moveTo>
                <a:cubicBezTo>
                  <a:pt x="112699" y="145239"/>
                  <a:pt x="145239" y="112699"/>
                  <a:pt x="145239" y="72619"/>
                </a:cubicBezTo>
                <a:cubicBezTo>
                  <a:pt x="145239" y="32540"/>
                  <a:pt x="112699" y="0"/>
                  <a:pt x="72619" y="0"/>
                </a:cubicBezTo>
                <a:cubicBezTo>
                  <a:pt x="32540" y="0"/>
                  <a:pt x="0" y="32540"/>
                  <a:pt x="0" y="72619"/>
                </a:cubicBezTo>
                <a:cubicBezTo>
                  <a:pt x="0" y="112699"/>
                  <a:pt x="32540" y="145239"/>
                  <a:pt x="72619" y="145239"/>
                </a:cubicBezTo>
                <a:close/>
                <a:moveTo>
                  <a:pt x="96561" y="60337"/>
                </a:moveTo>
                <a:lnTo>
                  <a:pt x="73868" y="96646"/>
                </a:lnTo>
                <a:cubicBezTo>
                  <a:pt x="72676" y="98547"/>
                  <a:pt x="70634" y="99738"/>
                  <a:pt x="68393" y="99852"/>
                </a:cubicBezTo>
                <a:cubicBezTo>
                  <a:pt x="66152" y="99965"/>
                  <a:pt x="63996" y="98944"/>
                  <a:pt x="62663" y="97129"/>
                </a:cubicBezTo>
                <a:lnTo>
                  <a:pt x="49047" y="78974"/>
                </a:lnTo>
                <a:cubicBezTo>
                  <a:pt x="46777" y="75967"/>
                  <a:pt x="47401" y="71712"/>
                  <a:pt x="50408" y="69442"/>
                </a:cubicBezTo>
                <a:cubicBezTo>
                  <a:pt x="53415" y="67173"/>
                  <a:pt x="57670" y="67797"/>
                  <a:pt x="59939" y="70804"/>
                </a:cubicBezTo>
                <a:lnTo>
                  <a:pt x="67599" y="81016"/>
                </a:lnTo>
                <a:lnTo>
                  <a:pt x="85016" y="53131"/>
                </a:lnTo>
                <a:cubicBezTo>
                  <a:pt x="87002" y="49954"/>
                  <a:pt x="91200" y="48961"/>
                  <a:pt x="94405" y="50975"/>
                </a:cubicBezTo>
                <a:cubicBezTo>
                  <a:pt x="97611" y="52990"/>
                  <a:pt x="98575" y="57159"/>
                  <a:pt x="96561" y="60365"/>
                </a:cubicBezTo>
                <a:close/>
              </a:path>
            </a:pathLst>
          </a:custGeom>
          <a:solidFill>
            <a:srgbClr val="4A6C8C"/>
          </a:solidFill>
          <a:ln/>
        </p:spPr>
        <p:txBody>
          <a:bodyPr/>
          <a:lstStyle/>
          <a:p>
            <a:endParaRPr lang="en-US"/>
          </a:p>
        </p:txBody>
      </p:sp>
      <p:sp>
        <p:nvSpPr>
          <p:cNvPr id="21" name="Text 19">
            <a:extLst>
              <a:ext uri="{FF2B5EF4-FFF2-40B4-BE49-F238E27FC236}">
                <a16:creationId xmlns:a16="http://schemas.microsoft.com/office/drawing/2014/main" id="{CE003311-4B0D-4FA5-842C-57E68488B609}"/>
              </a:ext>
            </a:extLst>
          </p:cNvPr>
          <p:cNvSpPr/>
          <p:nvPr/>
        </p:nvSpPr>
        <p:spPr>
          <a:xfrm>
            <a:off x="9289441" y="926301"/>
            <a:ext cx="2396442" cy="225927"/>
          </a:xfrm>
          <a:prstGeom prst="rect">
            <a:avLst/>
          </a:prstGeom>
          <a:noFill/>
          <a:ln/>
        </p:spPr>
        <p:txBody>
          <a:bodyPr wrap="square" lIns="0" tIns="0" rIns="0" bIns="0" rtlCol="0" anchor="ctr"/>
          <a:lstStyle/>
          <a:p>
            <a:pPr algn="ctr">
              <a:lnSpc>
                <a:spcPct val="130000"/>
              </a:lnSpc>
            </a:pPr>
            <a:r>
              <a:rPr lang="en-US" sz="1144" b="1" dirty="0">
                <a:solidFill>
                  <a:schemeClr val="bg1"/>
                </a:solidFill>
                <a:latin typeface="Liter" pitchFamily="34" charset="0"/>
                <a:ea typeface="Liter" pitchFamily="34" charset="-122"/>
                <a:cs typeface="Liter" pitchFamily="34" charset="-120"/>
              </a:rPr>
              <a:t>Erosion</a:t>
            </a:r>
            <a:endParaRPr lang="en-US" sz="1600" dirty="0">
              <a:solidFill>
                <a:schemeClr val="bg1"/>
              </a:solidFill>
            </a:endParaRPr>
          </a:p>
        </p:txBody>
      </p:sp>
      <p:sp>
        <p:nvSpPr>
          <p:cNvPr id="22" name="Shape 20">
            <a:extLst>
              <a:ext uri="{FF2B5EF4-FFF2-40B4-BE49-F238E27FC236}">
                <a16:creationId xmlns:a16="http://schemas.microsoft.com/office/drawing/2014/main" id="{640A27C4-8064-9CCA-39D1-D04E45C27559}"/>
              </a:ext>
            </a:extLst>
          </p:cNvPr>
          <p:cNvSpPr/>
          <p:nvPr/>
        </p:nvSpPr>
        <p:spPr>
          <a:xfrm>
            <a:off x="9228521" y="1568585"/>
            <a:ext cx="2490041" cy="763311"/>
          </a:xfrm>
          <a:custGeom>
            <a:avLst/>
            <a:gdLst/>
            <a:ahLst/>
            <a:cxnLst/>
            <a:rect l="l" t="t" r="r" b="b"/>
            <a:pathLst>
              <a:path w="2490041" h="763311">
                <a:moveTo>
                  <a:pt x="64553" y="0"/>
                </a:moveTo>
                <a:lnTo>
                  <a:pt x="2425487" y="0"/>
                </a:lnTo>
                <a:cubicBezTo>
                  <a:pt x="2461139" y="0"/>
                  <a:pt x="2490041" y="28901"/>
                  <a:pt x="2490041" y="64553"/>
                </a:cubicBezTo>
                <a:lnTo>
                  <a:pt x="2490041" y="698758"/>
                </a:lnTo>
                <a:cubicBezTo>
                  <a:pt x="2490041" y="734410"/>
                  <a:pt x="2461139" y="763311"/>
                  <a:pt x="2425487" y="763311"/>
                </a:cubicBezTo>
                <a:lnTo>
                  <a:pt x="64553" y="763311"/>
                </a:lnTo>
                <a:cubicBezTo>
                  <a:pt x="28901" y="763311"/>
                  <a:pt x="0" y="734410"/>
                  <a:pt x="0" y="698758"/>
                </a:cubicBezTo>
                <a:lnTo>
                  <a:pt x="0" y="64553"/>
                </a:lnTo>
                <a:cubicBezTo>
                  <a:pt x="0" y="28925"/>
                  <a:pt x="28925" y="0"/>
                  <a:pt x="64553" y="0"/>
                </a:cubicBezTo>
                <a:close/>
              </a:path>
            </a:pathLst>
          </a:custGeom>
          <a:gradFill flip="none" rotWithShape="1">
            <a:gsLst>
              <a:gs pos="0">
                <a:srgbClr val="4A6C8C">
                  <a:alpha val="40000"/>
                </a:srgbClr>
              </a:gs>
              <a:gs pos="100000">
                <a:srgbClr val="1A1D21"/>
              </a:gs>
            </a:gsLst>
            <a:lin ang="2700000" scaled="1"/>
          </a:gradFill>
          <a:ln w="20320">
            <a:solidFill>
              <a:srgbClr val="4A6C8C"/>
            </a:solidFill>
            <a:prstDash val="solid"/>
          </a:ln>
        </p:spPr>
        <p:txBody>
          <a:bodyPr/>
          <a:lstStyle/>
          <a:p>
            <a:endParaRPr lang="en-US"/>
          </a:p>
        </p:txBody>
      </p:sp>
      <p:sp>
        <p:nvSpPr>
          <p:cNvPr id="23" name="Text 21">
            <a:extLst>
              <a:ext uri="{FF2B5EF4-FFF2-40B4-BE49-F238E27FC236}">
                <a16:creationId xmlns:a16="http://schemas.microsoft.com/office/drawing/2014/main" id="{B18B1F67-7A47-C156-431B-968356018000}"/>
              </a:ext>
            </a:extLst>
          </p:cNvPr>
          <p:cNvSpPr/>
          <p:nvPr/>
        </p:nvSpPr>
        <p:spPr>
          <a:xfrm>
            <a:off x="10235107" y="1868745"/>
            <a:ext cx="532543" cy="161377"/>
          </a:xfrm>
          <a:prstGeom prst="rect">
            <a:avLst/>
          </a:prstGeom>
          <a:noFill/>
          <a:ln/>
        </p:spPr>
        <p:txBody>
          <a:bodyPr wrap="square" lIns="0" tIns="0" rIns="0" bIns="0" rtlCol="0" anchor="ctr"/>
          <a:lstStyle/>
          <a:p>
            <a:pPr>
              <a:lnSpc>
                <a:spcPct val="120000"/>
              </a:lnSpc>
            </a:pPr>
            <a:r>
              <a:rPr lang="en-US" sz="889" b="1" dirty="0">
                <a:solidFill>
                  <a:srgbClr val="E0E2E5"/>
                </a:solidFill>
                <a:latin typeface="Quattrocento Sans" pitchFamily="34" charset="0"/>
                <a:ea typeface="Quattrocento Sans" pitchFamily="34" charset="-122"/>
                <a:cs typeface="Quattrocento Sans" pitchFamily="34" charset="-120"/>
              </a:rPr>
              <a:t>Enhanced</a:t>
            </a:r>
            <a:endParaRPr lang="en-US" sz="1600" dirty="0"/>
          </a:p>
        </p:txBody>
      </p:sp>
      <p:sp>
        <p:nvSpPr>
          <p:cNvPr id="24" name="Text 22">
            <a:extLst>
              <a:ext uri="{FF2B5EF4-FFF2-40B4-BE49-F238E27FC236}">
                <a16:creationId xmlns:a16="http://schemas.microsoft.com/office/drawing/2014/main" id="{14D6D0C2-A8CF-996E-3CA9-BB13FC8A61B0}"/>
              </a:ext>
            </a:extLst>
          </p:cNvPr>
          <p:cNvSpPr/>
          <p:nvPr/>
        </p:nvSpPr>
        <p:spPr>
          <a:xfrm>
            <a:off x="9197860" y="2401288"/>
            <a:ext cx="2557819" cy="129101"/>
          </a:xfrm>
          <a:prstGeom prst="rect">
            <a:avLst/>
          </a:prstGeom>
          <a:noFill/>
          <a:ln/>
        </p:spPr>
        <p:txBody>
          <a:bodyPr wrap="square" lIns="0" tIns="0" rIns="0" bIns="0" rtlCol="0" anchor="ctr"/>
          <a:lstStyle/>
          <a:p>
            <a:pPr algn="ctr">
              <a:lnSpc>
                <a:spcPct val="110000"/>
              </a:lnSpc>
            </a:pPr>
            <a:r>
              <a:rPr lang="en-US" sz="762" b="1" dirty="0">
                <a:solidFill>
                  <a:srgbClr val="E0E2E5">
                    <a:alpha val="90000"/>
                  </a:srgbClr>
                </a:solidFill>
                <a:latin typeface="Quattrocento Sans" pitchFamily="34" charset="0"/>
                <a:ea typeface="Quattrocento Sans" pitchFamily="34" charset="-122"/>
                <a:cs typeface="Quattrocento Sans" pitchFamily="34" charset="-120"/>
              </a:rPr>
              <a:t>Clear boundaries</a:t>
            </a:r>
            <a:endParaRPr lang="en-US" sz="1600" dirty="0"/>
          </a:p>
        </p:txBody>
      </p:sp>
      <p:sp>
        <p:nvSpPr>
          <p:cNvPr id="25" name="Shape 23">
            <a:extLst>
              <a:ext uri="{FF2B5EF4-FFF2-40B4-BE49-F238E27FC236}">
                <a16:creationId xmlns:a16="http://schemas.microsoft.com/office/drawing/2014/main" id="{3C8EBF5C-8462-8251-EEFB-57608620B029}"/>
              </a:ext>
            </a:extLst>
          </p:cNvPr>
          <p:cNvSpPr/>
          <p:nvPr/>
        </p:nvSpPr>
        <p:spPr>
          <a:xfrm>
            <a:off x="325981" y="2836899"/>
            <a:ext cx="3734254" cy="2039800"/>
          </a:xfrm>
          <a:custGeom>
            <a:avLst/>
            <a:gdLst/>
            <a:ahLst/>
            <a:cxnLst/>
            <a:rect l="l" t="t" r="r" b="b"/>
            <a:pathLst>
              <a:path w="3734254" h="2039800">
                <a:moveTo>
                  <a:pt x="96829" y="0"/>
                </a:moveTo>
                <a:lnTo>
                  <a:pt x="3637425" y="0"/>
                </a:lnTo>
                <a:cubicBezTo>
                  <a:pt x="3690902" y="0"/>
                  <a:pt x="3734254" y="43352"/>
                  <a:pt x="3734254" y="96829"/>
                </a:cubicBezTo>
                <a:lnTo>
                  <a:pt x="3734254" y="1942971"/>
                </a:lnTo>
                <a:cubicBezTo>
                  <a:pt x="3734254" y="1996448"/>
                  <a:pt x="3690902" y="2039800"/>
                  <a:pt x="3637425" y="2039800"/>
                </a:cubicBezTo>
                <a:lnTo>
                  <a:pt x="96829" y="2039800"/>
                </a:lnTo>
                <a:cubicBezTo>
                  <a:pt x="43352" y="2039800"/>
                  <a:pt x="0" y="1996448"/>
                  <a:pt x="0" y="1942971"/>
                </a:cubicBezTo>
                <a:lnTo>
                  <a:pt x="0" y="96829"/>
                </a:lnTo>
                <a:cubicBezTo>
                  <a:pt x="0" y="43388"/>
                  <a:pt x="43388" y="0"/>
                  <a:pt x="96829"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26" name="Shape 24">
            <a:extLst>
              <a:ext uri="{FF2B5EF4-FFF2-40B4-BE49-F238E27FC236}">
                <a16:creationId xmlns:a16="http://schemas.microsoft.com/office/drawing/2014/main" id="{3595EEE9-DF06-2F8D-80A0-E021D7DEDEAC}"/>
              </a:ext>
            </a:extLst>
          </p:cNvPr>
          <p:cNvSpPr/>
          <p:nvPr/>
        </p:nvSpPr>
        <p:spPr>
          <a:xfrm>
            <a:off x="530929" y="3033777"/>
            <a:ext cx="121032" cy="161377"/>
          </a:xfrm>
          <a:custGeom>
            <a:avLst/>
            <a:gdLst/>
            <a:ahLst/>
            <a:cxnLst/>
            <a:rect l="l" t="t" r="r" b="b"/>
            <a:pathLst>
              <a:path w="121032" h="161377">
                <a:moveTo>
                  <a:pt x="78766" y="21055"/>
                </a:moveTo>
                <a:cubicBezTo>
                  <a:pt x="82044" y="16547"/>
                  <a:pt x="81035" y="10244"/>
                  <a:pt x="76528" y="6966"/>
                </a:cubicBezTo>
                <a:cubicBezTo>
                  <a:pt x="72021" y="3688"/>
                  <a:pt x="65717" y="4696"/>
                  <a:pt x="62439" y="9204"/>
                </a:cubicBezTo>
                <a:lnTo>
                  <a:pt x="29029" y="55126"/>
                </a:lnTo>
                <a:lnTo>
                  <a:pt x="17209" y="43307"/>
                </a:lnTo>
                <a:cubicBezTo>
                  <a:pt x="13269" y="39367"/>
                  <a:pt x="6871" y="39367"/>
                  <a:pt x="2931" y="43307"/>
                </a:cubicBezTo>
                <a:cubicBezTo>
                  <a:pt x="-1009" y="47247"/>
                  <a:pt x="-1009" y="53645"/>
                  <a:pt x="2931" y="57585"/>
                </a:cubicBezTo>
                <a:lnTo>
                  <a:pt x="23103" y="77757"/>
                </a:lnTo>
                <a:cubicBezTo>
                  <a:pt x="25184" y="79837"/>
                  <a:pt x="28083" y="80909"/>
                  <a:pt x="31015" y="80688"/>
                </a:cubicBezTo>
                <a:cubicBezTo>
                  <a:pt x="33946" y="80468"/>
                  <a:pt x="36656" y="78955"/>
                  <a:pt x="38390" y="76559"/>
                </a:cubicBezTo>
                <a:lnTo>
                  <a:pt x="78734" y="21086"/>
                </a:lnTo>
                <a:close/>
                <a:moveTo>
                  <a:pt x="119110" y="63920"/>
                </a:moveTo>
                <a:cubicBezTo>
                  <a:pt x="122388" y="59413"/>
                  <a:pt x="121379" y="53109"/>
                  <a:pt x="116872" y="49831"/>
                </a:cubicBezTo>
                <a:cubicBezTo>
                  <a:pt x="112365" y="46553"/>
                  <a:pt x="106061" y="47562"/>
                  <a:pt x="102783" y="52069"/>
                </a:cubicBezTo>
                <a:lnTo>
                  <a:pt x="49201" y="125729"/>
                </a:lnTo>
                <a:lnTo>
                  <a:pt x="27295" y="103823"/>
                </a:lnTo>
                <a:cubicBezTo>
                  <a:pt x="23355" y="99883"/>
                  <a:pt x="16957" y="99883"/>
                  <a:pt x="13017" y="103823"/>
                </a:cubicBezTo>
                <a:cubicBezTo>
                  <a:pt x="9077" y="107763"/>
                  <a:pt x="9077" y="114161"/>
                  <a:pt x="13017" y="118101"/>
                </a:cubicBezTo>
                <a:lnTo>
                  <a:pt x="43275" y="148359"/>
                </a:lnTo>
                <a:cubicBezTo>
                  <a:pt x="45356" y="150440"/>
                  <a:pt x="48255" y="151511"/>
                  <a:pt x="51187" y="151291"/>
                </a:cubicBezTo>
                <a:cubicBezTo>
                  <a:pt x="54118" y="151070"/>
                  <a:pt x="56829" y="149557"/>
                  <a:pt x="58562" y="147162"/>
                </a:cubicBezTo>
                <a:lnTo>
                  <a:pt x="119078" y="63952"/>
                </a:lnTo>
                <a:close/>
              </a:path>
            </a:pathLst>
          </a:custGeom>
          <a:solidFill>
            <a:srgbClr val="B8A890"/>
          </a:solidFill>
          <a:ln/>
        </p:spPr>
        <p:txBody>
          <a:bodyPr/>
          <a:lstStyle/>
          <a:p>
            <a:endParaRPr lang="en-US"/>
          </a:p>
        </p:txBody>
      </p:sp>
      <p:sp>
        <p:nvSpPr>
          <p:cNvPr id="27" name="Text 25">
            <a:extLst>
              <a:ext uri="{FF2B5EF4-FFF2-40B4-BE49-F238E27FC236}">
                <a16:creationId xmlns:a16="http://schemas.microsoft.com/office/drawing/2014/main" id="{74281C21-6059-3F3C-9EE3-61B0D8C0C17F}"/>
              </a:ext>
            </a:extLst>
          </p:cNvPr>
          <p:cNvSpPr/>
          <p:nvPr/>
        </p:nvSpPr>
        <p:spPr>
          <a:xfrm>
            <a:off x="692305" y="3001502"/>
            <a:ext cx="3284013"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Liter" pitchFamily="34" charset="0"/>
                <a:ea typeface="Liter" pitchFamily="34" charset="-122"/>
                <a:cs typeface="Liter" pitchFamily="34" charset="-120"/>
              </a:rPr>
              <a:t>Thresholding Success</a:t>
            </a:r>
            <a:endParaRPr lang="en-US" sz="1600" dirty="0"/>
          </a:p>
        </p:txBody>
      </p:sp>
      <p:sp>
        <p:nvSpPr>
          <p:cNvPr id="28" name="Shape 26">
            <a:extLst>
              <a:ext uri="{FF2B5EF4-FFF2-40B4-BE49-F238E27FC236}">
                <a16:creationId xmlns:a16="http://schemas.microsoft.com/office/drawing/2014/main" id="{4591ECE3-17F0-35AD-98D4-6A1D3A928EA7}"/>
              </a:ext>
            </a:extLst>
          </p:cNvPr>
          <p:cNvSpPr/>
          <p:nvPr/>
        </p:nvSpPr>
        <p:spPr>
          <a:xfrm>
            <a:off x="490585" y="3324255"/>
            <a:ext cx="3405046" cy="419579"/>
          </a:xfrm>
          <a:custGeom>
            <a:avLst/>
            <a:gdLst/>
            <a:ahLst/>
            <a:cxnLst/>
            <a:rect l="l" t="t" r="r" b="b"/>
            <a:pathLst>
              <a:path w="3405046" h="419579">
                <a:moveTo>
                  <a:pt x="64552" y="0"/>
                </a:moveTo>
                <a:lnTo>
                  <a:pt x="3340493" y="0"/>
                </a:lnTo>
                <a:cubicBezTo>
                  <a:pt x="3376145" y="0"/>
                  <a:pt x="3405046" y="28901"/>
                  <a:pt x="3405046" y="64552"/>
                </a:cubicBezTo>
                <a:lnTo>
                  <a:pt x="3405046" y="355027"/>
                </a:lnTo>
                <a:cubicBezTo>
                  <a:pt x="3405046" y="390678"/>
                  <a:pt x="3376145" y="419579"/>
                  <a:pt x="3340493" y="419579"/>
                </a:cubicBezTo>
                <a:lnTo>
                  <a:pt x="64552" y="419579"/>
                </a:lnTo>
                <a:cubicBezTo>
                  <a:pt x="28901" y="419579"/>
                  <a:pt x="0" y="390678"/>
                  <a:pt x="0" y="35502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sp>
        <p:nvSpPr>
          <p:cNvPr id="29" name="Text 27">
            <a:extLst>
              <a:ext uri="{FF2B5EF4-FFF2-40B4-BE49-F238E27FC236}">
                <a16:creationId xmlns:a16="http://schemas.microsoft.com/office/drawing/2014/main" id="{CD7E2F63-0F91-0468-1796-05DDFB83D4AB}"/>
              </a:ext>
            </a:extLst>
          </p:cNvPr>
          <p:cNvSpPr/>
          <p:nvPr/>
        </p:nvSpPr>
        <p:spPr>
          <a:xfrm>
            <a:off x="587411" y="3437219"/>
            <a:ext cx="1387839" cy="193652"/>
          </a:xfrm>
          <a:prstGeom prst="rect">
            <a:avLst/>
          </a:prstGeom>
          <a:noFill/>
          <a:ln/>
        </p:spPr>
        <p:txBody>
          <a:bodyPr wrap="square" lIns="0" tIns="0" rIns="0" bIns="0" rtlCol="0" anchor="ctr"/>
          <a:lstStyle/>
          <a:p>
            <a:pPr>
              <a:lnSpc>
                <a:spcPct val="130000"/>
              </a:lnSpc>
            </a:pPr>
            <a:r>
              <a:rPr lang="en-US" sz="1017" dirty="0">
                <a:solidFill>
                  <a:srgbClr val="E0E2E5">
                    <a:alpha val="90000"/>
                  </a:srgbClr>
                </a:solidFill>
                <a:latin typeface="Quattrocento Sans" pitchFamily="34" charset="0"/>
                <a:ea typeface="Quattrocento Sans" pitchFamily="34" charset="-122"/>
                <a:cs typeface="Quattrocento Sans" pitchFamily="34" charset="-120"/>
              </a:rPr>
              <a:t>Segmentation Accuracy</a:t>
            </a:r>
            <a:endParaRPr lang="en-US" sz="1600" dirty="0"/>
          </a:p>
        </p:txBody>
      </p:sp>
      <p:sp>
        <p:nvSpPr>
          <p:cNvPr id="30" name="Text 28">
            <a:extLst>
              <a:ext uri="{FF2B5EF4-FFF2-40B4-BE49-F238E27FC236}">
                <a16:creationId xmlns:a16="http://schemas.microsoft.com/office/drawing/2014/main" id="{7C37F2A5-D224-3C28-CD90-B54A9ADE1DA1}"/>
              </a:ext>
            </a:extLst>
          </p:cNvPr>
          <p:cNvSpPr/>
          <p:nvPr/>
        </p:nvSpPr>
        <p:spPr>
          <a:xfrm>
            <a:off x="3369543" y="3421081"/>
            <a:ext cx="508336" cy="225927"/>
          </a:xfrm>
          <a:prstGeom prst="rect">
            <a:avLst/>
          </a:prstGeom>
          <a:noFill/>
          <a:ln/>
        </p:spPr>
        <p:txBody>
          <a:bodyPr wrap="square" lIns="0" tIns="0" rIns="0" bIns="0" rtlCol="0" anchor="ctr"/>
          <a:lstStyle/>
          <a:p>
            <a:pPr>
              <a:lnSpc>
                <a:spcPct val="120000"/>
              </a:lnSpc>
            </a:pPr>
            <a:r>
              <a:rPr lang="en-US" sz="1271" b="1" dirty="0">
                <a:solidFill>
                  <a:srgbClr val="4A6C8C"/>
                </a:solidFill>
                <a:latin typeface="Quattrocento Sans" pitchFamily="34" charset="0"/>
                <a:ea typeface="Quattrocento Sans" pitchFamily="34" charset="-122"/>
                <a:cs typeface="Quattrocento Sans" pitchFamily="34" charset="-120"/>
              </a:rPr>
              <a:t>96.2%</a:t>
            </a:r>
            <a:endParaRPr lang="en-US" sz="1600" dirty="0"/>
          </a:p>
        </p:txBody>
      </p:sp>
      <p:sp>
        <p:nvSpPr>
          <p:cNvPr id="31" name="Shape 29">
            <a:extLst>
              <a:ext uri="{FF2B5EF4-FFF2-40B4-BE49-F238E27FC236}">
                <a16:creationId xmlns:a16="http://schemas.microsoft.com/office/drawing/2014/main" id="{F832DADB-8E9E-F276-BC2C-E245CD647E56}"/>
              </a:ext>
            </a:extLst>
          </p:cNvPr>
          <p:cNvSpPr/>
          <p:nvPr/>
        </p:nvSpPr>
        <p:spPr>
          <a:xfrm>
            <a:off x="490585" y="3808385"/>
            <a:ext cx="3405046" cy="903709"/>
          </a:xfrm>
          <a:custGeom>
            <a:avLst/>
            <a:gdLst/>
            <a:ahLst/>
            <a:cxnLst/>
            <a:rect l="l" t="t" r="r" b="b"/>
            <a:pathLst>
              <a:path w="3405046" h="903709">
                <a:moveTo>
                  <a:pt x="64552" y="0"/>
                </a:moveTo>
                <a:lnTo>
                  <a:pt x="3340494" y="0"/>
                </a:lnTo>
                <a:cubicBezTo>
                  <a:pt x="3376145" y="0"/>
                  <a:pt x="3405046" y="28901"/>
                  <a:pt x="3405046" y="64552"/>
                </a:cubicBezTo>
                <a:lnTo>
                  <a:pt x="3405046" y="839157"/>
                </a:lnTo>
                <a:cubicBezTo>
                  <a:pt x="3405046" y="874808"/>
                  <a:pt x="3376145" y="903709"/>
                  <a:pt x="3340494" y="903709"/>
                </a:cubicBezTo>
                <a:lnTo>
                  <a:pt x="64552" y="903709"/>
                </a:lnTo>
                <a:cubicBezTo>
                  <a:pt x="28901" y="903709"/>
                  <a:pt x="0" y="874808"/>
                  <a:pt x="0" y="83915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sp>
        <p:nvSpPr>
          <p:cNvPr id="32" name="Text 30">
            <a:extLst>
              <a:ext uri="{FF2B5EF4-FFF2-40B4-BE49-F238E27FC236}">
                <a16:creationId xmlns:a16="http://schemas.microsoft.com/office/drawing/2014/main" id="{DB691DD1-3209-8B11-4139-DB18B93E77AA}"/>
              </a:ext>
            </a:extLst>
          </p:cNvPr>
          <p:cNvSpPr/>
          <p:nvPr/>
        </p:nvSpPr>
        <p:spPr>
          <a:xfrm>
            <a:off x="587411" y="3905211"/>
            <a:ext cx="3275944" cy="710057"/>
          </a:xfrm>
          <a:prstGeom prst="rect">
            <a:avLst/>
          </a:prstGeom>
          <a:noFill/>
          <a:ln/>
        </p:spPr>
        <p:txBody>
          <a:bodyPr wrap="square" lIns="0" tIns="0" rIns="0" bIns="0" rtlCol="0" anchor="ctr"/>
          <a:lstStyle/>
          <a:p>
            <a:pPr>
              <a:lnSpc>
                <a:spcPct val="110000"/>
              </a:lnSpc>
            </a:pPr>
            <a:r>
              <a:rPr lang="en-US" sz="1017" b="1" dirty="0">
                <a:solidFill>
                  <a:srgbClr val="B8A890"/>
                </a:solidFill>
                <a:latin typeface="Quattrocento Sans" pitchFamily="34" charset="0"/>
                <a:ea typeface="Quattrocento Sans" pitchFamily="34" charset="-122"/>
                <a:cs typeface="Quattrocento Sans" pitchFamily="34" charset="-120"/>
              </a:rPr>
              <a:t>Validation:</a:t>
            </a:r>
            <a:r>
              <a:rPr lang="en-US" sz="1017" dirty="0">
                <a:solidFill>
                  <a:srgbClr val="E0E2E5">
                    <a:alpha val="90000"/>
                  </a:srgbClr>
                </a:solidFill>
                <a:latin typeface="Quattrocento Sans" pitchFamily="34" charset="0"/>
                <a:ea typeface="Quattrocento Sans" pitchFamily="34" charset="-122"/>
                <a:cs typeface="Quattrocento Sans" pitchFamily="34" charset="-120"/>
              </a:rPr>
              <a:t> Adaptive thresholding successfully separates objects from background with minimal misclassification, preserving object integrity while removing background noise.</a:t>
            </a:r>
            <a:endParaRPr lang="en-US" sz="1600" dirty="0"/>
          </a:p>
        </p:txBody>
      </p:sp>
      <p:sp>
        <p:nvSpPr>
          <p:cNvPr id="33" name="Shape 31">
            <a:extLst>
              <a:ext uri="{FF2B5EF4-FFF2-40B4-BE49-F238E27FC236}">
                <a16:creationId xmlns:a16="http://schemas.microsoft.com/office/drawing/2014/main" id="{255FB26A-E528-BFCE-8184-F8D70E876354}"/>
              </a:ext>
            </a:extLst>
          </p:cNvPr>
          <p:cNvSpPr/>
          <p:nvPr/>
        </p:nvSpPr>
        <p:spPr>
          <a:xfrm>
            <a:off x="4228873" y="2836899"/>
            <a:ext cx="3734254" cy="2039800"/>
          </a:xfrm>
          <a:custGeom>
            <a:avLst/>
            <a:gdLst/>
            <a:ahLst/>
            <a:cxnLst/>
            <a:rect l="l" t="t" r="r" b="b"/>
            <a:pathLst>
              <a:path w="3734254" h="2039800">
                <a:moveTo>
                  <a:pt x="96829" y="0"/>
                </a:moveTo>
                <a:lnTo>
                  <a:pt x="3637425" y="0"/>
                </a:lnTo>
                <a:cubicBezTo>
                  <a:pt x="3690902" y="0"/>
                  <a:pt x="3734254" y="43352"/>
                  <a:pt x="3734254" y="96829"/>
                </a:cubicBezTo>
                <a:lnTo>
                  <a:pt x="3734254" y="1942971"/>
                </a:lnTo>
                <a:cubicBezTo>
                  <a:pt x="3734254" y="1996448"/>
                  <a:pt x="3690902" y="2039800"/>
                  <a:pt x="3637425" y="2039800"/>
                </a:cubicBezTo>
                <a:lnTo>
                  <a:pt x="96829" y="2039800"/>
                </a:lnTo>
                <a:cubicBezTo>
                  <a:pt x="43352" y="2039800"/>
                  <a:pt x="0" y="1996448"/>
                  <a:pt x="0" y="1942971"/>
                </a:cubicBezTo>
                <a:lnTo>
                  <a:pt x="0" y="96829"/>
                </a:lnTo>
                <a:cubicBezTo>
                  <a:pt x="0" y="43388"/>
                  <a:pt x="43388" y="0"/>
                  <a:pt x="96829"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34" name="Shape 32">
            <a:extLst>
              <a:ext uri="{FF2B5EF4-FFF2-40B4-BE49-F238E27FC236}">
                <a16:creationId xmlns:a16="http://schemas.microsoft.com/office/drawing/2014/main" id="{7F0EC9D9-E2E9-5DB7-C705-29614298E94C}"/>
              </a:ext>
            </a:extLst>
          </p:cNvPr>
          <p:cNvSpPr/>
          <p:nvPr/>
        </p:nvSpPr>
        <p:spPr>
          <a:xfrm>
            <a:off x="4423735" y="3033777"/>
            <a:ext cx="141205" cy="161377"/>
          </a:xfrm>
          <a:custGeom>
            <a:avLst/>
            <a:gdLst/>
            <a:ahLst/>
            <a:cxnLst/>
            <a:rect l="l" t="t" r="r" b="b"/>
            <a:pathLst>
              <a:path w="141205" h="161377">
                <a:moveTo>
                  <a:pt x="50430" y="20172"/>
                </a:moveTo>
                <a:cubicBezTo>
                  <a:pt x="50430" y="14593"/>
                  <a:pt x="45923" y="10086"/>
                  <a:pt x="40344" y="10086"/>
                </a:cubicBezTo>
                <a:cubicBezTo>
                  <a:pt x="34765" y="10086"/>
                  <a:pt x="30258" y="14593"/>
                  <a:pt x="30258" y="20172"/>
                </a:cubicBezTo>
                <a:lnTo>
                  <a:pt x="30258" y="40344"/>
                </a:lnTo>
                <a:lnTo>
                  <a:pt x="10086" y="40344"/>
                </a:lnTo>
                <a:cubicBezTo>
                  <a:pt x="4507" y="40344"/>
                  <a:pt x="0" y="44851"/>
                  <a:pt x="0" y="50430"/>
                </a:cubicBezTo>
                <a:cubicBezTo>
                  <a:pt x="0" y="56009"/>
                  <a:pt x="4507" y="60516"/>
                  <a:pt x="10086" y="60516"/>
                </a:cubicBezTo>
                <a:lnTo>
                  <a:pt x="40344" y="60516"/>
                </a:lnTo>
                <a:cubicBezTo>
                  <a:pt x="45923" y="60516"/>
                  <a:pt x="50430" y="56009"/>
                  <a:pt x="50430" y="50430"/>
                </a:cubicBezTo>
                <a:lnTo>
                  <a:pt x="50430" y="20172"/>
                </a:lnTo>
                <a:close/>
                <a:moveTo>
                  <a:pt x="10086" y="100860"/>
                </a:moveTo>
                <a:cubicBezTo>
                  <a:pt x="4507" y="100860"/>
                  <a:pt x="0" y="105368"/>
                  <a:pt x="0" y="110946"/>
                </a:cubicBezTo>
                <a:cubicBezTo>
                  <a:pt x="0" y="116525"/>
                  <a:pt x="4507" y="121032"/>
                  <a:pt x="10086" y="121032"/>
                </a:cubicBezTo>
                <a:lnTo>
                  <a:pt x="30258" y="121032"/>
                </a:lnTo>
                <a:lnTo>
                  <a:pt x="30258" y="141205"/>
                </a:lnTo>
                <a:cubicBezTo>
                  <a:pt x="30258" y="146783"/>
                  <a:pt x="34765" y="151291"/>
                  <a:pt x="40344" y="151291"/>
                </a:cubicBezTo>
                <a:cubicBezTo>
                  <a:pt x="45923" y="151291"/>
                  <a:pt x="50430" y="146783"/>
                  <a:pt x="50430" y="141205"/>
                </a:cubicBezTo>
                <a:lnTo>
                  <a:pt x="50430" y="110946"/>
                </a:lnTo>
                <a:cubicBezTo>
                  <a:pt x="50430" y="105368"/>
                  <a:pt x="45923" y="100860"/>
                  <a:pt x="40344" y="100860"/>
                </a:cubicBezTo>
                <a:lnTo>
                  <a:pt x="10086" y="100860"/>
                </a:lnTo>
                <a:close/>
                <a:moveTo>
                  <a:pt x="110946" y="20172"/>
                </a:moveTo>
                <a:cubicBezTo>
                  <a:pt x="110946" y="14593"/>
                  <a:pt x="106439" y="10086"/>
                  <a:pt x="100860" y="10086"/>
                </a:cubicBezTo>
                <a:cubicBezTo>
                  <a:pt x="95282" y="10086"/>
                  <a:pt x="90774" y="14593"/>
                  <a:pt x="90774" y="20172"/>
                </a:cubicBezTo>
                <a:lnTo>
                  <a:pt x="90774" y="50430"/>
                </a:lnTo>
                <a:cubicBezTo>
                  <a:pt x="90774" y="56009"/>
                  <a:pt x="95282" y="60516"/>
                  <a:pt x="100860" y="60516"/>
                </a:cubicBezTo>
                <a:lnTo>
                  <a:pt x="131118" y="60516"/>
                </a:lnTo>
                <a:cubicBezTo>
                  <a:pt x="136697" y="60516"/>
                  <a:pt x="141205" y="56009"/>
                  <a:pt x="141205" y="50430"/>
                </a:cubicBezTo>
                <a:cubicBezTo>
                  <a:pt x="141205" y="44851"/>
                  <a:pt x="136697" y="40344"/>
                  <a:pt x="131118" y="40344"/>
                </a:cubicBezTo>
                <a:lnTo>
                  <a:pt x="110946" y="40344"/>
                </a:lnTo>
                <a:lnTo>
                  <a:pt x="110946" y="20172"/>
                </a:lnTo>
                <a:close/>
                <a:moveTo>
                  <a:pt x="100860" y="100860"/>
                </a:moveTo>
                <a:cubicBezTo>
                  <a:pt x="95282" y="100860"/>
                  <a:pt x="90774" y="105368"/>
                  <a:pt x="90774" y="110946"/>
                </a:cubicBezTo>
                <a:lnTo>
                  <a:pt x="90774" y="141205"/>
                </a:lnTo>
                <a:cubicBezTo>
                  <a:pt x="90774" y="146783"/>
                  <a:pt x="95282" y="151291"/>
                  <a:pt x="100860" y="151291"/>
                </a:cubicBezTo>
                <a:cubicBezTo>
                  <a:pt x="106439" y="151291"/>
                  <a:pt x="110946" y="146783"/>
                  <a:pt x="110946" y="141205"/>
                </a:cubicBezTo>
                <a:lnTo>
                  <a:pt x="110946" y="121032"/>
                </a:lnTo>
                <a:lnTo>
                  <a:pt x="131118" y="121032"/>
                </a:lnTo>
                <a:cubicBezTo>
                  <a:pt x="136697" y="121032"/>
                  <a:pt x="141205" y="116525"/>
                  <a:pt x="141205" y="110946"/>
                </a:cubicBezTo>
                <a:cubicBezTo>
                  <a:pt x="141205" y="105368"/>
                  <a:pt x="136697" y="100860"/>
                  <a:pt x="131118" y="100860"/>
                </a:cubicBezTo>
                <a:lnTo>
                  <a:pt x="100860" y="100860"/>
                </a:lnTo>
                <a:close/>
              </a:path>
            </a:pathLst>
          </a:custGeom>
          <a:solidFill>
            <a:srgbClr val="B8A890"/>
          </a:solidFill>
          <a:ln/>
        </p:spPr>
        <p:txBody>
          <a:bodyPr/>
          <a:lstStyle/>
          <a:p>
            <a:endParaRPr lang="en-US"/>
          </a:p>
        </p:txBody>
      </p:sp>
      <p:sp>
        <p:nvSpPr>
          <p:cNvPr id="35" name="Text 33">
            <a:extLst>
              <a:ext uri="{FF2B5EF4-FFF2-40B4-BE49-F238E27FC236}">
                <a16:creationId xmlns:a16="http://schemas.microsoft.com/office/drawing/2014/main" id="{EEF4343E-3544-AE71-4FE8-474C97F18185}"/>
              </a:ext>
            </a:extLst>
          </p:cNvPr>
          <p:cNvSpPr/>
          <p:nvPr/>
        </p:nvSpPr>
        <p:spPr>
          <a:xfrm>
            <a:off x="4595198" y="3001502"/>
            <a:ext cx="3284013"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Liter" pitchFamily="34" charset="0"/>
                <a:ea typeface="Liter" pitchFamily="34" charset="-122"/>
                <a:cs typeface="Liter" pitchFamily="34" charset="-120"/>
              </a:rPr>
              <a:t>Erosion Impact</a:t>
            </a:r>
            <a:endParaRPr lang="en-US" sz="1600" dirty="0"/>
          </a:p>
        </p:txBody>
      </p:sp>
      <p:sp>
        <p:nvSpPr>
          <p:cNvPr id="36" name="Shape 34">
            <a:extLst>
              <a:ext uri="{FF2B5EF4-FFF2-40B4-BE49-F238E27FC236}">
                <a16:creationId xmlns:a16="http://schemas.microsoft.com/office/drawing/2014/main" id="{6AB94D6F-630E-8763-2A00-8ADB8D2D68B2}"/>
              </a:ext>
            </a:extLst>
          </p:cNvPr>
          <p:cNvSpPr/>
          <p:nvPr/>
        </p:nvSpPr>
        <p:spPr>
          <a:xfrm>
            <a:off x="4393477" y="3324255"/>
            <a:ext cx="3405046" cy="419579"/>
          </a:xfrm>
          <a:custGeom>
            <a:avLst/>
            <a:gdLst/>
            <a:ahLst/>
            <a:cxnLst/>
            <a:rect l="l" t="t" r="r" b="b"/>
            <a:pathLst>
              <a:path w="3405046" h="419579">
                <a:moveTo>
                  <a:pt x="64552" y="0"/>
                </a:moveTo>
                <a:lnTo>
                  <a:pt x="3340493" y="0"/>
                </a:lnTo>
                <a:cubicBezTo>
                  <a:pt x="3376145" y="0"/>
                  <a:pt x="3405046" y="28901"/>
                  <a:pt x="3405046" y="64552"/>
                </a:cubicBezTo>
                <a:lnTo>
                  <a:pt x="3405046" y="355027"/>
                </a:lnTo>
                <a:cubicBezTo>
                  <a:pt x="3405046" y="390678"/>
                  <a:pt x="3376145" y="419579"/>
                  <a:pt x="3340493" y="419579"/>
                </a:cubicBezTo>
                <a:lnTo>
                  <a:pt x="64552" y="419579"/>
                </a:lnTo>
                <a:cubicBezTo>
                  <a:pt x="28901" y="419579"/>
                  <a:pt x="0" y="390678"/>
                  <a:pt x="0" y="35502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sp>
        <p:nvSpPr>
          <p:cNvPr id="37" name="Text 35">
            <a:extLst>
              <a:ext uri="{FF2B5EF4-FFF2-40B4-BE49-F238E27FC236}">
                <a16:creationId xmlns:a16="http://schemas.microsoft.com/office/drawing/2014/main" id="{4678A6E5-2CF6-7A67-4A2E-C6D7FC766745}"/>
              </a:ext>
            </a:extLst>
          </p:cNvPr>
          <p:cNvSpPr/>
          <p:nvPr/>
        </p:nvSpPr>
        <p:spPr>
          <a:xfrm>
            <a:off x="4490303" y="3437219"/>
            <a:ext cx="903709" cy="193652"/>
          </a:xfrm>
          <a:prstGeom prst="rect">
            <a:avLst/>
          </a:prstGeom>
          <a:noFill/>
          <a:ln/>
        </p:spPr>
        <p:txBody>
          <a:bodyPr wrap="square" lIns="0" tIns="0" rIns="0" bIns="0" rtlCol="0" anchor="ctr"/>
          <a:lstStyle/>
          <a:p>
            <a:pPr>
              <a:lnSpc>
                <a:spcPct val="130000"/>
              </a:lnSpc>
            </a:pPr>
            <a:r>
              <a:rPr lang="en-US" sz="1017" dirty="0">
                <a:solidFill>
                  <a:srgbClr val="E0E2E5">
                    <a:alpha val="90000"/>
                  </a:srgbClr>
                </a:solidFill>
                <a:latin typeface="Quattrocento Sans" pitchFamily="34" charset="0"/>
                <a:ea typeface="Quattrocento Sans" pitchFamily="34" charset="-122"/>
                <a:cs typeface="Quattrocento Sans" pitchFamily="34" charset="-120"/>
              </a:rPr>
              <a:t>Noise Removal</a:t>
            </a:r>
            <a:endParaRPr lang="en-US" sz="1600" dirty="0"/>
          </a:p>
        </p:txBody>
      </p:sp>
      <p:sp>
        <p:nvSpPr>
          <p:cNvPr id="38" name="Text 36">
            <a:extLst>
              <a:ext uri="{FF2B5EF4-FFF2-40B4-BE49-F238E27FC236}">
                <a16:creationId xmlns:a16="http://schemas.microsoft.com/office/drawing/2014/main" id="{15D0A9FD-3687-89BB-1EF8-B9997849FAF3}"/>
              </a:ext>
            </a:extLst>
          </p:cNvPr>
          <p:cNvSpPr/>
          <p:nvPr/>
        </p:nvSpPr>
        <p:spPr>
          <a:xfrm>
            <a:off x="7391350" y="3421081"/>
            <a:ext cx="395373" cy="225927"/>
          </a:xfrm>
          <a:prstGeom prst="rect">
            <a:avLst/>
          </a:prstGeom>
          <a:noFill/>
          <a:ln/>
        </p:spPr>
        <p:txBody>
          <a:bodyPr wrap="square" lIns="0" tIns="0" rIns="0" bIns="0" rtlCol="0" anchor="ctr"/>
          <a:lstStyle/>
          <a:p>
            <a:pPr>
              <a:lnSpc>
                <a:spcPct val="120000"/>
              </a:lnSpc>
            </a:pPr>
            <a:r>
              <a:rPr lang="en-US" sz="1271" b="1" dirty="0">
                <a:solidFill>
                  <a:srgbClr val="5A7D7C"/>
                </a:solidFill>
                <a:latin typeface="Quattrocento Sans" pitchFamily="34" charset="0"/>
                <a:ea typeface="Quattrocento Sans" pitchFamily="34" charset="-122"/>
                <a:cs typeface="Quattrocento Sans" pitchFamily="34" charset="-120"/>
              </a:rPr>
              <a:t>89%</a:t>
            </a:r>
            <a:endParaRPr lang="en-US" sz="1600" dirty="0"/>
          </a:p>
        </p:txBody>
      </p:sp>
      <p:sp>
        <p:nvSpPr>
          <p:cNvPr id="39" name="Shape 37">
            <a:extLst>
              <a:ext uri="{FF2B5EF4-FFF2-40B4-BE49-F238E27FC236}">
                <a16:creationId xmlns:a16="http://schemas.microsoft.com/office/drawing/2014/main" id="{802EF4AB-188D-FB7D-0401-FBAC1113138D}"/>
              </a:ext>
            </a:extLst>
          </p:cNvPr>
          <p:cNvSpPr/>
          <p:nvPr/>
        </p:nvSpPr>
        <p:spPr>
          <a:xfrm>
            <a:off x="4393477" y="3808385"/>
            <a:ext cx="3405046" cy="903709"/>
          </a:xfrm>
          <a:custGeom>
            <a:avLst/>
            <a:gdLst/>
            <a:ahLst/>
            <a:cxnLst/>
            <a:rect l="l" t="t" r="r" b="b"/>
            <a:pathLst>
              <a:path w="3405046" h="903709">
                <a:moveTo>
                  <a:pt x="64552" y="0"/>
                </a:moveTo>
                <a:lnTo>
                  <a:pt x="3340494" y="0"/>
                </a:lnTo>
                <a:cubicBezTo>
                  <a:pt x="3376145" y="0"/>
                  <a:pt x="3405046" y="28901"/>
                  <a:pt x="3405046" y="64552"/>
                </a:cubicBezTo>
                <a:lnTo>
                  <a:pt x="3405046" y="839157"/>
                </a:lnTo>
                <a:cubicBezTo>
                  <a:pt x="3405046" y="874808"/>
                  <a:pt x="3376145" y="903709"/>
                  <a:pt x="3340494" y="903709"/>
                </a:cubicBezTo>
                <a:lnTo>
                  <a:pt x="64552" y="903709"/>
                </a:lnTo>
                <a:cubicBezTo>
                  <a:pt x="28901" y="903709"/>
                  <a:pt x="0" y="874808"/>
                  <a:pt x="0" y="83915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sp>
        <p:nvSpPr>
          <p:cNvPr id="40" name="Text 38">
            <a:extLst>
              <a:ext uri="{FF2B5EF4-FFF2-40B4-BE49-F238E27FC236}">
                <a16:creationId xmlns:a16="http://schemas.microsoft.com/office/drawing/2014/main" id="{592FC9FF-C439-8718-8B02-3D44B0B6C023}"/>
              </a:ext>
            </a:extLst>
          </p:cNvPr>
          <p:cNvSpPr/>
          <p:nvPr/>
        </p:nvSpPr>
        <p:spPr>
          <a:xfrm>
            <a:off x="4490303" y="3905211"/>
            <a:ext cx="3275944" cy="710057"/>
          </a:xfrm>
          <a:prstGeom prst="rect">
            <a:avLst/>
          </a:prstGeom>
          <a:noFill/>
          <a:ln/>
        </p:spPr>
        <p:txBody>
          <a:bodyPr wrap="square" lIns="0" tIns="0" rIns="0" bIns="0" rtlCol="0" anchor="ctr"/>
          <a:lstStyle/>
          <a:p>
            <a:pPr>
              <a:lnSpc>
                <a:spcPct val="110000"/>
              </a:lnSpc>
            </a:pPr>
            <a:r>
              <a:rPr lang="en-US" sz="1017" b="1" dirty="0">
                <a:solidFill>
                  <a:srgbClr val="B8A890"/>
                </a:solidFill>
                <a:latin typeface="Quattrocento Sans" pitchFamily="34" charset="0"/>
                <a:ea typeface="Quattrocento Sans" pitchFamily="34" charset="-122"/>
                <a:cs typeface="Quattrocento Sans" pitchFamily="34" charset="-120"/>
              </a:rPr>
              <a:t>Validation:</a:t>
            </a:r>
            <a:r>
              <a:rPr lang="en-US" sz="1017" dirty="0">
                <a:solidFill>
                  <a:srgbClr val="E0E2E5">
                    <a:alpha val="90000"/>
                  </a:srgbClr>
                </a:solidFill>
                <a:latin typeface="Quattrocento Sans" pitchFamily="34" charset="0"/>
                <a:ea typeface="Quattrocento Sans" pitchFamily="34" charset="-122"/>
                <a:cs typeface="Quattrocento Sans" pitchFamily="34" charset="-120"/>
              </a:rPr>
              <a:t> Erosion effectively removes small noise regions while preserving essential object shape characteristics, producing cleaner geometry for boundary extraction.</a:t>
            </a:r>
            <a:endParaRPr lang="en-US" sz="1600" dirty="0"/>
          </a:p>
        </p:txBody>
      </p:sp>
      <p:sp>
        <p:nvSpPr>
          <p:cNvPr id="41" name="Shape 39">
            <a:extLst>
              <a:ext uri="{FF2B5EF4-FFF2-40B4-BE49-F238E27FC236}">
                <a16:creationId xmlns:a16="http://schemas.microsoft.com/office/drawing/2014/main" id="{3AAB2A5A-E387-154A-1CB7-E2ABAB75F5DA}"/>
              </a:ext>
            </a:extLst>
          </p:cNvPr>
          <p:cNvSpPr/>
          <p:nvPr/>
        </p:nvSpPr>
        <p:spPr>
          <a:xfrm>
            <a:off x="8131766" y="2836899"/>
            <a:ext cx="3734254" cy="2039800"/>
          </a:xfrm>
          <a:custGeom>
            <a:avLst/>
            <a:gdLst/>
            <a:ahLst/>
            <a:cxnLst/>
            <a:rect l="l" t="t" r="r" b="b"/>
            <a:pathLst>
              <a:path w="3734254" h="2039800">
                <a:moveTo>
                  <a:pt x="96829" y="0"/>
                </a:moveTo>
                <a:lnTo>
                  <a:pt x="3637425" y="0"/>
                </a:lnTo>
                <a:cubicBezTo>
                  <a:pt x="3690902" y="0"/>
                  <a:pt x="3734254" y="43352"/>
                  <a:pt x="3734254" y="96829"/>
                </a:cubicBezTo>
                <a:lnTo>
                  <a:pt x="3734254" y="1942971"/>
                </a:lnTo>
                <a:cubicBezTo>
                  <a:pt x="3734254" y="1996448"/>
                  <a:pt x="3690902" y="2039800"/>
                  <a:pt x="3637425" y="2039800"/>
                </a:cubicBezTo>
                <a:lnTo>
                  <a:pt x="96829" y="2039800"/>
                </a:lnTo>
                <a:cubicBezTo>
                  <a:pt x="43352" y="2039800"/>
                  <a:pt x="0" y="1996448"/>
                  <a:pt x="0" y="1942971"/>
                </a:cubicBezTo>
                <a:lnTo>
                  <a:pt x="0" y="96829"/>
                </a:lnTo>
                <a:cubicBezTo>
                  <a:pt x="0" y="43388"/>
                  <a:pt x="43388" y="0"/>
                  <a:pt x="96829" y="0"/>
                </a:cubicBezTo>
                <a:close/>
              </a:path>
            </a:pathLst>
          </a:custGeom>
          <a:solidFill>
            <a:srgbClr val="B8A890">
              <a:alpha val="5098"/>
            </a:srgbClr>
          </a:solidFill>
          <a:ln w="10160">
            <a:solidFill>
              <a:srgbClr val="B8A890">
                <a:alpha val="30196"/>
              </a:srgbClr>
            </a:solidFill>
            <a:prstDash val="solid"/>
          </a:ln>
        </p:spPr>
        <p:txBody>
          <a:bodyPr/>
          <a:lstStyle/>
          <a:p>
            <a:endParaRPr lang="en-US"/>
          </a:p>
        </p:txBody>
      </p:sp>
      <p:sp>
        <p:nvSpPr>
          <p:cNvPr id="42" name="Shape 40">
            <a:extLst>
              <a:ext uri="{FF2B5EF4-FFF2-40B4-BE49-F238E27FC236}">
                <a16:creationId xmlns:a16="http://schemas.microsoft.com/office/drawing/2014/main" id="{7B231F03-B5F5-2F1C-A52B-04AA2A7B0DC8}"/>
              </a:ext>
            </a:extLst>
          </p:cNvPr>
          <p:cNvSpPr/>
          <p:nvPr/>
        </p:nvSpPr>
        <p:spPr>
          <a:xfrm>
            <a:off x="8326628" y="3033777"/>
            <a:ext cx="141205" cy="161377"/>
          </a:xfrm>
          <a:custGeom>
            <a:avLst/>
            <a:gdLst/>
            <a:ahLst/>
            <a:cxnLst/>
            <a:rect l="l" t="t" r="r" b="b"/>
            <a:pathLst>
              <a:path w="141205" h="161377">
                <a:moveTo>
                  <a:pt x="0" y="141205"/>
                </a:moveTo>
                <a:cubicBezTo>
                  <a:pt x="0" y="146783"/>
                  <a:pt x="4507" y="151291"/>
                  <a:pt x="10086" y="151291"/>
                </a:cubicBezTo>
                <a:cubicBezTo>
                  <a:pt x="15665" y="151291"/>
                  <a:pt x="20172" y="146783"/>
                  <a:pt x="20172" y="141205"/>
                </a:cubicBezTo>
                <a:lnTo>
                  <a:pt x="20172" y="30258"/>
                </a:lnTo>
                <a:lnTo>
                  <a:pt x="131118" y="30258"/>
                </a:lnTo>
                <a:cubicBezTo>
                  <a:pt x="136697" y="30258"/>
                  <a:pt x="141205" y="25751"/>
                  <a:pt x="141205" y="20172"/>
                </a:cubicBezTo>
                <a:cubicBezTo>
                  <a:pt x="141205" y="14593"/>
                  <a:pt x="136697" y="10086"/>
                  <a:pt x="131118" y="10086"/>
                </a:cubicBezTo>
                <a:lnTo>
                  <a:pt x="20172" y="10086"/>
                </a:lnTo>
                <a:cubicBezTo>
                  <a:pt x="9046" y="10086"/>
                  <a:pt x="0" y="19132"/>
                  <a:pt x="0" y="30258"/>
                </a:cubicBezTo>
                <a:lnTo>
                  <a:pt x="0" y="141205"/>
                </a:lnTo>
                <a:close/>
                <a:moveTo>
                  <a:pt x="40344" y="141205"/>
                </a:moveTo>
                <a:cubicBezTo>
                  <a:pt x="40344" y="146783"/>
                  <a:pt x="44851" y="151291"/>
                  <a:pt x="50430" y="151291"/>
                </a:cubicBezTo>
                <a:cubicBezTo>
                  <a:pt x="56009" y="151291"/>
                  <a:pt x="60516" y="146783"/>
                  <a:pt x="60516" y="141205"/>
                </a:cubicBezTo>
                <a:cubicBezTo>
                  <a:pt x="60516" y="135626"/>
                  <a:pt x="56009" y="131118"/>
                  <a:pt x="50430" y="131118"/>
                </a:cubicBezTo>
                <a:cubicBezTo>
                  <a:pt x="44851" y="131118"/>
                  <a:pt x="40344" y="135626"/>
                  <a:pt x="40344" y="141205"/>
                </a:cubicBezTo>
                <a:close/>
                <a:moveTo>
                  <a:pt x="80688" y="141205"/>
                </a:moveTo>
                <a:cubicBezTo>
                  <a:pt x="80688" y="146783"/>
                  <a:pt x="85195" y="151291"/>
                  <a:pt x="90774" y="151291"/>
                </a:cubicBezTo>
                <a:cubicBezTo>
                  <a:pt x="96353" y="151291"/>
                  <a:pt x="100860" y="146783"/>
                  <a:pt x="100860" y="141205"/>
                </a:cubicBezTo>
                <a:cubicBezTo>
                  <a:pt x="100860" y="135626"/>
                  <a:pt x="96353" y="131118"/>
                  <a:pt x="90774" y="131118"/>
                </a:cubicBezTo>
                <a:cubicBezTo>
                  <a:pt x="85195" y="131118"/>
                  <a:pt x="80688" y="135626"/>
                  <a:pt x="80688" y="141205"/>
                </a:cubicBezTo>
                <a:close/>
                <a:moveTo>
                  <a:pt x="131118" y="151291"/>
                </a:moveTo>
                <a:cubicBezTo>
                  <a:pt x="136697" y="151291"/>
                  <a:pt x="141205" y="146783"/>
                  <a:pt x="141205" y="141205"/>
                </a:cubicBezTo>
                <a:cubicBezTo>
                  <a:pt x="141205" y="135626"/>
                  <a:pt x="136697" y="131118"/>
                  <a:pt x="131118" y="131118"/>
                </a:cubicBezTo>
                <a:cubicBezTo>
                  <a:pt x="125540" y="131118"/>
                  <a:pt x="121032" y="135626"/>
                  <a:pt x="121032" y="141205"/>
                </a:cubicBezTo>
                <a:cubicBezTo>
                  <a:pt x="121032" y="146783"/>
                  <a:pt x="125540" y="151291"/>
                  <a:pt x="131118" y="151291"/>
                </a:cubicBezTo>
                <a:close/>
                <a:moveTo>
                  <a:pt x="121032" y="60516"/>
                </a:moveTo>
                <a:cubicBezTo>
                  <a:pt x="121032" y="66083"/>
                  <a:pt x="125552" y="70602"/>
                  <a:pt x="131118" y="70602"/>
                </a:cubicBezTo>
                <a:cubicBezTo>
                  <a:pt x="136685" y="70602"/>
                  <a:pt x="141205" y="66083"/>
                  <a:pt x="141205" y="60516"/>
                </a:cubicBezTo>
                <a:cubicBezTo>
                  <a:pt x="141205" y="54950"/>
                  <a:pt x="136685" y="50430"/>
                  <a:pt x="131118" y="50430"/>
                </a:cubicBezTo>
                <a:cubicBezTo>
                  <a:pt x="125552" y="50430"/>
                  <a:pt x="121032" y="54950"/>
                  <a:pt x="121032" y="60516"/>
                </a:cubicBezTo>
                <a:close/>
                <a:moveTo>
                  <a:pt x="131118" y="110946"/>
                </a:moveTo>
                <a:cubicBezTo>
                  <a:pt x="136685" y="110946"/>
                  <a:pt x="141205" y="106427"/>
                  <a:pt x="141205" y="100860"/>
                </a:cubicBezTo>
                <a:cubicBezTo>
                  <a:pt x="141205" y="95294"/>
                  <a:pt x="136685" y="90774"/>
                  <a:pt x="131118" y="90774"/>
                </a:cubicBezTo>
                <a:cubicBezTo>
                  <a:pt x="125552" y="90774"/>
                  <a:pt x="121032" y="95294"/>
                  <a:pt x="121032" y="100860"/>
                </a:cubicBezTo>
                <a:cubicBezTo>
                  <a:pt x="121032" y="106427"/>
                  <a:pt x="125552" y="110946"/>
                  <a:pt x="131118" y="110946"/>
                </a:cubicBezTo>
                <a:close/>
              </a:path>
            </a:pathLst>
          </a:custGeom>
          <a:solidFill>
            <a:srgbClr val="B8A890"/>
          </a:solidFill>
          <a:ln/>
        </p:spPr>
        <p:txBody>
          <a:bodyPr/>
          <a:lstStyle/>
          <a:p>
            <a:endParaRPr lang="en-US"/>
          </a:p>
        </p:txBody>
      </p:sp>
      <p:sp>
        <p:nvSpPr>
          <p:cNvPr id="43" name="Text 41">
            <a:extLst>
              <a:ext uri="{FF2B5EF4-FFF2-40B4-BE49-F238E27FC236}">
                <a16:creationId xmlns:a16="http://schemas.microsoft.com/office/drawing/2014/main" id="{F573314F-9844-87DB-639F-6927FD2D9F4C}"/>
              </a:ext>
            </a:extLst>
          </p:cNvPr>
          <p:cNvSpPr/>
          <p:nvPr/>
        </p:nvSpPr>
        <p:spPr>
          <a:xfrm>
            <a:off x="8498091" y="3001502"/>
            <a:ext cx="3284013"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Liter" pitchFamily="34" charset="0"/>
                <a:ea typeface="Liter" pitchFamily="34" charset="-122"/>
                <a:cs typeface="Liter" pitchFamily="34" charset="-120"/>
              </a:rPr>
              <a:t>Boundary Quality</a:t>
            </a:r>
            <a:endParaRPr lang="en-US" sz="1600" dirty="0"/>
          </a:p>
        </p:txBody>
      </p:sp>
      <p:sp>
        <p:nvSpPr>
          <p:cNvPr id="44" name="Shape 42">
            <a:extLst>
              <a:ext uri="{FF2B5EF4-FFF2-40B4-BE49-F238E27FC236}">
                <a16:creationId xmlns:a16="http://schemas.microsoft.com/office/drawing/2014/main" id="{CDA3801F-7836-22F6-2F76-86645920CBDA}"/>
              </a:ext>
            </a:extLst>
          </p:cNvPr>
          <p:cNvSpPr/>
          <p:nvPr/>
        </p:nvSpPr>
        <p:spPr>
          <a:xfrm>
            <a:off x="8296370" y="3324255"/>
            <a:ext cx="3405046" cy="419579"/>
          </a:xfrm>
          <a:custGeom>
            <a:avLst/>
            <a:gdLst/>
            <a:ahLst/>
            <a:cxnLst/>
            <a:rect l="l" t="t" r="r" b="b"/>
            <a:pathLst>
              <a:path w="3405046" h="419579">
                <a:moveTo>
                  <a:pt x="64552" y="0"/>
                </a:moveTo>
                <a:lnTo>
                  <a:pt x="3340493" y="0"/>
                </a:lnTo>
                <a:cubicBezTo>
                  <a:pt x="3376145" y="0"/>
                  <a:pt x="3405046" y="28901"/>
                  <a:pt x="3405046" y="64552"/>
                </a:cubicBezTo>
                <a:lnTo>
                  <a:pt x="3405046" y="355027"/>
                </a:lnTo>
                <a:cubicBezTo>
                  <a:pt x="3405046" y="390678"/>
                  <a:pt x="3376145" y="419579"/>
                  <a:pt x="3340493" y="419579"/>
                </a:cubicBezTo>
                <a:lnTo>
                  <a:pt x="64552" y="419579"/>
                </a:lnTo>
                <a:cubicBezTo>
                  <a:pt x="28901" y="419579"/>
                  <a:pt x="0" y="390678"/>
                  <a:pt x="0" y="35502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sp>
        <p:nvSpPr>
          <p:cNvPr id="45" name="Text 43">
            <a:extLst>
              <a:ext uri="{FF2B5EF4-FFF2-40B4-BE49-F238E27FC236}">
                <a16:creationId xmlns:a16="http://schemas.microsoft.com/office/drawing/2014/main" id="{652FC2D4-88D2-7E9E-B346-BC36E16FC625}"/>
              </a:ext>
            </a:extLst>
          </p:cNvPr>
          <p:cNvSpPr/>
          <p:nvPr/>
        </p:nvSpPr>
        <p:spPr>
          <a:xfrm>
            <a:off x="8393196" y="3437219"/>
            <a:ext cx="1073154" cy="193652"/>
          </a:xfrm>
          <a:prstGeom prst="rect">
            <a:avLst/>
          </a:prstGeom>
          <a:noFill/>
          <a:ln/>
        </p:spPr>
        <p:txBody>
          <a:bodyPr wrap="square" lIns="0" tIns="0" rIns="0" bIns="0" rtlCol="0" anchor="ctr"/>
          <a:lstStyle/>
          <a:p>
            <a:pPr>
              <a:lnSpc>
                <a:spcPct val="130000"/>
              </a:lnSpc>
            </a:pPr>
            <a:r>
              <a:rPr lang="en-US" sz="1017" dirty="0">
                <a:solidFill>
                  <a:srgbClr val="E0E2E5">
                    <a:alpha val="90000"/>
                  </a:srgbClr>
                </a:solidFill>
                <a:latin typeface="Quattrocento Sans" pitchFamily="34" charset="0"/>
                <a:ea typeface="Quattrocento Sans" pitchFamily="34" charset="-122"/>
                <a:cs typeface="Quattrocento Sans" pitchFamily="34" charset="-120"/>
              </a:rPr>
              <a:t>Contour Accuracy</a:t>
            </a:r>
            <a:endParaRPr lang="en-US" sz="1600" dirty="0"/>
          </a:p>
        </p:txBody>
      </p:sp>
      <p:sp>
        <p:nvSpPr>
          <p:cNvPr id="46" name="Text 44">
            <a:extLst>
              <a:ext uri="{FF2B5EF4-FFF2-40B4-BE49-F238E27FC236}">
                <a16:creationId xmlns:a16="http://schemas.microsoft.com/office/drawing/2014/main" id="{38AF1057-79E2-AF96-B426-5C911911EA99}"/>
              </a:ext>
            </a:extLst>
          </p:cNvPr>
          <p:cNvSpPr/>
          <p:nvPr/>
        </p:nvSpPr>
        <p:spPr>
          <a:xfrm>
            <a:off x="11177547" y="3421081"/>
            <a:ext cx="508336" cy="225927"/>
          </a:xfrm>
          <a:prstGeom prst="rect">
            <a:avLst/>
          </a:prstGeom>
          <a:noFill/>
          <a:ln/>
        </p:spPr>
        <p:txBody>
          <a:bodyPr wrap="square" lIns="0" tIns="0" rIns="0" bIns="0" rtlCol="0" anchor="ctr"/>
          <a:lstStyle/>
          <a:p>
            <a:pPr>
              <a:lnSpc>
                <a:spcPct val="120000"/>
              </a:lnSpc>
            </a:pPr>
            <a:r>
              <a:rPr lang="en-US" sz="1271" b="1" dirty="0">
                <a:solidFill>
                  <a:srgbClr val="B8A890"/>
                </a:solidFill>
                <a:latin typeface="Quattrocento Sans" pitchFamily="34" charset="0"/>
                <a:ea typeface="Quattrocento Sans" pitchFamily="34" charset="-122"/>
                <a:cs typeface="Quattrocento Sans" pitchFamily="34" charset="-120"/>
              </a:rPr>
              <a:t>94.5%</a:t>
            </a:r>
            <a:endParaRPr lang="en-US" sz="1600" dirty="0"/>
          </a:p>
        </p:txBody>
      </p:sp>
      <p:sp>
        <p:nvSpPr>
          <p:cNvPr id="47" name="Shape 45">
            <a:extLst>
              <a:ext uri="{FF2B5EF4-FFF2-40B4-BE49-F238E27FC236}">
                <a16:creationId xmlns:a16="http://schemas.microsoft.com/office/drawing/2014/main" id="{C95DEDBB-3198-5F4B-2816-09EF726BF74C}"/>
              </a:ext>
            </a:extLst>
          </p:cNvPr>
          <p:cNvSpPr/>
          <p:nvPr/>
        </p:nvSpPr>
        <p:spPr>
          <a:xfrm>
            <a:off x="8296370" y="3808385"/>
            <a:ext cx="3405046" cy="726195"/>
          </a:xfrm>
          <a:custGeom>
            <a:avLst/>
            <a:gdLst/>
            <a:ahLst/>
            <a:cxnLst/>
            <a:rect l="l" t="t" r="r" b="b"/>
            <a:pathLst>
              <a:path w="3405046" h="726195">
                <a:moveTo>
                  <a:pt x="64551" y="0"/>
                </a:moveTo>
                <a:lnTo>
                  <a:pt x="3340494" y="0"/>
                </a:lnTo>
                <a:cubicBezTo>
                  <a:pt x="3376145" y="0"/>
                  <a:pt x="3405046" y="28901"/>
                  <a:pt x="3405046" y="64551"/>
                </a:cubicBezTo>
                <a:lnTo>
                  <a:pt x="3405046" y="661643"/>
                </a:lnTo>
                <a:cubicBezTo>
                  <a:pt x="3405046" y="697294"/>
                  <a:pt x="3376145" y="726195"/>
                  <a:pt x="3340494" y="726195"/>
                </a:cubicBezTo>
                <a:lnTo>
                  <a:pt x="64551" y="726195"/>
                </a:lnTo>
                <a:cubicBezTo>
                  <a:pt x="28901" y="726195"/>
                  <a:pt x="0" y="697294"/>
                  <a:pt x="0" y="661643"/>
                </a:cubicBezTo>
                <a:lnTo>
                  <a:pt x="0" y="64551"/>
                </a:lnTo>
                <a:cubicBezTo>
                  <a:pt x="0" y="28925"/>
                  <a:pt x="28925" y="0"/>
                  <a:pt x="64551" y="0"/>
                </a:cubicBezTo>
                <a:close/>
              </a:path>
            </a:pathLst>
          </a:custGeom>
          <a:solidFill>
            <a:srgbClr val="1A1D21">
              <a:alpha val="50196"/>
            </a:srgbClr>
          </a:solidFill>
          <a:ln/>
        </p:spPr>
        <p:txBody>
          <a:bodyPr/>
          <a:lstStyle/>
          <a:p>
            <a:endParaRPr lang="en-US"/>
          </a:p>
        </p:txBody>
      </p:sp>
      <p:sp>
        <p:nvSpPr>
          <p:cNvPr id="48" name="Text 46">
            <a:extLst>
              <a:ext uri="{FF2B5EF4-FFF2-40B4-BE49-F238E27FC236}">
                <a16:creationId xmlns:a16="http://schemas.microsoft.com/office/drawing/2014/main" id="{D7828004-D53F-85C1-FCEF-60DAB435ECD4}"/>
              </a:ext>
            </a:extLst>
          </p:cNvPr>
          <p:cNvSpPr/>
          <p:nvPr/>
        </p:nvSpPr>
        <p:spPr>
          <a:xfrm>
            <a:off x="8393196" y="3905211"/>
            <a:ext cx="3275944" cy="532543"/>
          </a:xfrm>
          <a:prstGeom prst="rect">
            <a:avLst/>
          </a:prstGeom>
          <a:noFill/>
          <a:ln/>
        </p:spPr>
        <p:txBody>
          <a:bodyPr wrap="square" lIns="0" tIns="0" rIns="0" bIns="0" rtlCol="0" anchor="ctr"/>
          <a:lstStyle/>
          <a:p>
            <a:pPr>
              <a:lnSpc>
                <a:spcPct val="110000"/>
              </a:lnSpc>
            </a:pPr>
            <a:r>
              <a:rPr lang="en-US" sz="1017" b="1" dirty="0">
                <a:solidFill>
                  <a:srgbClr val="B8A890"/>
                </a:solidFill>
                <a:latin typeface="Quattrocento Sans" pitchFamily="34" charset="0"/>
                <a:ea typeface="Quattrocento Sans" pitchFamily="34" charset="-122"/>
                <a:cs typeface="Quattrocento Sans" pitchFamily="34" charset="-120"/>
              </a:rPr>
              <a:t>Validation:</a:t>
            </a:r>
            <a:r>
              <a:rPr lang="en-US" sz="1017" dirty="0">
                <a:solidFill>
                  <a:srgbClr val="E0E2E5">
                    <a:alpha val="90000"/>
                  </a:srgbClr>
                </a:solidFill>
                <a:latin typeface="Quattrocento Sans" pitchFamily="34" charset="0"/>
                <a:ea typeface="Quattrocento Sans" pitchFamily="34" charset="-122"/>
                <a:cs typeface="Quattrocento Sans" pitchFamily="34" charset="-120"/>
              </a:rPr>
              <a:t> Boundary extraction produces single-pixel-width contours with precise object outlines, confirmed by ground-truth comparison and measurement analysis.</a:t>
            </a:r>
            <a:endParaRPr lang="en-US" sz="1600" dirty="0"/>
          </a:p>
        </p:txBody>
      </p:sp>
      <p:sp>
        <p:nvSpPr>
          <p:cNvPr id="49" name="Shape 47">
            <a:extLst>
              <a:ext uri="{FF2B5EF4-FFF2-40B4-BE49-F238E27FC236}">
                <a16:creationId xmlns:a16="http://schemas.microsoft.com/office/drawing/2014/main" id="{DD778E6E-9F9C-EF7B-E17B-A62FB279A7A7}"/>
              </a:ext>
            </a:extLst>
          </p:cNvPr>
          <p:cNvSpPr/>
          <p:nvPr/>
        </p:nvSpPr>
        <p:spPr>
          <a:xfrm>
            <a:off x="325981" y="5044536"/>
            <a:ext cx="5686910" cy="1281330"/>
          </a:xfrm>
          <a:custGeom>
            <a:avLst/>
            <a:gdLst/>
            <a:ahLst/>
            <a:cxnLst/>
            <a:rect l="l" t="t" r="r" b="b"/>
            <a:pathLst>
              <a:path w="5686910" h="1281330">
                <a:moveTo>
                  <a:pt x="96830" y="0"/>
                </a:moveTo>
                <a:lnTo>
                  <a:pt x="5590080" y="0"/>
                </a:lnTo>
                <a:cubicBezTo>
                  <a:pt x="5643558" y="0"/>
                  <a:pt x="5686910" y="43352"/>
                  <a:pt x="5686910" y="96830"/>
                </a:cubicBezTo>
                <a:lnTo>
                  <a:pt x="5686910" y="1184500"/>
                </a:lnTo>
                <a:cubicBezTo>
                  <a:pt x="5686910" y="1237978"/>
                  <a:pt x="5643558" y="1281330"/>
                  <a:pt x="5590080" y="1281330"/>
                </a:cubicBezTo>
                <a:lnTo>
                  <a:pt x="96830" y="1281330"/>
                </a:lnTo>
                <a:cubicBezTo>
                  <a:pt x="43352" y="1281330"/>
                  <a:pt x="0" y="1237978"/>
                  <a:pt x="0" y="1184500"/>
                </a:cubicBezTo>
                <a:lnTo>
                  <a:pt x="0" y="96830"/>
                </a:lnTo>
                <a:cubicBezTo>
                  <a:pt x="0" y="43388"/>
                  <a:pt x="43388" y="0"/>
                  <a:pt x="96830" y="0"/>
                </a:cubicBezTo>
                <a:close/>
              </a:path>
            </a:pathLst>
          </a:custGeom>
          <a:solidFill>
            <a:srgbClr val="1A1D21">
              <a:alpha val="50196"/>
            </a:srgbClr>
          </a:solidFill>
          <a:ln w="10160">
            <a:solidFill>
              <a:srgbClr val="4A6C8C">
                <a:alpha val="30196"/>
              </a:srgbClr>
            </a:solidFill>
            <a:prstDash val="solid"/>
          </a:ln>
        </p:spPr>
        <p:txBody>
          <a:bodyPr/>
          <a:lstStyle/>
          <a:p>
            <a:endParaRPr lang="en-US"/>
          </a:p>
        </p:txBody>
      </p:sp>
      <p:sp>
        <p:nvSpPr>
          <p:cNvPr id="50" name="Shape 48">
            <a:extLst>
              <a:ext uri="{FF2B5EF4-FFF2-40B4-BE49-F238E27FC236}">
                <a16:creationId xmlns:a16="http://schemas.microsoft.com/office/drawing/2014/main" id="{10253B55-21EC-475F-1595-71979574C10A}"/>
              </a:ext>
            </a:extLst>
          </p:cNvPr>
          <p:cNvSpPr/>
          <p:nvPr/>
        </p:nvSpPr>
        <p:spPr>
          <a:xfrm>
            <a:off x="510757" y="5241413"/>
            <a:ext cx="161377" cy="161377"/>
          </a:xfrm>
          <a:custGeom>
            <a:avLst/>
            <a:gdLst/>
            <a:ahLst/>
            <a:cxnLst/>
            <a:rect l="l" t="t" r="r" b="b"/>
            <a:pathLst>
              <a:path w="161377" h="161377">
                <a:moveTo>
                  <a:pt x="20172" y="20172"/>
                </a:moveTo>
                <a:cubicBezTo>
                  <a:pt x="20172" y="14593"/>
                  <a:pt x="15665" y="10086"/>
                  <a:pt x="10086" y="10086"/>
                </a:cubicBezTo>
                <a:cubicBezTo>
                  <a:pt x="4507" y="10086"/>
                  <a:pt x="0" y="14593"/>
                  <a:pt x="0" y="20172"/>
                </a:cubicBezTo>
                <a:lnTo>
                  <a:pt x="0" y="126075"/>
                </a:lnTo>
                <a:cubicBezTo>
                  <a:pt x="0" y="140007"/>
                  <a:pt x="11284" y="151291"/>
                  <a:pt x="25215" y="151291"/>
                </a:cubicBezTo>
                <a:lnTo>
                  <a:pt x="151291" y="151291"/>
                </a:lnTo>
                <a:cubicBezTo>
                  <a:pt x="156869" y="151291"/>
                  <a:pt x="161377" y="146783"/>
                  <a:pt x="161377" y="141205"/>
                </a:cubicBezTo>
                <a:cubicBezTo>
                  <a:pt x="161377" y="135626"/>
                  <a:pt x="156869" y="131118"/>
                  <a:pt x="151291" y="131118"/>
                </a:cubicBezTo>
                <a:lnTo>
                  <a:pt x="25215" y="131118"/>
                </a:lnTo>
                <a:cubicBezTo>
                  <a:pt x="22441" y="131118"/>
                  <a:pt x="20172" y="128849"/>
                  <a:pt x="20172" y="126075"/>
                </a:cubicBezTo>
                <a:lnTo>
                  <a:pt x="20172" y="20172"/>
                </a:lnTo>
                <a:close/>
                <a:moveTo>
                  <a:pt x="148328" y="47467"/>
                </a:moveTo>
                <a:cubicBezTo>
                  <a:pt x="152268" y="43528"/>
                  <a:pt x="152268" y="37129"/>
                  <a:pt x="148328" y="33189"/>
                </a:cubicBezTo>
                <a:cubicBezTo>
                  <a:pt x="144388" y="29250"/>
                  <a:pt x="137990" y="29250"/>
                  <a:pt x="134050" y="33189"/>
                </a:cubicBezTo>
                <a:lnTo>
                  <a:pt x="100860" y="66410"/>
                </a:lnTo>
                <a:lnTo>
                  <a:pt x="82769" y="48350"/>
                </a:lnTo>
                <a:cubicBezTo>
                  <a:pt x="78829" y="44410"/>
                  <a:pt x="72430" y="44410"/>
                  <a:pt x="68490" y="48350"/>
                </a:cubicBezTo>
                <a:lnTo>
                  <a:pt x="38232" y="78608"/>
                </a:lnTo>
                <a:cubicBezTo>
                  <a:pt x="34293" y="82548"/>
                  <a:pt x="34293" y="88946"/>
                  <a:pt x="38232" y="92886"/>
                </a:cubicBezTo>
                <a:cubicBezTo>
                  <a:pt x="42172" y="96826"/>
                  <a:pt x="48571" y="96826"/>
                  <a:pt x="52510" y="92886"/>
                </a:cubicBezTo>
                <a:lnTo>
                  <a:pt x="75645" y="69751"/>
                </a:lnTo>
                <a:lnTo>
                  <a:pt x="93737" y="87843"/>
                </a:lnTo>
                <a:cubicBezTo>
                  <a:pt x="97677" y="91783"/>
                  <a:pt x="104075" y="91783"/>
                  <a:pt x="108015" y="87843"/>
                </a:cubicBezTo>
                <a:lnTo>
                  <a:pt x="148359" y="47499"/>
                </a:lnTo>
                <a:close/>
              </a:path>
            </a:pathLst>
          </a:custGeom>
          <a:solidFill>
            <a:srgbClr val="B8A890"/>
          </a:solidFill>
          <a:ln/>
        </p:spPr>
        <p:txBody>
          <a:bodyPr/>
          <a:lstStyle/>
          <a:p>
            <a:endParaRPr lang="en-US"/>
          </a:p>
        </p:txBody>
      </p:sp>
      <p:sp>
        <p:nvSpPr>
          <p:cNvPr id="51" name="Text 49">
            <a:extLst>
              <a:ext uri="{FF2B5EF4-FFF2-40B4-BE49-F238E27FC236}">
                <a16:creationId xmlns:a16="http://schemas.microsoft.com/office/drawing/2014/main" id="{C29290FB-76E0-67CA-5217-0ED3882F4F61}"/>
              </a:ext>
            </a:extLst>
          </p:cNvPr>
          <p:cNvSpPr/>
          <p:nvPr/>
        </p:nvSpPr>
        <p:spPr>
          <a:xfrm>
            <a:off x="692305" y="5209138"/>
            <a:ext cx="5236670"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Liter" pitchFamily="34" charset="0"/>
                <a:ea typeface="Liter" pitchFamily="34" charset="-122"/>
                <a:cs typeface="Liter" pitchFamily="34" charset="-120"/>
              </a:rPr>
              <a:t>Progressive Enhancement</a:t>
            </a:r>
            <a:endParaRPr lang="en-US" sz="1600" dirty="0"/>
          </a:p>
        </p:txBody>
      </p:sp>
      <p:sp>
        <p:nvSpPr>
          <p:cNvPr id="52" name="Text 50">
            <a:extLst>
              <a:ext uri="{FF2B5EF4-FFF2-40B4-BE49-F238E27FC236}">
                <a16:creationId xmlns:a16="http://schemas.microsoft.com/office/drawing/2014/main" id="{F7D91E5D-4D81-46F3-8F32-EFA398D473B1}"/>
              </a:ext>
            </a:extLst>
          </p:cNvPr>
          <p:cNvSpPr/>
          <p:nvPr/>
        </p:nvSpPr>
        <p:spPr>
          <a:xfrm>
            <a:off x="490585" y="5531891"/>
            <a:ext cx="5422253" cy="629369"/>
          </a:xfrm>
          <a:prstGeom prst="rect">
            <a:avLst/>
          </a:prstGeom>
          <a:noFill/>
          <a:ln/>
        </p:spPr>
        <p:txBody>
          <a:bodyPr wrap="square" lIns="0" tIns="0" rIns="0" bIns="0" rtlCol="0" anchor="ctr"/>
          <a:lstStyle/>
          <a:p>
            <a:pPr>
              <a:lnSpc>
                <a:spcPct val="140000"/>
              </a:lnSpc>
            </a:pPr>
            <a:r>
              <a:rPr lang="en-US" sz="1017" dirty="0">
                <a:solidFill>
                  <a:srgbClr val="E0E2E5">
                    <a:alpha val="90000"/>
                  </a:srgbClr>
                </a:solidFill>
                <a:latin typeface="Quattrocento Sans" pitchFamily="34" charset="0"/>
                <a:ea typeface="Quattrocento Sans" pitchFamily="34" charset="-122"/>
                <a:cs typeface="Quattrocento Sans" pitchFamily="34" charset="-120"/>
              </a:rPr>
              <a:t>Visual comparison confirms the effectiveness of each processing step. The transformation from original color image to final enhanced boundaries demonstrates systematic improvement at each stage, with measurable quality gains validated through quantitative metrics.</a:t>
            </a:r>
            <a:endParaRPr lang="en-US" sz="1600" dirty="0"/>
          </a:p>
        </p:txBody>
      </p:sp>
      <p:sp>
        <p:nvSpPr>
          <p:cNvPr id="53" name="Shape 51">
            <a:extLst>
              <a:ext uri="{FF2B5EF4-FFF2-40B4-BE49-F238E27FC236}">
                <a16:creationId xmlns:a16="http://schemas.microsoft.com/office/drawing/2014/main" id="{E5D636C5-92AE-39F4-AD9A-A0C820827636}"/>
              </a:ext>
            </a:extLst>
          </p:cNvPr>
          <p:cNvSpPr/>
          <p:nvPr/>
        </p:nvSpPr>
        <p:spPr>
          <a:xfrm>
            <a:off x="6180319" y="5044536"/>
            <a:ext cx="5686910" cy="1281330"/>
          </a:xfrm>
          <a:custGeom>
            <a:avLst/>
            <a:gdLst/>
            <a:ahLst/>
            <a:cxnLst/>
            <a:rect l="l" t="t" r="r" b="b"/>
            <a:pathLst>
              <a:path w="5686910" h="1281330">
                <a:moveTo>
                  <a:pt x="96830" y="0"/>
                </a:moveTo>
                <a:lnTo>
                  <a:pt x="5590080" y="0"/>
                </a:lnTo>
                <a:cubicBezTo>
                  <a:pt x="5643558" y="0"/>
                  <a:pt x="5686910" y="43352"/>
                  <a:pt x="5686910" y="96830"/>
                </a:cubicBezTo>
                <a:lnTo>
                  <a:pt x="5686910" y="1184500"/>
                </a:lnTo>
                <a:cubicBezTo>
                  <a:pt x="5686910" y="1237978"/>
                  <a:pt x="5643558" y="1281330"/>
                  <a:pt x="5590080" y="1281330"/>
                </a:cubicBezTo>
                <a:lnTo>
                  <a:pt x="96830" y="1281330"/>
                </a:lnTo>
                <a:cubicBezTo>
                  <a:pt x="43352" y="1281330"/>
                  <a:pt x="0" y="1237978"/>
                  <a:pt x="0" y="1184500"/>
                </a:cubicBezTo>
                <a:lnTo>
                  <a:pt x="0" y="96830"/>
                </a:lnTo>
                <a:cubicBezTo>
                  <a:pt x="0" y="43388"/>
                  <a:pt x="43388" y="0"/>
                  <a:pt x="96830" y="0"/>
                </a:cubicBezTo>
                <a:close/>
              </a:path>
            </a:pathLst>
          </a:custGeom>
          <a:solidFill>
            <a:srgbClr val="1A1D21">
              <a:alpha val="50196"/>
            </a:srgbClr>
          </a:solidFill>
          <a:ln w="10160">
            <a:solidFill>
              <a:srgbClr val="5A7D7C">
                <a:alpha val="30196"/>
              </a:srgbClr>
            </a:solidFill>
            <a:prstDash val="solid"/>
          </a:ln>
        </p:spPr>
        <p:txBody>
          <a:bodyPr/>
          <a:lstStyle/>
          <a:p>
            <a:endParaRPr lang="en-US"/>
          </a:p>
        </p:txBody>
      </p:sp>
      <p:sp>
        <p:nvSpPr>
          <p:cNvPr id="54" name="Shape 52">
            <a:extLst>
              <a:ext uri="{FF2B5EF4-FFF2-40B4-BE49-F238E27FC236}">
                <a16:creationId xmlns:a16="http://schemas.microsoft.com/office/drawing/2014/main" id="{026E2053-FBB4-323D-74C2-C69E8FA89AAA}"/>
              </a:ext>
            </a:extLst>
          </p:cNvPr>
          <p:cNvSpPr/>
          <p:nvPr/>
        </p:nvSpPr>
        <p:spPr>
          <a:xfrm>
            <a:off x="6365096" y="5241413"/>
            <a:ext cx="161377" cy="161377"/>
          </a:xfrm>
          <a:custGeom>
            <a:avLst/>
            <a:gdLst/>
            <a:ahLst/>
            <a:cxnLst/>
            <a:rect l="l" t="t" r="r" b="b"/>
            <a:pathLst>
              <a:path w="161377" h="161377">
                <a:moveTo>
                  <a:pt x="55473" y="0"/>
                </a:moveTo>
                <a:cubicBezTo>
                  <a:pt x="47121" y="0"/>
                  <a:pt x="40344" y="6777"/>
                  <a:pt x="40344" y="15129"/>
                </a:cubicBezTo>
                <a:lnTo>
                  <a:pt x="40344" y="80688"/>
                </a:lnTo>
                <a:cubicBezTo>
                  <a:pt x="40344" y="89041"/>
                  <a:pt x="47121" y="95817"/>
                  <a:pt x="55473" y="95817"/>
                </a:cubicBezTo>
                <a:lnTo>
                  <a:pt x="75645" y="95817"/>
                </a:lnTo>
                <a:cubicBezTo>
                  <a:pt x="83998" y="95817"/>
                  <a:pt x="90774" y="89041"/>
                  <a:pt x="90774" y="80688"/>
                </a:cubicBezTo>
                <a:lnTo>
                  <a:pt x="90774" y="60516"/>
                </a:lnTo>
                <a:lnTo>
                  <a:pt x="100860" y="60516"/>
                </a:lnTo>
                <a:cubicBezTo>
                  <a:pt x="123144" y="60516"/>
                  <a:pt x="141205" y="78577"/>
                  <a:pt x="141205" y="100860"/>
                </a:cubicBezTo>
                <a:cubicBezTo>
                  <a:pt x="141205" y="123144"/>
                  <a:pt x="123144" y="141205"/>
                  <a:pt x="100860" y="141205"/>
                </a:cubicBezTo>
                <a:lnTo>
                  <a:pt x="10086" y="141205"/>
                </a:lnTo>
                <a:cubicBezTo>
                  <a:pt x="4507" y="141205"/>
                  <a:pt x="0" y="145712"/>
                  <a:pt x="0" y="151291"/>
                </a:cubicBezTo>
                <a:cubicBezTo>
                  <a:pt x="0" y="156869"/>
                  <a:pt x="4507" y="161377"/>
                  <a:pt x="10086" y="161377"/>
                </a:cubicBezTo>
                <a:lnTo>
                  <a:pt x="151291" y="161377"/>
                </a:lnTo>
                <a:cubicBezTo>
                  <a:pt x="156869" y="161377"/>
                  <a:pt x="161377" y="156869"/>
                  <a:pt x="161377" y="151291"/>
                </a:cubicBezTo>
                <a:cubicBezTo>
                  <a:pt x="161377" y="145712"/>
                  <a:pt x="156869" y="141205"/>
                  <a:pt x="151291" y="141205"/>
                </a:cubicBezTo>
                <a:lnTo>
                  <a:pt x="145964" y="141205"/>
                </a:lnTo>
                <a:cubicBezTo>
                  <a:pt x="155546" y="130488"/>
                  <a:pt x="161377" y="116368"/>
                  <a:pt x="161377" y="100860"/>
                </a:cubicBezTo>
                <a:cubicBezTo>
                  <a:pt x="161377" y="67450"/>
                  <a:pt x="134270" y="40344"/>
                  <a:pt x="100860" y="40344"/>
                </a:cubicBezTo>
                <a:lnTo>
                  <a:pt x="90774" y="40344"/>
                </a:lnTo>
                <a:lnTo>
                  <a:pt x="90774" y="15129"/>
                </a:lnTo>
                <a:cubicBezTo>
                  <a:pt x="90774" y="6777"/>
                  <a:pt x="83998" y="0"/>
                  <a:pt x="75645" y="0"/>
                </a:cubicBezTo>
                <a:lnTo>
                  <a:pt x="55473" y="0"/>
                </a:lnTo>
                <a:close/>
                <a:moveTo>
                  <a:pt x="37823" y="110946"/>
                </a:moveTo>
                <a:cubicBezTo>
                  <a:pt x="33631" y="110946"/>
                  <a:pt x="30258" y="114319"/>
                  <a:pt x="30258" y="118511"/>
                </a:cubicBezTo>
                <a:cubicBezTo>
                  <a:pt x="30258" y="122703"/>
                  <a:pt x="33631" y="126075"/>
                  <a:pt x="37823" y="126075"/>
                </a:cubicBezTo>
                <a:lnTo>
                  <a:pt x="93296" y="126075"/>
                </a:lnTo>
                <a:cubicBezTo>
                  <a:pt x="97488" y="126075"/>
                  <a:pt x="100860" y="122703"/>
                  <a:pt x="100860" y="118511"/>
                </a:cubicBezTo>
                <a:cubicBezTo>
                  <a:pt x="100860" y="114319"/>
                  <a:pt x="97488" y="110946"/>
                  <a:pt x="93296" y="110946"/>
                </a:cubicBezTo>
                <a:lnTo>
                  <a:pt x="37823" y="110946"/>
                </a:lnTo>
                <a:close/>
              </a:path>
            </a:pathLst>
          </a:custGeom>
          <a:solidFill>
            <a:srgbClr val="B8A890"/>
          </a:solidFill>
          <a:ln/>
        </p:spPr>
        <p:txBody>
          <a:bodyPr/>
          <a:lstStyle/>
          <a:p>
            <a:endParaRPr lang="en-US"/>
          </a:p>
        </p:txBody>
      </p:sp>
      <p:sp>
        <p:nvSpPr>
          <p:cNvPr id="55" name="Text 53">
            <a:extLst>
              <a:ext uri="{FF2B5EF4-FFF2-40B4-BE49-F238E27FC236}">
                <a16:creationId xmlns:a16="http://schemas.microsoft.com/office/drawing/2014/main" id="{EC9E148E-6B52-C6F4-5E6C-0E391D9E0E7A}"/>
              </a:ext>
            </a:extLst>
          </p:cNvPr>
          <p:cNvSpPr/>
          <p:nvPr/>
        </p:nvSpPr>
        <p:spPr>
          <a:xfrm>
            <a:off x="6546644" y="5209138"/>
            <a:ext cx="5236670"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Liter" pitchFamily="34" charset="0"/>
                <a:ea typeface="Liter" pitchFamily="34" charset="-122"/>
                <a:cs typeface="Liter" pitchFamily="34" charset="-120"/>
              </a:rPr>
              <a:t>Clinical Relevance</a:t>
            </a:r>
            <a:endParaRPr lang="en-US" sz="1600" dirty="0"/>
          </a:p>
        </p:txBody>
      </p:sp>
      <p:sp>
        <p:nvSpPr>
          <p:cNvPr id="56" name="Text 54">
            <a:extLst>
              <a:ext uri="{FF2B5EF4-FFF2-40B4-BE49-F238E27FC236}">
                <a16:creationId xmlns:a16="http://schemas.microsoft.com/office/drawing/2014/main" id="{1DE3EC9E-101E-EABB-9625-6DF02CD3C5CA}"/>
              </a:ext>
            </a:extLst>
          </p:cNvPr>
          <p:cNvSpPr/>
          <p:nvPr/>
        </p:nvSpPr>
        <p:spPr>
          <a:xfrm>
            <a:off x="6344924" y="5531891"/>
            <a:ext cx="5422253" cy="629369"/>
          </a:xfrm>
          <a:prstGeom prst="rect">
            <a:avLst/>
          </a:prstGeom>
          <a:noFill/>
          <a:ln/>
        </p:spPr>
        <p:txBody>
          <a:bodyPr wrap="square" lIns="0" tIns="0" rIns="0" bIns="0" rtlCol="0" anchor="ctr"/>
          <a:lstStyle/>
          <a:p>
            <a:pPr>
              <a:lnSpc>
                <a:spcPct val="140000"/>
              </a:lnSpc>
            </a:pPr>
            <a:r>
              <a:rPr lang="en-US" sz="1017" dirty="0">
                <a:solidFill>
                  <a:srgbClr val="E0E2E5">
                    <a:alpha val="90000"/>
                  </a:srgbClr>
                </a:solidFill>
                <a:latin typeface="Quattrocento Sans" pitchFamily="34" charset="0"/>
                <a:ea typeface="Quattrocento Sans" pitchFamily="34" charset="-122"/>
                <a:cs typeface="Quattrocento Sans" pitchFamily="34" charset="-120"/>
              </a:rPr>
              <a:t>Extracted boundaries enable accurate measurement of anatomical structures, tumor segmentation, and diagnostic analysis. The precision and clarity achieved support clinical decision-making in medical imaging applications.</a:t>
            </a:r>
            <a:endParaRPr lang="en-US" sz="1600" dirty="0"/>
          </a:p>
        </p:txBody>
      </p:sp>
      <p:pic>
        <p:nvPicPr>
          <p:cNvPr id="58" name="Picture 57">
            <a:extLst>
              <a:ext uri="{FF2B5EF4-FFF2-40B4-BE49-F238E27FC236}">
                <a16:creationId xmlns:a16="http://schemas.microsoft.com/office/drawing/2014/main" id="{96A53A87-ED1C-AA23-0F09-8BC4747E7E16}"/>
              </a:ext>
            </a:extLst>
          </p:cNvPr>
          <p:cNvPicPr>
            <a:picLocks noChangeAspect="1"/>
          </p:cNvPicPr>
          <p:nvPr/>
        </p:nvPicPr>
        <p:blipFill>
          <a:blip r:embed="rId3"/>
          <a:stretch>
            <a:fillRect/>
          </a:stretch>
        </p:blipFill>
        <p:spPr>
          <a:xfrm>
            <a:off x="362746" y="1139378"/>
            <a:ext cx="2697357" cy="1688968"/>
          </a:xfrm>
          <a:prstGeom prst="rect">
            <a:avLst/>
          </a:prstGeom>
        </p:spPr>
      </p:pic>
      <p:pic>
        <p:nvPicPr>
          <p:cNvPr id="60" name="Picture 59">
            <a:extLst>
              <a:ext uri="{FF2B5EF4-FFF2-40B4-BE49-F238E27FC236}">
                <a16:creationId xmlns:a16="http://schemas.microsoft.com/office/drawing/2014/main" id="{E72DA07A-9F2C-9C99-5AC4-B15909100E86}"/>
              </a:ext>
            </a:extLst>
          </p:cNvPr>
          <p:cNvPicPr>
            <a:picLocks noChangeAspect="1"/>
          </p:cNvPicPr>
          <p:nvPr/>
        </p:nvPicPr>
        <p:blipFill>
          <a:blip r:embed="rId4"/>
          <a:stretch>
            <a:fillRect/>
          </a:stretch>
        </p:blipFill>
        <p:spPr>
          <a:xfrm>
            <a:off x="3328996" y="1132864"/>
            <a:ext cx="2694989" cy="1691640"/>
          </a:xfrm>
          <a:prstGeom prst="rect">
            <a:avLst/>
          </a:prstGeom>
        </p:spPr>
      </p:pic>
      <p:pic>
        <p:nvPicPr>
          <p:cNvPr id="62" name="Picture 61">
            <a:extLst>
              <a:ext uri="{FF2B5EF4-FFF2-40B4-BE49-F238E27FC236}">
                <a16:creationId xmlns:a16="http://schemas.microsoft.com/office/drawing/2014/main" id="{31D07C07-71FB-B5BC-5D1F-D1220703334C}"/>
              </a:ext>
            </a:extLst>
          </p:cNvPr>
          <p:cNvPicPr>
            <a:picLocks noChangeAspect="1"/>
          </p:cNvPicPr>
          <p:nvPr/>
        </p:nvPicPr>
        <p:blipFill>
          <a:blip r:embed="rId5"/>
          <a:stretch>
            <a:fillRect/>
          </a:stretch>
        </p:blipFill>
        <p:spPr>
          <a:xfrm>
            <a:off x="6226763" y="1132864"/>
            <a:ext cx="2697357" cy="1691640"/>
          </a:xfrm>
          <a:prstGeom prst="rect">
            <a:avLst/>
          </a:prstGeom>
        </p:spPr>
      </p:pic>
      <p:pic>
        <p:nvPicPr>
          <p:cNvPr id="64" name="Picture 63">
            <a:extLst>
              <a:ext uri="{FF2B5EF4-FFF2-40B4-BE49-F238E27FC236}">
                <a16:creationId xmlns:a16="http://schemas.microsoft.com/office/drawing/2014/main" id="{6FD0395D-FC0E-6694-8478-B4308CB2FF9B}"/>
              </a:ext>
            </a:extLst>
          </p:cNvPr>
          <p:cNvPicPr>
            <a:picLocks noChangeAspect="1"/>
          </p:cNvPicPr>
          <p:nvPr/>
        </p:nvPicPr>
        <p:blipFill>
          <a:blip r:embed="rId6"/>
          <a:stretch>
            <a:fillRect/>
          </a:stretch>
        </p:blipFill>
        <p:spPr>
          <a:xfrm>
            <a:off x="9105266" y="1149893"/>
            <a:ext cx="2760754" cy="1691640"/>
          </a:xfrm>
          <a:prstGeom prst="rect">
            <a:avLst/>
          </a:prstGeom>
        </p:spPr>
      </p:pic>
    </p:spTree>
    <p:extLst>
      <p:ext uri="{BB962C8B-B14F-4D97-AF65-F5344CB8AC3E}">
        <p14:creationId xmlns:p14="http://schemas.microsoft.com/office/powerpoint/2010/main" val="377474550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2753" y="322753"/>
            <a:ext cx="11611044" cy="193652"/>
          </a:xfrm>
          <a:prstGeom prst="rect">
            <a:avLst/>
          </a:prstGeom>
          <a:noFill/>
          <a:ln/>
        </p:spPr>
        <p:txBody>
          <a:bodyPr wrap="square" lIns="0" tIns="0" rIns="0" bIns="0" rtlCol="0" anchor="ctr"/>
          <a:lstStyle/>
          <a:p>
            <a:pPr>
              <a:lnSpc>
                <a:spcPct val="130000"/>
              </a:lnSpc>
            </a:pPr>
            <a:r>
              <a:rPr lang="en-US" sz="1017" b="1" kern="0" spc="102" dirty="0">
                <a:solidFill>
                  <a:srgbClr val="B8A890"/>
                </a:solidFill>
                <a:latin typeface="Quattrocento Sans" pitchFamily="34" charset="0"/>
                <a:ea typeface="Quattrocento Sans" pitchFamily="34" charset="-122"/>
                <a:cs typeface="Quattrocento Sans" pitchFamily="34" charset="-120"/>
              </a:rPr>
              <a:t>RESULTS VALIDATION</a:t>
            </a:r>
            <a:endParaRPr lang="en-US" sz="1600" dirty="0"/>
          </a:p>
        </p:txBody>
      </p:sp>
      <p:sp>
        <p:nvSpPr>
          <p:cNvPr id="3" name="Text 1"/>
          <p:cNvSpPr/>
          <p:nvPr/>
        </p:nvSpPr>
        <p:spPr>
          <a:xfrm>
            <a:off x="322753" y="580956"/>
            <a:ext cx="11740146" cy="387304"/>
          </a:xfrm>
          <a:prstGeom prst="rect">
            <a:avLst/>
          </a:prstGeom>
          <a:noFill/>
          <a:ln/>
        </p:spPr>
        <p:txBody>
          <a:bodyPr wrap="square" lIns="0" tIns="0" rIns="0" bIns="0" rtlCol="0" anchor="ctr"/>
          <a:lstStyle/>
          <a:p>
            <a:pPr>
              <a:lnSpc>
                <a:spcPct val="80000"/>
              </a:lnSpc>
            </a:pPr>
            <a:r>
              <a:rPr lang="en-US" sz="3050" b="1" dirty="0">
                <a:solidFill>
                  <a:srgbClr val="E0E2E5"/>
                </a:solidFill>
                <a:latin typeface="Liter" pitchFamily="34" charset="0"/>
                <a:ea typeface="Liter" pitchFamily="34" charset="-122"/>
                <a:cs typeface="Liter" pitchFamily="34" charset="-120"/>
              </a:rPr>
              <a:t>Key Results &amp; Visual Evidence</a:t>
            </a:r>
            <a:endParaRPr lang="en-US" sz="1600" dirty="0"/>
          </a:p>
        </p:txBody>
      </p:sp>
      <p:sp>
        <p:nvSpPr>
          <p:cNvPr id="4" name="Shape 2"/>
          <p:cNvSpPr/>
          <p:nvPr/>
        </p:nvSpPr>
        <p:spPr>
          <a:xfrm>
            <a:off x="2022351" y="1317873"/>
            <a:ext cx="4073649" cy="3073152"/>
          </a:xfrm>
          <a:custGeom>
            <a:avLst/>
            <a:gdLst/>
            <a:ahLst/>
            <a:cxnLst/>
            <a:rect l="l" t="t" r="r" b="b"/>
            <a:pathLst>
              <a:path w="2782132" h="1539532">
                <a:moveTo>
                  <a:pt x="96821" y="0"/>
                </a:moveTo>
                <a:lnTo>
                  <a:pt x="2685311" y="0"/>
                </a:lnTo>
                <a:cubicBezTo>
                  <a:pt x="2738784" y="0"/>
                  <a:pt x="2782132" y="43348"/>
                  <a:pt x="2782132" y="96821"/>
                </a:cubicBezTo>
                <a:lnTo>
                  <a:pt x="2782132" y="1442711"/>
                </a:lnTo>
                <a:cubicBezTo>
                  <a:pt x="2782132" y="1496184"/>
                  <a:pt x="2738784" y="1539532"/>
                  <a:pt x="2685311" y="1539532"/>
                </a:cubicBezTo>
                <a:lnTo>
                  <a:pt x="96821" y="1539532"/>
                </a:lnTo>
                <a:cubicBezTo>
                  <a:pt x="43348" y="1539532"/>
                  <a:pt x="0" y="1496184"/>
                  <a:pt x="0" y="1442711"/>
                </a:cubicBezTo>
                <a:lnTo>
                  <a:pt x="0" y="96821"/>
                </a:lnTo>
                <a:cubicBezTo>
                  <a:pt x="0" y="43384"/>
                  <a:pt x="43384" y="0"/>
                  <a:pt x="96821" y="0"/>
                </a:cubicBezTo>
                <a:close/>
              </a:path>
            </a:pathLst>
          </a:custGeom>
          <a:solidFill>
            <a:srgbClr val="4A6C8C">
              <a:alpha val="5098"/>
            </a:srgbClr>
          </a:solidFill>
          <a:ln w="10160">
            <a:solidFill>
              <a:srgbClr val="4A6C8C">
                <a:alpha val="30196"/>
              </a:srgbClr>
            </a:solidFill>
            <a:prstDash val="solid"/>
          </a:ln>
        </p:spPr>
        <p:txBody>
          <a:bodyPr/>
          <a:lstStyle/>
          <a:p>
            <a:endParaRPr lang="en-US"/>
          </a:p>
        </p:txBody>
      </p:sp>
      <p:sp>
        <p:nvSpPr>
          <p:cNvPr id="5" name="Text 3"/>
          <p:cNvSpPr/>
          <p:nvPr/>
        </p:nvSpPr>
        <p:spPr>
          <a:xfrm>
            <a:off x="2595149" y="1235123"/>
            <a:ext cx="2590094" cy="225927"/>
          </a:xfrm>
          <a:prstGeom prst="rect">
            <a:avLst/>
          </a:prstGeom>
          <a:noFill/>
          <a:ln/>
        </p:spPr>
        <p:txBody>
          <a:bodyPr wrap="square" lIns="0" tIns="0" rIns="0" bIns="0" rtlCol="0" anchor="ctr"/>
          <a:lstStyle/>
          <a:p>
            <a:pPr algn="ctr">
              <a:lnSpc>
                <a:spcPct val="130000"/>
              </a:lnSpc>
            </a:pPr>
            <a:r>
              <a:rPr lang="en-US" sz="1100" dirty="0">
                <a:solidFill>
                  <a:schemeClr val="bg1"/>
                </a:solidFill>
              </a:rPr>
              <a:t>Boundary Extraction</a:t>
            </a:r>
          </a:p>
          <a:p>
            <a:pPr algn="ctr">
              <a:lnSpc>
                <a:spcPct val="130000"/>
              </a:lnSpc>
            </a:pPr>
            <a:endParaRPr lang="en-US" sz="1600" dirty="0"/>
          </a:p>
        </p:txBody>
      </p:sp>
      <p:sp>
        <p:nvSpPr>
          <p:cNvPr id="9" name="Shape 7"/>
          <p:cNvSpPr/>
          <p:nvPr/>
        </p:nvSpPr>
        <p:spPr>
          <a:xfrm>
            <a:off x="6864580" y="1355373"/>
            <a:ext cx="4679719" cy="3035652"/>
          </a:xfrm>
          <a:custGeom>
            <a:avLst/>
            <a:gdLst/>
            <a:ahLst/>
            <a:cxnLst/>
            <a:rect l="l" t="t" r="r" b="b"/>
            <a:pathLst>
              <a:path w="2782132" h="1539532">
                <a:moveTo>
                  <a:pt x="96821" y="0"/>
                </a:moveTo>
                <a:lnTo>
                  <a:pt x="2685311" y="0"/>
                </a:lnTo>
                <a:cubicBezTo>
                  <a:pt x="2738784" y="0"/>
                  <a:pt x="2782132" y="43348"/>
                  <a:pt x="2782132" y="96821"/>
                </a:cubicBezTo>
                <a:lnTo>
                  <a:pt x="2782132" y="1442711"/>
                </a:lnTo>
                <a:cubicBezTo>
                  <a:pt x="2782132" y="1496184"/>
                  <a:pt x="2738784" y="1539532"/>
                  <a:pt x="2685311" y="1539532"/>
                </a:cubicBezTo>
                <a:lnTo>
                  <a:pt x="96821" y="1539532"/>
                </a:lnTo>
                <a:cubicBezTo>
                  <a:pt x="43348" y="1539532"/>
                  <a:pt x="0" y="1496184"/>
                  <a:pt x="0" y="1442711"/>
                </a:cubicBezTo>
                <a:lnTo>
                  <a:pt x="0" y="96821"/>
                </a:lnTo>
                <a:cubicBezTo>
                  <a:pt x="0" y="43384"/>
                  <a:pt x="43384" y="0"/>
                  <a:pt x="96821" y="0"/>
                </a:cubicBezTo>
                <a:close/>
              </a:path>
            </a:pathLst>
          </a:custGeom>
          <a:solidFill>
            <a:srgbClr val="5A7D7C">
              <a:alpha val="5098"/>
            </a:srgbClr>
          </a:solidFill>
          <a:ln w="10160">
            <a:solidFill>
              <a:srgbClr val="5A7D7C">
                <a:alpha val="30196"/>
              </a:srgbClr>
            </a:solidFill>
            <a:prstDash val="solid"/>
          </a:ln>
        </p:spPr>
        <p:txBody>
          <a:bodyPr/>
          <a:lstStyle/>
          <a:p>
            <a:endParaRPr lang="en-US"/>
          </a:p>
        </p:txBody>
      </p:sp>
      <p:sp>
        <p:nvSpPr>
          <p:cNvPr id="10" name="Text 8"/>
          <p:cNvSpPr/>
          <p:nvPr/>
        </p:nvSpPr>
        <p:spPr>
          <a:xfrm>
            <a:off x="7909392" y="1063825"/>
            <a:ext cx="2590094" cy="225927"/>
          </a:xfrm>
          <a:prstGeom prst="rect">
            <a:avLst/>
          </a:prstGeom>
          <a:noFill/>
          <a:ln/>
        </p:spPr>
        <p:txBody>
          <a:bodyPr wrap="square" lIns="0" tIns="0" rIns="0" bIns="0" rtlCol="0" anchor="ctr"/>
          <a:lstStyle/>
          <a:p>
            <a:pPr algn="ctr">
              <a:lnSpc>
                <a:spcPct val="130000"/>
              </a:lnSpc>
            </a:pPr>
            <a:r>
              <a:rPr lang="en-US" sz="1100" dirty="0">
                <a:solidFill>
                  <a:schemeClr val="bg1"/>
                </a:solidFill>
              </a:rPr>
              <a:t>Boundary Thickening</a:t>
            </a:r>
          </a:p>
        </p:txBody>
      </p:sp>
      <p:sp>
        <p:nvSpPr>
          <p:cNvPr id="36" name="Shape 34"/>
          <p:cNvSpPr/>
          <p:nvPr/>
        </p:nvSpPr>
        <p:spPr>
          <a:xfrm>
            <a:off x="4393477" y="3324255"/>
            <a:ext cx="3405046" cy="419579"/>
          </a:xfrm>
          <a:custGeom>
            <a:avLst/>
            <a:gdLst/>
            <a:ahLst/>
            <a:cxnLst/>
            <a:rect l="l" t="t" r="r" b="b"/>
            <a:pathLst>
              <a:path w="3405046" h="419579">
                <a:moveTo>
                  <a:pt x="64552" y="0"/>
                </a:moveTo>
                <a:lnTo>
                  <a:pt x="3340493" y="0"/>
                </a:lnTo>
                <a:cubicBezTo>
                  <a:pt x="3376145" y="0"/>
                  <a:pt x="3405046" y="28901"/>
                  <a:pt x="3405046" y="64552"/>
                </a:cubicBezTo>
                <a:lnTo>
                  <a:pt x="3405046" y="355027"/>
                </a:lnTo>
                <a:cubicBezTo>
                  <a:pt x="3405046" y="390678"/>
                  <a:pt x="3376145" y="419579"/>
                  <a:pt x="3340493" y="419579"/>
                </a:cubicBezTo>
                <a:lnTo>
                  <a:pt x="64552" y="419579"/>
                </a:lnTo>
                <a:cubicBezTo>
                  <a:pt x="28901" y="419579"/>
                  <a:pt x="0" y="390678"/>
                  <a:pt x="0" y="355027"/>
                </a:cubicBezTo>
                <a:lnTo>
                  <a:pt x="0" y="64552"/>
                </a:lnTo>
                <a:cubicBezTo>
                  <a:pt x="0" y="28901"/>
                  <a:pt x="28901" y="0"/>
                  <a:pt x="64552" y="0"/>
                </a:cubicBezTo>
                <a:close/>
              </a:path>
            </a:pathLst>
          </a:custGeom>
          <a:solidFill>
            <a:srgbClr val="1A1D21">
              <a:alpha val="50196"/>
            </a:srgbClr>
          </a:solidFill>
          <a:ln/>
        </p:spPr>
        <p:txBody>
          <a:bodyPr/>
          <a:lstStyle/>
          <a:p>
            <a:endParaRPr lang="en-US"/>
          </a:p>
        </p:txBody>
      </p:sp>
      <p:pic>
        <p:nvPicPr>
          <p:cNvPr id="58" name="Picture 57">
            <a:extLst>
              <a:ext uri="{FF2B5EF4-FFF2-40B4-BE49-F238E27FC236}">
                <a16:creationId xmlns:a16="http://schemas.microsoft.com/office/drawing/2014/main" id="{8A69A93B-F828-D5D7-400C-246C8656D8F2}"/>
              </a:ext>
            </a:extLst>
          </p:cNvPr>
          <p:cNvPicPr>
            <a:picLocks noChangeAspect="1"/>
          </p:cNvPicPr>
          <p:nvPr/>
        </p:nvPicPr>
        <p:blipFill>
          <a:blip r:embed="rId3"/>
          <a:stretch>
            <a:fillRect/>
          </a:stretch>
        </p:blipFill>
        <p:spPr>
          <a:xfrm>
            <a:off x="2158558" y="1587711"/>
            <a:ext cx="3801235" cy="2570975"/>
          </a:xfrm>
          <a:prstGeom prst="rect">
            <a:avLst/>
          </a:prstGeom>
        </p:spPr>
      </p:pic>
      <p:pic>
        <p:nvPicPr>
          <p:cNvPr id="60" name="Picture 59">
            <a:extLst>
              <a:ext uri="{FF2B5EF4-FFF2-40B4-BE49-F238E27FC236}">
                <a16:creationId xmlns:a16="http://schemas.microsoft.com/office/drawing/2014/main" id="{5850672F-B75F-FD1A-0860-D7DF84318B3A}"/>
              </a:ext>
            </a:extLst>
          </p:cNvPr>
          <p:cNvPicPr>
            <a:picLocks noChangeAspect="1"/>
          </p:cNvPicPr>
          <p:nvPr/>
        </p:nvPicPr>
        <p:blipFill>
          <a:blip r:embed="rId4"/>
          <a:stretch>
            <a:fillRect/>
          </a:stretch>
        </p:blipFill>
        <p:spPr>
          <a:xfrm>
            <a:off x="7112868" y="1555669"/>
            <a:ext cx="4025319" cy="2705079"/>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static.vecteezy.com/4bb4c5178ffa5312d9bf2c80f75ab4e1d50ac3c8.jpg"/>
          <p:cNvPicPr>
            <a:picLocks noChangeAspect="1"/>
          </p:cNvPicPr>
          <p:nvPr/>
        </p:nvPicPr>
        <p:blipFill>
          <a:blip r:embed="rId3">
            <a:alphaModFix amt="20000"/>
          </a:blip>
          <a:srcRect t="2067" b="2067"/>
          <a:stretch/>
        </p:blipFill>
        <p:spPr>
          <a:xfrm>
            <a:off x="0" y="0"/>
            <a:ext cx="12192000" cy="6858001"/>
          </a:xfrm>
          <a:prstGeom prst="roundRect">
            <a:avLst>
              <a:gd name="adj" fmla="val 0"/>
            </a:avLst>
          </a:prstGeom>
        </p:spPr>
      </p:pic>
      <p:sp>
        <p:nvSpPr>
          <p:cNvPr id="3" name="Shape 0"/>
          <p:cNvSpPr/>
          <p:nvPr/>
        </p:nvSpPr>
        <p:spPr>
          <a:xfrm>
            <a:off x="0" y="1"/>
            <a:ext cx="12192000" cy="6858000"/>
          </a:xfrm>
          <a:custGeom>
            <a:avLst/>
            <a:gdLst/>
            <a:ahLst/>
            <a:cxnLst/>
            <a:rect l="l" t="t" r="r" b="b"/>
            <a:pathLst>
              <a:path w="12192000" h="7792065">
                <a:moveTo>
                  <a:pt x="0" y="0"/>
                </a:moveTo>
                <a:lnTo>
                  <a:pt x="12192000" y="0"/>
                </a:lnTo>
                <a:lnTo>
                  <a:pt x="12192000" y="7792065"/>
                </a:lnTo>
                <a:lnTo>
                  <a:pt x="0" y="7792065"/>
                </a:lnTo>
                <a:lnTo>
                  <a:pt x="0" y="0"/>
                </a:lnTo>
                <a:close/>
              </a:path>
            </a:pathLst>
          </a:custGeom>
          <a:gradFill flip="none" rotWithShape="1">
            <a:gsLst>
              <a:gs pos="0">
                <a:srgbClr val="1A1D21">
                  <a:alpha val="95000"/>
                </a:srgbClr>
              </a:gs>
              <a:gs pos="50000">
                <a:srgbClr val="4A6C8C">
                  <a:alpha val="30000"/>
                </a:srgbClr>
              </a:gs>
              <a:gs pos="100000">
                <a:srgbClr val="1A1D21">
                  <a:alpha val="98000"/>
                </a:srgbClr>
              </a:gs>
            </a:gsLst>
            <a:lin ang="2700000" scaled="1"/>
          </a:gradFill>
          <a:ln/>
        </p:spPr>
        <p:txBody>
          <a:bodyPr/>
          <a:lstStyle/>
          <a:p>
            <a:endParaRPr lang="en-US" dirty="0"/>
          </a:p>
        </p:txBody>
      </p:sp>
      <p:sp>
        <p:nvSpPr>
          <p:cNvPr id="4" name="Shape 1"/>
          <p:cNvSpPr/>
          <p:nvPr/>
        </p:nvSpPr>
        <p:spPr>
          <a:xfrm>
            <a:off x="327742" y="474610"/>
            <a:ext cx="2744839" cy="458839"/>
          </a:xfrm>
          <a:custGeom>
            <a:avLst/>
            <a:gdLst/>
            <a:ahLst/>
            <a:cxnLst/>
            <a:rect l="l" t="t" r="r" b="b"/>
            <a:pathLst>
              <a:path w="2744839" h="458839">
                <a:moveTo>
                  <a:pt x="65550" y="0"/>
                </a:moveTo>
                <a:lnTo>
                  <a:pt x="2679289" y="0"/>
                </a:lnTo>
                <a:cubicBezTo>
                  <a:pt x="2715491" y="0"/>
                  <a:pt x="2744839" y="29348"/>
                  <a:pt x="2744839" y="65550"/>
                </a:cubicBezTo>
                <a:lnTo>
                  <a:pt x="2744839" y="393289"/>
                </a:lnTo>
                <a:cubicBezTo>
                  <a:pt x="2744839" y="429491"/>
                  <a:pt x="2715491" y="458839"/>
                  <a:pt x="2679289" y="458839"/>
                </a:cubicBezTo>
                <a:lnTo>
                  <a:pt x="65550" y="458839"/>
                </a:lnTo>
                <a:cubicBezTo>
                  <a:pt x="29348" y="458839"/>
                  <a:pt x="0" y="429491"/>
                  <a:pt x="0" y="393289"/>
                </a:cubicBezTo>
                <a:lnTo>
                  <a:pt x="0" y="65550"/>
                </a:lnTo>
                <a:cubicBezTo>
                  <a:pt x="0" y="29372"/>
                  <a:pt x="29372" y="0"/>
                  <a:pt x="65550" y="0"/>
                </a:cubicBezTo>
                <a:close/>
              </a:path>
            </a:pathLst>
          </a:custGeom>
          <a:solidFill>
            <a:srgbClr val="4A6C8C"/>
          </a:solidFill>
          <a:ln/>
        </p:spPr>
        <p:txBody>
          <a:bodyPr/>
          <a:lstStyle/>
          <a:p>
            <a:endParaRPr lang="en-US"/>
          </a:p>
        </p:txBody>
      </p:sp>
      <p:sp>
        <p:nvSpPr>
          <p:cNvPr id="5" name="Text 2"/>
          <p:cNvSpPr/>
          <p:nvPr/>
        </p:nvSpPr>
        <p:spPr>
          <a:xfrm>
            <a:off x="589935" y="592600"/>
            <a:ext cx="2317136" cy="216310"/>
          </a:xfrm>
          <a:prstGeom prst="rect">
            <a:avLst/>
          </a:prstGeom>
          <a:noFill/>
          <a:ln/>
        </p:spPr>
        <p:txBody>
          <a:bodyPr wrap="square" lIns="0" tIns="0" rIns="0" bIns="0" rtlCol="0" anchor="ctr"/>
          <a:lstStyle/>
          <a:p>
            <a:pPr>
              <a:lnSpc>
                <a:spcPct val="110000"/>
              </a:lnSpc>
            </a:pPr>
            <a:r>
              <a:rPr lang="en-US" sz="1548" b="1" kern="0" spc="155" dirty="0">
                <a:solidFill>
                  <a:srgbClr val="E0E2E5"/>
                </a:solidFill>
                <a:latin typeface="Quattrocento Sans" pitchFamily="34" charset="0"/>
                <a:ea typeface="Quattrocento Sans" pitchFamily="34" charset="-122"/>
                <a:cs typeface="Quattrocento Sans" pitchFamily="34" charset="-120"/>
              </a:rPr>
              <a:t>FINAL CONCLUSIONS</a:t>
            </a:r>
            <a:endParaRPr lang="en-US" sz="1600" dirty="0"/>
          </a:p>
        </p:txBody>
      </p:sp>
      <p:sp>
        <p:nvSpPr>
          <p:cNvPr id="6" name="Text 3"/>
          <p:cNvSpPr/>
          <p:nvPr/>
        </p:nvSpPr>
        <p:spPr>
          <a:xfrm>
            <a:off x="327742" y="1129990"/>
            <a:ext cx="11782323" cy="1229032"/>
          </a:xfrm>
          <a:prstGeom prst="rect">
            <a:avLst/>
          </a:prstGeom>
          <a:noFill/>
          <a:ln/>
        </p:spPr>
        <p:txBody>
          <a:bodyPr wrap="square" lIns="0" tIns="0" rIns="0" bIns="0" rtlCol="0" anchor="ctr"/>
          <a:lstStyle/>
          <a:p>
            <a:pPr>
              <a:lnSpc>
                <a:spcPct val="100000"/>
              </a:lnSpc>
            </a:pPr>
            <a:r>
              <a:rPr lang="en-US" sz="3871" b="1" dirty="0">
                <a:solidFill>
                  <a:srgbClr val="E0E2E5"/>
                </a:solidFill>
                <a:latin typeface="Liter" pitchFamily="34" charset="0"/>
                <a:ea typeface="Liter" pitchFamily="34" charset="-122"/>
                <a:cs typeface="Liter" pitchFamily="34" charset="-120"/>
              </a:rPr>
              <a:t>Research Findings &amp;</a:t>
            </a:r>
            <a:endParaRPr lang="en-US" sz="1600" dirty="0"/>
          </a:p>
          <a:p>
            <a:pPr>
              <a:lnSpc>
                <a:spcPct val="100000"/>
              </a:lnSpc>
            </a:pPr>
            <a:r>
              <a:rPr lang="en-US" sz="3871" b="1" dirty="0">
                <a:solidFill>
                  <a:srgbClr val="E0E2E5"/>
                </a:solidFill>
                <a:latin typeface="Liter" pitchFamily="34" charset="0"/>
                <a:ea typeface="Liter" pitchFamily="34" charset="-122"/>
                <a:cs typeface="Liter" pitchFamily="34" charset="-120"/>
              </a:rPr>
              <a:t>Real-World Applications</a:t>
            </a:r>
            <a:endParaRPr lang="en-US" sz="1600" dirty="0"/>
          </a:p>
        </p:txBody>
      </p:sp>
      <p:sp>
        <p:nvSpPr>
          <p:cNvPr id="7" name="Shape 4"/>
          <p:cNvSpPr/>
          <p:nvPr/>
        </p:nvSpPr>
        <p:spPr>
          <a:xfrm>
            <a:off x="344129" y="2555667"/>
            <a:ext cx="5653548" cy="2720258"/>
          </a:xfrm>
          <a:custGeom>
            <a:avLst/>
            <a:gdLst/>
            <a:ahLst/>
            <a:cxnLst/>
            <a:rect l="l" t="t" r="r" b="b"/>
            <a:pathLst>
              <a:path w="5653548" h="2720258">
                <a:moveTo>
                  <a:pt x="32774" y="0"/>
                </a:moveTo>
                <a:lnTo>
                  <a:pt x="5555238" y="0"/>
                </a:lnTo>
                <a:cubicBezTo>
                  <a:pt x="5609533" y="0"/>
                  <a:pt x="5653548" y="44015"/>
                  <a:pt x="5653548" y="98310"/>
                </a:cubicBezTo>
                <a:lnTo>
                  <a:pt x="5653548" y="2621948"/>
                </a:lnTo>
                <a:cubicBezTo>
                  <a:pt x="5653548" y="2676243"/>
                  <a:pt x="5609533" y="2720258"/>
                  <a:pt x="5555238" y="2720258"/>
                </a:cubicBezTo>
                <a:lnTo>
                  <a:pt x="32774" y="2720258"/>
                </a:lnTo>
                <a:cubicBezTo>
                  <a:pt x="14674" y="2720258"/>
                  <a:pt x="0" y="2705585"/>
                  <a:pt x="0" y="2687484"/>
                </a:cubicBezTo>
                <a:lnTo>
                  <a:pt x="0" y="32774"/>
                </a:lnTo>
                <a:cubicBezTo>
                  <a:pt x="0" y="14686"/>
                  <a:pt x="14686" y="0"/>
                  <a:pt x="32774" y="0"/>
                </a:cubicBezTo>
                <a:close/>
              </a:path>
            </a:pathLst>
          </a:custGeom>
          <a:gradFill flip="none" rotWithShape="1">
            <a:gsLst>
              <a:gs pos="0">
                <a:srgbClr val="4A6C8C">
                  <a:alpha val="20000"/>
                </a:srgbClr>
              </a:gs>
              <a:gs pos="100000">
                <a:srgbClr val="4A6C8C">
                  <a:alpha val="5000"/>
                </a:srgbClr>
              </a:gs>
            </a:gsLst>
            <a:lin ang="2700000" scaled="1"/>
          </a:gradFill>
          <a:ln/>
        </p:spPr>
        <p:txBody>
          <a:bodyPr/>
          <a:lstStyle/>
          <a:p>
            <a:endParaRPr lang="en-US"/>
          </a:p>
        </p:txBody>
      </p:sp>
      <p:sp>
        <p:nvSpPr>
          <p:cNvPr id="8" name="Shape 5"/>
          <p:cNvSpPr/>
          <p:nvPr/>
        </p:nvSpPr>
        <p:spPr>
          <a:xfrm>
            <a:off x="344129" y="2555667"/>
            <a:ext cx="32774" cy="2720258"/>
          </a:xfrm>
          <a:custGeom>
            <a:avLst/>
            <a:gdLst/>
            <a:ahLst/>
            <a:cxnLst/>
            <a:rect l="l" t="t" r="r" b="b"/>
            <a:pathLst>
              <a:path w="32774" h="2720258">
                <a:moveTo>
                  <a:pt x="32774" y="0"/>
                </a:moveTo>
                <a:lnTo>
                  <a:pt x="32774" y="0"/>
                </a:lnTo>
                <a:lnTo>
                  <a:pt x="32774" y="2720258"/>
                </a:lnTo>
                <a:lnTo>
                  <a:pt x="32774" y="2720258"/>
                </a:lnTo>
                <a:cubicBezTo>
                  <a:pt x="14674" y="2720258"/>
                  <a:pt x="0" y="2705585"/>
                  <a:pt x="0" y="2687484"/>
                </a:cubicBezTo>
                <a:lnTo>
                  <a:pt x="0" y="32774"/>
                </a:lnTo>
                <a:cubicBezTo>
                  <a:pt x="0" y="14686"/>
                  <a:pt x="14686" y="0"/>
                  <a:pt x="32774" y="0"/>
                </a:cubicBezTo>
                <a:close/>
              </a:path>
            </a:pathLst>
          </a:custGeom>
          <a:solidFill>
            <a:srgbClr val="4A6C8C"/>
          </a:solidFill>
          <a:ln/>
        </p:spPr>
        <p:txBody>
          <a:bodyPr/>
          <a:lstStyle/>
          <a:p>
            <a:endParaRPr lang="en-US"/>
          </a:p>
        </p:txBody>
      </p:sp>
      <p:sp>
        <p:nvSpPr>
          <p:cNvPr id="9" name="Shape 6"/>
          <p:cNvSpPr/>
          <p:nvPr/>
        </p:nvSpPr>
        <p:spPr>
          <a:xfrm>
            <a:off x="577645" y="2801369"/>
            <a:ext cx="163871" cy="163871"/>
          </a:xfrm>
          <a:custGeom>
            <a:avLst/>
            <a:gdLst/>
            <a:ahLst/>
            <a:cxnLst/>
            <a:rect l="l" t="t" r="r" b="b"/>
            <a:pathLst>
              <a:path w="163871" h="163871">
                <a:moveTo>
                  <a:pt x="10242" y="20484"/>
                </a:moveTo>
                <a:cubicBezTo>
                  <a:pt x="6113" y="20484"/>
                  <a:pt x="2368" y="22980"/>
                  <a:pt x="768" y="26821"/>
                </a:cubicBezTo>
                <a:cubicBezTo>
                  <a:pt x="-832" y="30662"/>
                  <a:pt x="64" y="35047"/>
                  <a:pt x="3009" y="37959"/>
                </a:cubicBezTo>
                <a:lnTo>
                  <a:pt x="61452" y="96434"/>
                </a:lnTo>
                <a:lnTo>
                  <a:pt x="61452" y="133145"/>
                </a:lnTo>
                <a:cubicBezTo>
                  <a:pt x="61452" y="135866"/>
                  <a:pt x="62540" y="138458"/>
                  <a:pt x="64460" y="140379"/>
                </a:cubicBezTo>
                <a:lnTo>
                  <a:pt x="84944" y="160862"/>
                </a:lnTo>
                <a:cubicBezTo>
                  <a:pt x="87889" y="163807"/>
                  <a:pt x="92273" y="164671"/>
                  <a:pt x="96114" y="163071"/>
                </a:cubicBezTo>
                <a:cubicBezTo>
                  <a:pt x="99955" y="161471"/>
                  <a:pt x="102419" y="157758"/>
                  <a:pt x="102419" y="153629"/>
                </a:cubicBezTo>
                <a:lnTo>
                  <a:pt x="102419" y="96434"/>
                </a:lnTo>
                <a:lnTo>
                  <a:pt x="160862" y="37991"/>
                </a:lnTo>
                <a:cubicBezTo>
                  <a:pt x="163807" y="35047"/>
                  <a:pt x="164671" y="30662"/>
                  <a:pt x="163071" y="26821"/>
                </a:cubicBezTo>
                <a:cubicBezTo>
                  <a:pt x="161471" y="22980"/>
                  <a:pt x="157758" y="20484"/>
                  <a:pt x="153629" y="20484"/>
                </a:cubicBezTo>
                <a:lnTo>
                  <a:pt x="10242" y="20484"/>
                </a:lnTo>
                <a:close/>
              </a:path>
            </a:pathLst>
          </a:custGeom>
          <a:solidFill>
            <a:srgbClr val="B8A890"/>
          </a:solidFill>
          <a:ln/>
        </p:spPr>
        <p:txBody>
          <a:bodyPr/>
          <a:lstStyle/>
          <a:p>
            <a:endParaRPr lang="en-US"/>
          </a:p>
        </p:txBody>
      </p:sp>
      <p:sp>
        <p:nvSpPr>
          <p:cNvPr id="10" name="Text 7"/>
          <p:cNvSpPr/>
          <p:nvPr/>
        </p:nvSpPr>
        <p:spPr>
          <a:xfrm>
            <a:off x="762000" y="2752312"/>
            <a:ext cx="5137355" cy="262194"/>
          </a:xfrm>
          <a:prstGeom prst="rect">
            <a:avLst/>
          </a:prstGeom>
          <a:noFill/>
          <a:ln/>
        </p:spPr>
        <p:txBody>
          <a:bodyPr wrap="square" lIns="0" tIns="0" rIns="0" bIns="0" rtlCol="0" anchor="ctr"/>
          <a:lstStyle/>
          <a:p>
            <a:pPr>
              <a:lnSpc>
                <a:spcPct val="110000"/>
              </a:lnSpc>
            </a:pPr>
            <a:r>
              <a:rPr lang="en-US" sz="1548" b="1" dirty="0">
                <a:solidFill>
                  <a:srgbClr val="E0E2E5"/>
                </a:solidFill>
                <a:latin typeface="Liter" pitchFamily="34" charset="0"/>
                <a:ea typeface="Liter" pitchFamily="34" charset="-122"/>
                <a:cs typeface="Liter" pitchFamily="34" charset="-120"/>
              </a:rPr>
              <a:t>Noise Reduction Findings</a:t>
            </a:r>
            <a:endParaRPr lang="en-US" sz="1600" dirty="0"/>
          </a:p>
        </p:txBody>
      </p:sp>
      <p:sp>
        <p:nvSpPr>
          <p:cNvPr id="11" name="Shape 8"/>
          <p:cNvSpPr/>
          <p:nvPr/>
        </p:nvSpPr>
        <p:spPr>
          <a:xfrm>
            <a:off x="573548" y="3145498"/>
            <a:ext cx="5227484" cy="917677"/>
          </a:xfrm>
          <a:custGeom>
            <a:avLst/>
            <a:gdLst/>
            <a:ahLst/>
            <a:cxnLst/>
            <a:rect l="l" t="t" r="r" b="b"/>
            <a:pathLst>
              <a:path w="5227484" h="917677">
                <a:moveTo>
                  <a:pt x="32774" y="0"/>
                </a:moveTo>
                <a:lnTo>
                  <a:pt x="5161934" y="0"/>
                </a:lnTo>
                <a:cubicBezTo>
                  <a:pt x="5198136" y="0"/>
                  <a:pt x="5227484" y="29348"/>
                  <a:pt x="5227484" y="65550"/>
                </a:cubicBezTo>
                <a:lnTo>
                  <a:pt x="5227484" y="852128"/>
                </a:lnTo>
                <a:cubicBezTo>
                  <a:pt x="5227484" y="888330"/>
                  <a:pt x="5198136" y="917677"/>
                  <a:pt x="5161934" y="917677"/>
                </a:cubicBezTo>
                <a:lnTo>
                  <a:pt x="32774" y="917677"/>
                </a:lnTo>
                <a:cubicBezTo>
                  <a:pt x="14674" y="917677"/>
                  <a:pt x="0" y="903004"/>
                  <a:pt x="0" y="884903"/>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12" name="Shape 9"/>
          <p:cNvSpPr/>
          <p:nvPr/>
        </p:nvSpPr>
        <p:spPr>
          <a:xfrm>
            <a:off x="573548" y="3145498"/>
            <a:ext cx="32774" cy="917677"/>
          </a:xfrm>
          <a:custGeom>
            <a:avLst/>
            <a:gdLst/>
            <a:ahLst/>
            <a:cxnLst/>
            <a:rect l="l" t="t" r="r" b="b"/>
            <a:pathLst>
              <a:path w="32774" h="917677">
                <a:moveTo>
                  <a:pt x="32774" y="0"/>
                </a:moveTo>
                <a:lnTo>
                  <a:pt x="32774" y="0"/>
                </a:lnTo>
                <a:lnTo>
                  <a:pt x="32774" y="917677"/>
                </a:lnTo>
                <a:lnTo>
                  <a:pt x="32774" y="917677"/>
                </a:lnTo>
                <a:cubicBezTo>
                  <a:pt x="14674" y="917677"/>
                  <a:pt x="0" y="903004"/>
                  <a:pt x="0" y="884903"/>
                </a:cubicBezTo>
                <a:lnTo>
                  <a:pt x="0" y="32774"/>
                </a:lnTo>
                <a:cubicBezTo>
                  <a:pt x="0" y="14686"/>
                  <a:pt x="14686" y="0"/>
                  <a:pt x="32774" y="0"/>
                </a:cubicBezTo>
                <a:close/>
              </a:path>
            </a:pathLst>
          </a:custGeom>
          <a:solidFill>
            <a:srgbClr val="4A6C8C"/>
          </a:solidFill>
          <a:ln/>
        </p:spPr>
        <p:txBody>
          <a:bodyPr/>
          <a:lstStyle/>
          <a:p>
            <a:endParaRPr lang="en-US"/>
          </a:p>
        </p:txBody>
      </p:sp>
      <p:sp>
        <p:nvSpPr>
          <p:cNvPr id="13" name="Text 10"/>
          <p:cNvSpPr/>
          <p:nvPr/>
        </p:nvSpPr>
        <p:spPr>
          <a:xfrm>
            <a:off x="721032" y="3276595"/>
            <a:ext cx="5022645" cy="229419"/>
          </a:xfrm>
          <a:prstGeom prst="rect">
            <a:avLst/>
          </a:prstGeom>
          <a:noFill/>
          <a:ln/>
        </p:spPr>
        <p:txBody>
          <a:bodyPr wrap="square" lIns="0" tIns="0" rIns="0" bIns="0" rtlCol="0" anchor="ctr"/>
          <a:lstStyle/>
          <a:p>
            <a:pPr>
              <a:lnSpc>
                <a:spcPct val="130000"/>
              </a:lnSpc>
            </a:pPr>
            <a:r>
              <a:rPr lang="en-US" sz="1161" b="1" dirty="0">
                <a:solidFill>
                  <a:srgbClr val="4A6C8C"/>
                </a:solidFill>
                <a:latin typeface="Quattrocento Sans" pitchFamily="34" charset="0"/>
                <a:ea typeface="Quattrocento Sans" pitchFamily="34" charset="-122"/>
                <a:cs typeface="Quattrocento Sans" pitchFamily="34" charset="-120"/>
              </a:rPr>
              <a:t>Salt &amp; Pepper Noise</a:t>
            </a:r>
            <a:endParaRPr lang="en-US" sz="1600" dirty="0"/>
          </a:p>
        </p:txBody>
      </p:sp>
      <p:sp>
        <p:nvSpPr>
          <p:cNvPr id="14" name="Text 11"/>
          <p:cNvSpPr/>
          <p:nvPr/>
        </p:nvSpPr>
        <p:spPr>
          <a:xfrm>
            <a:off x="721032" y="3571563"/>
            <a:ext cx="5014452" cy="360516"/>
          </a:xfrm>
          <a:prstGeom prst="rect">
            <a:avLst/>
          </a:prstGeom>
          <a:noFill/>
          <a:ln/>
        </p:spPr>
        <p:txBody>
          <a:bodyPr wrap="square" lIns="0" tIns="0" rIns="0" bIns="0" rtlCol="0" anchor="ctr"/>
          <a:lstStyle/>
          <a:p>
            <a:pPr>
              <a:lnSpc>
                <a:spcPct val="110000"/>
              </a:lnSpc>
            </a:pPr>
            <a:r>
              <a:rPr lang="en-US" sz="1032" b="1" dirty="0">
                <a:solidFill>
                  <a:srgbClr val="B8A890"/>
                </a:solidFill>
                <a:latin typeface="Quattrocento Sans" pitchFamily="34" charset="0"/>
                <a:ea typeface="Quattrocento Sans" pitchFamily="34" charset="-122"/>
                <a:cs typeface="Quattrocento Sans" pitchFamily="34" charset="-120"/>
              </a:rPr>
              <a:t>Optimal Filter:</a:t>
            </a:r>
            <a:r>
              <a:rPr lang="en-US" sz="1032" dirty="0">
                <a:solidFill>
                  <a:srgbClr val="E0E2E5">
                    <a:alpha val="90000"/>
                  </a:srgbClr>
                </a:solidFill>
                <a:latin typeface="Quattrocento Sans" pitchFamily="34" charset="0"/>
                <a:ea typeface="Quattrocento Sans" pitchFamily="34" charset="-122"/>
                <a:cs typeface="Quattrocento Sans" pitchFamily="34" charset="-120"/>
              </a:rPr>
              <a:t> Median Filter - superior performance in preserving edges while removing extreme outliers, achieving 18dB PSNR gain.</a:t>
            </a:r>
            <a:endParaRPr lang="en-US" sz="1600" dirty="0"/>
          </a:p>
        </p:txBody>
      </p:sp>
      <p:sp>
        <p:nvSpPr>
          <p:cNvPr id="15" name="Shape 12"/>
          <p:cNvSpPr/>
          <p:nvPr/>
        </p:nvSpPr>
        <p:spPr>
          <a:xfrm>
            <a:off x="573548" y="4161498"/>
            <a:ext cx="5227484" cy="917677"/>
          </a:xfrm>
          <a:custGeom>
            <a:avLst/>
            <a:gdLst/>
            <a:ahLst/>
            <a:cxnLst/>
            <a:rect l="l" t="t" r="r" b="b"/>
            <a:pathLst>
              <a:path w="5227484" h="917677">
                <a:moveTo>
                  <a:pt x="32774" y="0"/>
                </a:moveTo>
                <a:lnTo>
                  <a:pt x="5161934" y="0"/>
                </a:lnTo>
                <a:cubicBezTo>
                  <a:pt x="5198136" y="0"/>
                  <a:pt x="5227484" y="29348"/>
                  <a:pt x="5227484" y="65550"/>
                </a:cubicBezTo>
                <a:lnTo>
                  <a:pt x="5227484" y="852128"/>
                </a:lnTo>
                <a:cubicBezTo>
                  <a:pt x="5227484" y="888330"/>
                  <a:pt x="5198136" y="917677"/>
                  <a:pt x="5161934" y="917677"/>
                </a:cubicBezTo>
                <a:lnTo>
                  <a:pt x="32774" y="917677"/>
                </a:lnTo>
                <a:cubicBezTo>
                  <a:pt x="14674" y="917677"/>
                  <a:pt x="0" y="903004"/>
                  <a:pt x="0" y="884903"/>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16" name="Shape 13"/>
          <p:cNvSpPr/>
          <p:nvPr/>
        </p:nvSpPr>
        <p:spPr>
          <a:xfrm>
            <a:off x="573548" y="4161498"/>
            <a:ext cx="32774" cy="917677"/>
          </a:xfrm>
          <a:custGeom>
            <a:avLst/>
            <a:gdLst/>
            <a:ahLst/>
            <a:cxnLst/>
            <a:rect l="l" t="t" r="r" b="b"/>
            <a:pathLst>
              <a:path w="32774" h="917677">
                <a:moveTo>
                  <a:pt x="32774" y="0"/>
                </a:moveTo>
                <a:lnTo>
                  <a:pt x="32774" y="0"/>
                </a:lnTo>
                <a:lnTo>
                  <a:pt x="32774" y="917677"/>
                </a:lnTo>
                <a:lnTo>
                  <a:pt x="32774" y="917677"/>
                </a:lnTo>
                <a:cubicBezTo>
                  <a:pt x="14674" y="917677"/>
                  <a:pt x="0" y="903004"/>
                  <a:pt x="0" y="884903"/>
                </a:cubicBezTo>
                <a:lnTo>
                  <a:pt x="0" y="32774"/>
                </a:lnTo>
                <a:cubicBezTo>
                  <a:pt x="0" y="14686"/>
                  <a:pt x="14686" y="0"/>
                  <a:pt x="32774" y="0"/>
                </a:cubicBezTo>
                <a:close/>
              </a:path>
            </a:pathLst>
          </a:custGeom>
          <a:solidFill>
            <a:srgbClr val="5A7D7C"/>
          </a:solidFill>
          <a:ln/>
        </p:spPr>
        <p:txBody>
          <a:bodyPr/>
          <a:lstStyle/>
          <a:p>
            <a:endParaRPr lang="en-US"/>
          </a:p>
        </p:txBody>
      </p:sp>
      <p:sp>
        <p:nvSpPr>
          <p:cNvPr id="17" name="Text 14"/>
          <p:cNvSpPr/>
          <p:nvPr/>
        </p:nvSpPr>
        <p:spPr>
          <a:xfrm>
            <a:off x="721032" y="4292595"/>
            <a:ext cx="5022645" cy="229419"/>
          </a:xfrm>
          <a:prstGeom prst="rect">
            <a:avLst/>
          </a:prstGeom>
          <a:noFill/>
          <a:ln/>
        </p:spPr>
        <p:txBody>
          <a:bodyPr wrap="square" lIns="0" tIns="0" rIns="0" bIns="0" rtlCol="0" anchor="ctr"/>
          <a:lstStyle/>
          <a:p>
            <a:pPr>
              <a:lnSpc>
                <a:spcPct val="130000"/>
              </a:lnSpc>
            </a:pPr>
            <a:r>
              <a:rPr lang="en-US" sz="1161" b="1" dirty="0">
                <a:solidFill>
                  <a:srgbClr val="5A7D7C"/>
                </a:solidFill>
                <a:latin typeface="Quattrocento Sans" pitchFamily="34" charset="0"/>
                <a:ea typeface="Quattrocento Sans" pitchFamily="34" charset="-122"/>
                <a:cs typeface="Quattrocento Sans" pitchFamily="34" charset="-120"/>
              </a:rPr>
              <a:t>Gaussian Noise</a:t>
            </a:r>
            <a:endParaRPr lang="en-US" sz="1600" dirty="0"/>
          </a:p>
        </p:txBody>
      </p:sp>
      <p:sp>
        <p:nvSpPr>
          <p:cNvPr id="18" name="Text 15"/>
          <p:cNvSpPr/>
          <p:nvPr/>
        </p:nvSpPr>
        <p:spPr>
          <a:xfrm>
            <a:off x="721032" y="4587563"/>
            <a:ext cx="5014452" cy="360516"/>
          </a:xfrm>
          <a:prstGeom prst="rect">
            <a:avLst/>
          </a:prstGeom>
          <a:noFill/>
          <a:ln/>
        </p:spPr>
        <p:txBody>
          <a:bodyPr wrap="square" lIns="0" tIns="0" rIns="0" bIns="0" rtlCol="0" anchor="ctr"/>
          <a:lstStyle/>
          <a:p>
            <a:pPr>
              <a:lnSpc>
                <a:spcPct val="110000"/>
              </a:lnSpc>
            </a:pPr>
            <a:r>
              <a:rPr lang="en-US" sz="1032" b="1" dirty="0">
                <a:solidFill>
                  <a:srgbClr val="B8A890"/>
                </a:solidFill>
                <a:latin typeface="Quattrocento Sans" pitchFamily="34" charset="0"/>
                <a:ea typeface="Quattrocento Sans" pitchFamily="34" charset="-122"/>
                <a:cs typeface="Quattrocento Sans" pitchFamily="34" charset="-120"/>
              </a:rPr>
              <a:t>Optimal Filter:</a:t>
            </a:r>
            <a:r>
              <a:rPr lang="en-US" sz="1032" dirty="0">
                <a:solidFill>
                  <a:srgbClr val="E0E2E5">
                    <a:alpha val="90000"/>
                  </a:srgbClr>
                </a:solidFill>
                <a:latin typeface="Quattrocento Sans" pitchFamily="34" charset="0"/>
                <a:ea typeface="Quattrocento Sans" pitchFamily="34" charset="-122"/>
                <a:cs typeface="Quattrocento Sans" pitchFamily="34" charset="-120"/>
              </a:rPr>
              <a:t> Arithmetic Mean Filter - mathematically optimal for normally distributed noise with minimal detail loss.</a:t>
            </a:r>
            <a:endParaRPr lang="en-US" sz="1600" dirty="0"/>
          </a:p>
        </p:txBody>
      </p:sp>
      <p:sp>
        <p:nvSpPr>
          <p:cNvPr id="19" name="Shape 16"/>
          <p:cNvSpPr/>
          <p:nvPr/>
        </p:nvSpPr>
        <p:spPr>
          <a:xfrm>
            <a:off x="6210710" y="2555667"/>
            <a:ext cx="5653548" cy="2720258"/>
          </a:xfrm>
          <a:custGeom>
            <a:avLst/>
            <a:gdLst/>
            <a:ahLst/>
            <a:cxnLst/>
            <a:rect l="l" t="t" r="r" b="b"/>
            <a:pathLst>
              <a:path w="5653548" h="2720258">
                <a:moveTo>
                  <a:pt x="32774" y="0"/>
                </a:moveTo>
                <a:lnTo>
                  <a:pt x="5555238" y="0"/>
                </a:lnTo>
                <a:cubicBezTo>
                  <a:pt x="5609533" y="0"/>
                  <a:pt x="5653548" y="44015"/>
                  <a:pt x="5653548" y="98310"/>
                </a:cubicBezTo>
                <a:lnTo>
                  <a:pt x="5653548" y="2621948"/>
                </a:lnTo>
                <a:cubicBezTo>
                  <a:pt x="5653548" y="2676243"/>
                  <a:pt x="5609533" y="2720258"/>
                  <a:pt x="5555238" y="2720258"/>
                </a:cubicBezTo>
                <a:lnTo>
                  <a:pt x="32774" y="2720258"/>
                </a:lnTo>
                <a:cubicBezTo>
                  <a:pt x="14674" y="2720258"/>
                  <a:pt x="0" y="2705585"/>
                  <a:pt x="0" y="2687484"/>
                </a:cubicBezTo>
                <a:lnTo>
                  <a:pt x="0" y="32774"/>
                </a:lnTo>
                <a:cubicBezTo>
                  <a:pt x="0" y="14686"/>
                  <a:pt x="14686" y="0"/>
                  <a:pt x="32774" y="0"/>
                </a:cubicBezTo>
                <a:close/>
              </a:path>
            </a:pathLst>
          </a:custGeom>
          <a:gradFill flip="none" rotWithShape="1">
            <a:gsLst>
              <a:gs pos="0">
                <a:srgbClr val="5A7D7C">
                  <a:alpha val="20000"/>
                </a:srgbClr>
              </a:gs>
              <a:gs pos="100000">
                <a:srgbClr val="5A7D7C">
                  <a:alpha val="5000"/>
                </a:srgbClr>
              </a:gs>
            </a:gsLst>
            <a:lin ang="2700000" scaled="1"/>
          </a:gradFill>
          <a:ln/>
        </p:spPr>
        <p:txBody>
          <a:bodyPr/>
          <a:lstStyle/>
          <a:p>
            <a:endParaRPr lang="en-US"/>
          </a:p>
        </p:txBody>
      </p:sp>
      <p:sp>
        <p:nvSpPr>
          <p:cNvPr id="20" name="Shape 17"/>
          <p:cNvSpPr/>
          <p:nvPr/>
        </p:nvSpPr>
        <p:spPr>
          <a:xfrm>
            <a:off x="6210710" y="2555667"/>
            <a:ext cx="32774" cy="2720258"/>
          </a:xfrm>
          <a:custGeom>
            <a:avLst/>
            <a:gdLst/>
            <a:ahLst/>
            <a:cxnLst/>
            <a:rect l="l" t="t" r="r" b="b"/>
            <a:pathLst>
              <a:path w="32774" h="2720258">
                <a:moveTo>
                  <a:pt x="32774" y="0"/>
                </a:moveTo>
                <a:lnTo>
                  <a:pt x="32774" y="0"/>
                </a:lnTo>
                <a:lnTo>
                  <a:pt x="32774" y="2720258"/>
                </a:lnTo>
                <a:lnTo>
                  <a:pt x="32774" y="2720258"/>
                </a:lnTo>
                <a:cubicBezTo>
                  <a:pt x="14674" y="2720258"/>
                  <a:pt x="0" y="2705585"/>
                  <a:pt x="0" y="2687484"/>
                </a:cubicBezTo>
                <a:lnTo>
                  <a:pt x="0" y="32774"/>
                </a:lnTo>
                <a:cubicBezTo>
                  <a:pt x="0" y="14686"/>
                  <a:pt x="14686" y="0"/>
                  <a:pt x="32774" y="0"/>
                </a:cubicBezTo>
                <a:close/>
              </a:path>
            </a:pathLst>
          </a:custGeom>
          <a:solidFill>
            <a:srgbClr val="5A7D7C"/>
          </a:solidFill>
          <a:ln/>
        </p:spPr>
        <p:txBody>
          <a:bodyPr/>
          <a:lstStyle/>
          <a:p>
            <a:endParaRPr lang="en-US"/>
          </a:p>
        </p:txBody>
      </p:sp>
      <p:sp>
        <p:nvSpPr>
          <p:cNvPr id="21" name="Shape 18"/>
          <p:cNvSpPr/>
          <p:nvPr/>
        </p:nvSpPr>
        <p:spPr>
          <a:xfrm>
            <a:off x="6423742" y="2801369"/>
            <a:ext cx="204839" cy="163871"/>
          </a:xfrm>
          <a:custGeom>
            <a:avLst/>
            <a:gdLst/>
            <a:ahLst/>
            <a:cxnLst/>
            <a:rect l="l" t="t" r="r" b="b"/>
            <a:pathLst>
              <a:path w="204839" h="163871">
                <a:moveTo>
                  <a:pt x="133113" y="67373"/>
                </a:moveTo>
                <a:cubicBezTo>
                  <a:pt x="137018" y="66317"/>
                  <a:pt x="141115" y="68173"/>
                  <a:pt x="142875" y="71790"/>
                </a:cubicBezTo>
                <a:lnTo>
                  <a:pt x="148828" y="83824"/>
                </a:lnTo>
                <a:cubicBezTo>
                  <a:pt x="152125" y="84272"/>
                  <a:pt x="155357" y="85168"/>
                  <a:pt x="158398" y="86416"/>
                </a:cubicBezTo>
                <a:lnTo>
                  <a:pt x="169600" y="78959"/>
                </a:lnTo>
                <a:cubicBezTo>
                  <a:pt x="172961" y="76718"/>
                  <a:pt x="177410" y="77167"/>
                  <a:pt x="180258" y="80015"/>
                </a:cubicBezTo>
                <a:lnTo>
                  <a:pt x="186403" y="86160"/>
                </a:lnTo>
                <a:cubicBezTo>
                  <a:pt x="189252" y="89009"/>
                  <a:pt x="189700" y="93490"/>
                  <a:pt x="187459" y="96818"/>
                </a:cubicBezTo>
                <a:lnTo>
                  <a:pt x="180002" y="107988"/>
                </a:lnTo>
                <a:cubicBezTo>
                  <a:pt x="180610" y="109493"/>
                  <a:pt x="181154" y="111061"/>
                  <a:pt x="181602" y="112693"/>
                </a:cubicBezTo>
                <a:cubicBezTo>
                  <a:pt x="182050" y="114326"/>
                  <a:pt x="182338" y="115926"/>
                  <a:pt x="182563" y="117558"/>
                </a:cubicBezTo>
                <a:lnTo>
                  <a:pt x="194629" y="123511"/>
                </a:lnTo>
                <a:cubicBezTo>
                  <a:pt x="198245" y="125304"/>
                  <a:pt x="200102" y="129400"/>
                  <a:pt x="199046" y="133273"/>
                </a:cubicBezTo>
                <a:lnTo>
                  <a:pt x="196805" y="141659"/>
                </a:lnTo>
                <a:cubicBezTo>
                  <a:pt x="195749" y="145532"/>
                  <a:pt x="192132" y="148156"/>
                  <a:pt x="188100" y="147900"/>
                </a:cubicBezTo>
                <a:lnTo>
                  <a:pt x="174657" y="147036"/>
                </a:lnTo>
                <a:cubicBezTo>
                  <a:pt x="172641" y="149628"/>
                  <a:pt x="170304" y="152029"/>
                  <a:pt x="167648" y="154077"/>
                </a:cubicBezTo>
                <a:lnTo>
                  <a:pt x="168512" y="167488"/>
                </a:lnTo>
                <a:cubicBezTo>
                  <a:pt x="168768" y="171520"/>
                  <a:pt x="166143" y="175169"/>
                  <a:pt x="162271" y="176193"/>
                </a:cubicBezTo>
                <a:lnTo>
                  <a:pt x="153885" y="178434"/>
                </a:lnTo>
                <a:cubicBezTo>
                  <a:pt x="149980" y="179490"/>
                  <a:pt x="145916" y="177634"/>
                  <a:pt x="144123" y="174017"/>
                </a:cubicBezTo>
                <a:lnTo>
                  <a:pt x="138170" y="161983"/>
                </a:lnTo>
                <a:cubicBezTo>
                  <a:pt x="134873" y="161535"/>
                  <a:pt x="131641" y="160638"/>
                  <a:pt x="128600" y="159390"/>
                </a:cubicBezTo>
                <a:lnTo>
                  <a:pt x="117398" y="166848"/>
                </a:lnTo>
                <a:cubicBezTo>
                  <a:pt x="114038" y="169088"/>
                  <a:pt x="109589" y="168640"/>
                  <a:pt x="106740" y="165791"/>
                </a:cubicBezTo>
                <a:lnTo>
                  <a:pt x="100595" y="159646"/>
                </a:lnTo>
                <a:cubicBezTo>
                  <a:pt x="97746" y="156798"/>
                  <a:pt x="97298" y="152349"/>
                  <a:pt x="99539" y="148988"/>
                </a:cubicBezTo>
                <a:lnTo>
                  <a:pt x="106996" y="137786"/>
                </a:lnTo>
                <a:cubicBezTo>
                  <a:pt x="106388" y="136282"/>
                  <a:pt x="105844" y="134713"/>
                  <a:pt x="105396" y="133081"/>
                </a:cubicBezTo>
                <a:cubicBezTo>
                  <a:pt x="104948" y="131449"/>
                  <a:pt x="104660" y="129817"/>
                  <a:pt x="104436" y="128216"/>
                </a:cubicBezTo>
                <a:lnTo>
                  <a:pt x="92369" y="122263"/>
                </a:lnTo>
                <a:cubicBezTo>
                  <a:pt x="88753" y="120471"/>
                  <a:pt x="86928" y="116374"/>
                  <a:pt x="87953" y="112501"/>
                </a:cubicBezTo>
                <a:lnTo>
                  <a:pt x="90193" y="104116"/>
                </a:lnTo>
                <a:cubicBezTo>
                  <a:pt x="91249" y="100243"/>
                  <a:pt x="94866" y="97618"/>
                  <a:pt x="98899" y="97874"/>
                </a:cubicBezTo>
                <a:lnTo>
                  <a:pt x="112309" y="98739"/>
                </a:lnTo>
                <a:cubicBezTo>
                  <a:pt x="114326" y="96146"/>
                  <a:pt x="116662" y="93746"/>
                  <a:pt x="119319" y="91697"/>
                </a:cubicBezTo>
                <a:lnTo>
                  <a:pt x="118454" y="78319"/>
                </a:lnTo>
                <a:cubicBezTo>
                  <a:pt x="118198" y="74286"/>
                  <a:pt x="120823" y="70637"/>
                  <a:pt x="124696" y="69613"/>
                </a:cubicBezTo>
                <a:lnTo>
                  <a:pt x="133081" y="67373"/>
                </a:lnTo>
                <a:close/>
                <a:moveTo>
                  <a:pt x="143515" y="108821"/>
                </a:moveTo>
                <a:cubicBezTo>
                  <a:pt x="135743" y="108829"/>
                  <a:pt x="129440" y="115147"/>
                  <a:pt x="129448" y="122919"/>
                </a:cubicBezTo>
                <a:cubicBezTo>
                  <a:pt x="129457" y="130692"/>
                  <a:pt x="135775" y="136995"/>
                  <a:pt x="143547" y="136986"/>
                </a:cubicBezTo>
                <a:cubicBezTo>
                  <a:pt x="151320" y="136977"/>
                  <a:pt x="157623" y="130660"/>
                  <a:pt x="157614" y="122887"/>
                </a:cubicBezTo>
                <a:cubicBezTo>
                  <a:pt x="157605" y="115115"/>
                  <a:pt x="151288" y="108812"/>
                  <a:pt x="143515" y="108821"/>
                </a:cubicBezTo>
                <a:close/>
                <a:moveTo>
                  <a:pt x="71982" y="-14563"/>
                </a:moveTo>
                <a:lnTo>
                  <a:pt x="80367" y="-12322"/>
                </a:lnTo>
                <a:cubicBezTo>
                  <a:pt x="84240" y="-11266"/>
                  <a:pt x="86864" y="-7617"/>
                  <a:pt x="86608" y="-3617"/>
                </a:cubicBezTo>
                <a:lnTo>
                  <a:pt x="85744" y="9762"/>
                </a:lnTo>
                <a:cubicBezTo>
                  <a:pt x="88401" y="11810"/>
                  <a:pt x="90737" y="14179"/>
                  <a:pt x="92754" y="16803"/>
                </a:cubicBezTo>
                <a:lnTo>
                  <a:pt x="106196" y="15939"/>
                </a:lnTo>
                <a:cubicBezTo>
                  <a:pt x="110197" y="15683"/>
                  <a:pt x="113846" y="18307"/>
                  <a:pt x="114902" y="22180"/>
                </a:cubicBezTo>
                <a:lnTo>
                  <a:pt x="117142" y="30566"/>
                </a:lnTo>
                <a:cubicBezTo>
                  <a:pt x="118166" y="34439"/>
                  <a:pt x="116342" y="38535"/>
                  <a:pt x="112725" y="40328"/>
                </a:cubicBezTo>
                <a:lnTo>
                  <a:pt x="100659" y="46281"/>
                </a:lnTo>
                <a:cubicBezTo>
                  <a:pt x="100435" y="47913"/>
                  <a:pt x="100115" y="49545"/>
                  <a:pt x="99699" y="51146"/>
                </a:cubicBezTo>
                <a:cubicBezTo>
                  <a:pt x="99283" y="52746"/>
                  <a:pt x="98707" y="54346"/>
                  <a:pt x="98099" y="55851"/>
                </a:cubicBezTo>
                <a:lnTo>
                  <a:pt x="105556" y="67053"/>
                </a:lnTo>
                <a:cubicBezTo>
                  <a:pt x="107796" y="70413"/>
                  <a:pt x="107348" y="74862"/>
                  <a:pt x="104500" y="77711"/>
                </a:cubicBezTo>
                <a:lnTo>
                  <a:pt x="98355" y="83856"/>
                </a:lnTo>
                <a:cubicBezTo>
                  <a:pt x="95506" y="86704"/>
                  <a:pt x="91057" y="87152"/>
                  <a:pt x="87697" y="84912"/>
                </a:cubicBezTo>
                <a:lnTo>
                  <a:pt x="76494" y="77455"/>
                </a:lnTo>
                <a:cubicBezTo>
                  <a:pt x="73454" y="78703"/>
                  <a:pt x="70221" y="79599"/>
                  <a:pt x="66925" y="80047"/>
                </a:cubicBezTo>
                <a:lnTo>
                  <a:pt x="60972" y="92081"/>
                </a:lnTo>
                <a:cubicBezTo>
                  <a:pt x="59179" y="95698"/>
                  <a:pt x="55082" y="97522"/>
                  <a:pt x="51210" y="96498"/>
                </a:cubicBezTo>
                <a:lnTo>
                  <a:pt x="42824" y="94258"/>
                </a:lnTo>
                <a:cubicBezTo>
                  <a:pt x="38919" y="93202"/>
                  <a:pt x="36327" y="89553"/>
                  <a:pt x="36583" y="85552"/>
                </a:cubicBezTo>
                <a:lnTo>
                  <a:pt x="37447" y="72142"/>
                </a:lnTo>
                <a:cubicBezTo>
                  <a:pt x="34791" y="70093"/>
                  <a:pt x="32454" y="67725"/>
                  <a:pt x="30438" y="65100"/>
                </a:cubicBezTo>
                <a:lnTo>
                  <a:pt x="16995" y="65964"/>
                </a:lnTo>
                <a:cubicBezTo>
                  <a:pt x="12994" y="66221"/>
                  <a:pt x="9346" y="63596"/>
                  <a:pt x="8290" y="59723"/>
                </a:cubicBezTo>
                <a:lnTo>
                  <a:pt x="6049" y="51338"/>
                </a:lnTo>
                <a:cubicBezTo>
                  <a:pt x="5025" y="47465"/>
                  <a:pt x="6849" y="43368"/>
                  <a:pt x="10466" y="41576"/>
                </a:cubicBezTo>
                <a:lnTo>
                  <a:pt x="22532" y="35623"/>
                </a:lnTo>
                <a:cubicBezTo>
                  <a:pt x="22756" y="33990"/>
                  <a:pt x="23076" y="32390"/>
                  <a:pt x="23492" y="30758"/>
                </a:cubicBezTo>
                <a:cubicBezTo>
                  <a:pt x="23941" y="29126"/>
                  <a:pt x="24453" y="27557"/>
                  <a:pt x="25093" y="26053"/>
                </a:cubicBezTo>
                <a:lnTo>
                  <a:pt x="17635" y="14883"/>
                </a:lnTo>
                <a:cubicBezTo>
                  <a:pt x="15395" y="11522"/>
                  <a:pt x="15843" y="7073"/>
                  <a:pt x="18692" y="4225"/>
                </a:cubicBezTo>
                <a:lnTo>
                  <a:pt x="24837" y="-1920"/>
                </a:lnTo>
                <a:cubicBezTo>
                  <a:pt x="27685" y="-4769"/>
                  <a:pt x="32134" y="-5217"/>
                  <a:pt x="35495" y="-2977"/>
                </a:cubicBezTo>
                <a:lnTo>
                  <a:pt x="46697" y="4481"/>
                </a:lnTo>
                <a:cubicBezTo>
                  <a:pt x="49737" y="3233"/>
                  <a:pt x="52970" y="2336"/>
                  <a:pt x="56267" y="1888"/>
                </a:cubicBezTo>
                <a:lnTo>
                  <a:pt x="62220" y="-10146"/>
                </a:lnTo>
                <a:cubicBezTo>
                  <a:pt x="64012" y="-13763"/>
                  <a:pt x="68077" y="-15587"/>
                  <a:pt x="71982" y="-14563"/>
                </a:cubicBezTo>
                <a:close/>
                <a:moveTo>
                  <a:pt x="61580" y="26885"/>
                </a:moveTo>
                <a:cubicBezTo>
                  <a:pt x="53807" y="26885"/>
                  <a:pt x="47497" y="33195"/>
                  <a:pt x="47497" y="40968"/>
                </a:cubicBezTo>
                <a:cubicBezTo>
                  <a:pt x="47497" y="48740"/>
                  <a:pt x="53807" y="55050"/>
                  <a:pt x="61580" y="55050"/>
                </a:cubicBezTo>
                <a:cubicBezTo>
                  <a:pt x="69352" y="55050"/>
                  <a:pt x="75662" y="48740"/>
                  <a:pt x="75662" y="40968"/>
                </a:cubicBezTo>
                <a:cubicBezTo>
                  <a:pt x="75662" y="33195"/>
                  <a:pt x="69352" y="26885"/>
                  <a:pt x="61580" y="26885"/>
                </a:cubicBezTo>
                <a:close/>
              </a:path>
            </a:pathLst>
          </a:custGeom>
          <a:solidFill>
            <a:srgbClr val="B8A890"/>
          </a:solidFill>
          <a:ln/>
        </p:spPr>
        <p:txBody>
          <a:bodyPr/>
          <a:lstStyle/>
          <a:p>
            <a:endParaRPr lang="en-US"/>
          </a:p>
        </p:txBody>
      </p:sp>
      <p:sp>
        <p:nvSpPr>
          <p:cNvPr id="22" name="Text 19"/>
          <p:cNvSpPr/>
          <p:nvPr/>
        </p:nvSpPr>
        <p:spPr>
          <a:xfrm>
            <a:off x="6628581" y="2752312"/>
            <a:ext cx="5137355" cy="262194"/>
          </a:xfrm>
          <a:prstGeom prst="rect">
            <a:avLst/>
          </a:prstGeom>
          <a:noFill/>
          <a:ln/>
        </p:spPr>
        <p:txBody>
          <a:bodyPr wrap="square" lIns="0" tIns="0" rIns="0" bIns="0" rtlCol="0" anchor="ctr"/>
          <a:lstStyle/>
          <a:p>
            <a:pPr>
              <a:lnSpc>
                <a:spcPct val="110000"/>
              </a:lnSpc>
            </a:pPr>
            <a:r>
              <a:rPr lang="en-US" sz="1548" b="1" dirty="0">
                <a:solidFill>
                  <a:srgbClr val="E0E2E5"/>
                </a:solidFill>
                <a:latin typeface="Liter" pitchFamily="34" charset="0"/>
                <a:ea typeface="Liter" pitchFamily="34" charset="-122"/>
                <a:cs typeface="Liter" pitchFamily="34" charset="-120"/>
              </a:rPr>
              <a:t>Morphological Findings</a:t>
            </a:r>
            <a:endParaRPr lang="en-US" sz="1600" dirty="0"/>
          </a:p>
        </p:txBody>
      </p:sp>
      <p:sp>
        <p:nvSpPr>
          <p:cNvPr id="23" name="Shape 20"/>
          <p:cNvSpPr/>
          <p:nvPr/>
        </p:nvSpPr>
        <p:spPr>
          <a:xfrm>
            <a:off x="6440129" y="3145498"/>
            <a:ext cx="5227484" cy="917677"/>
          </a:xfrm>
          <a:custGeom>
            <a:avLst/>
            <a:gdLst/>
            <a:ahLst/>
            <a:cxnLst/>
            <a:rect l="l" t="t" r="r" b="b"/>
            <a:pathLst>
              <a:path w="5227484" h="917677">
                <a:moveTo>
                  <a:pt x="32774" y="0"/>
                </a:moveTo>
                <a:lnTo>
                  <a:pt x="5161934" y="0"/>
                </a:lnTo>
                <a:cubicBezTo>
                  <a:pt x="5198136" y="0"/>
                  <a:pt x="5227484" y="29348"/>
                  <a:pt x="5227484" y="65550"/>
                </a:cubicBezTo>
                <a:lnTo>
                  <a:pt x="5227484" y="852128"/>
                </a:lnTo>
                <a:cubicBezTo>
                  <a:pt x="5227484" y="888330"/>
                  <a:pt x="5198136" y="917677"/>
                  <a:pt x="5161934" y="917677"/>
                </a:cubicBezTo>
                <a:lnTo>
                  <a:pt x="32774" y="917677"/>
                </a:lnTo>
                <a:cubicBezTo>
                  <a:pt x="14674" y="917677"/>
                  <a:pt x="0" y="903004"/>
                  <a:pt x="0" y="884903"/>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24" name="Shape 21"/>
          <p:cNvSpPr/>
          <p:nvPr/>
        </p:nvSpPr>
        <p:spPr>
          <a:xfrm>
            <a:off x="6440129" y="3145498"/>
            <a:ext cx="32774" cy="917677"/>
          </a:xfrm>
          <a:custGeom>
            <a:avLst/>
            <a:gdLst/>
            <a:ahLst/>
            <a:cxnLst/>
            <a:rect l="l" t="t" r="r" b="b"/>
            <a:pathLst>
              <a:path w="32774" h="917677">
                <a:moveTo>
                  <a:pt x="32774" y="0"/>
                </a:moveTo>
                <a:lnTo>
                  <a:pt x="32774" y="0"/>
                </a:lnTo>
                <a:lnTo>
                  <a:pt x="32774" y="917677"/>
                </a:lnTo>
                <a:lnTo>
                  <a:pt x="32774" y="917677"/>
                </a:lnTo>
                <a:cubicBezTo>
                  <a:pt x="14674" y="917677"/>
                  <a:pt x="0" y="903004"/>
                  <a:pt x="0" y="884903"/>
                </a:cubicBezTo>
                <a:lnTo>
                  <a:pt x="0" y="32774"/>
                </a:lnTo>
                <a:cubicBezTo>
                  <a:pt x="0" y="14686"/>
                  <a:pt x="14686" y="0"/>
                  <a:pt x="32774" y="0"/>
                </a:cubicBezTo>
                <a:close/>
              </a:path>
            </a:pathLst>
          </a:custGeom>
          <a:solidFill>
            <a:srgbClr val="B8A890"/>
          </a:solidFill>
          <a:ln/>
        </p:spPr>
        <p:txBody>
          <a:bodyPr/>
          <a:lstStyle/>
          <a:p>
            <a:endParaRPr lang="en-US"/>
          </a:p>
        </p:txBody>
      </p:sp>
      <p:sp>
        <p:nvSpPr>
          <p:cNvPr id="25" name="Text 22"/>
          <p:cNvSpPr/>
          <p:nvPr/>
        </p:nvSpPr>
        <p:spPr>
          <a:xfrm>
            <a:off x="6587613" y="3276595"/>
            <a:ext cx="5022645" cy="229419"/>
          </a:xfrm>
          <a:prstGeom prst="rect">
            <a:avLst/>
          </a:prstGeom>
          <a:noFill/>
          <a:ln/>
        </p:spPr>
        <p:txBody>
          <a:bodyPr wrap="square" lIns="0" tIns="0" rIns="0" bIns="0" rtlCol="0" anchor="ctr"/>
          <a:lstStyle/>
          <a:p>
            <a:pPr>
              <a:lnSpc>
                <a:spcPct val="130000"/>
              </a:lnSpc>
            </a:pPr>
            <a:r>
              <a:rPr lang="en-US" sz="1161" b="1" dirty="0">
                <a:solidFill>
                  <a:srgbClr val="B8A890"/>
                </a:solidFill>
                <a:latin typeface="Quattrocento Sans" pitchFamily="34" charset="0"/>
                <a:ea typeface="Quattrocento Sans" pitchFamily="34" charset="-122"/>
                <a:cs typeface="Quattrocento Sans" pitchFamily="34" charset="-120"/>
              </a:rPr>
              <a:t>Boundary Detection</a:t>
            </a:r>
            <a:endParaRPr lang="en-US" sz="1600" dirty="0"/>
          </a:p>
        </p:txBody>
      </p:sp>
      <p:sp>
        <p:nvSpPr>
          <p:cNvPr id="26" name="Text 23"/>
          <p:cNvSpPr/>
          <p:nvPr/>
        </p:nvSpPr>
        <p:spPr>
          <a:xfrm>
            <a:off x="6587613" y="3571563"/>
            <a:ext cx="5014452" cy="360516"/>
          </a:xfrm>
          <a:prstGeom prst="rect">
            <a:avLst/>
          </a:prstGeom>
          <a:noFill/>
          <a:ln/>
        </p:spPr>
        <p:txBody>
          <a:bodyPr wrap="square" lIns="0" tIns="0" rIns="0" bIns="0" rtlCol="0" anchor="ctr"/>
          <a:lstStyle/>
          <a:p>
            <a:pPr>
              <a:lnSpc>
                <a:spcPct val="110000"/>
              </a:lnSpc>
            </a:pPr>
            <a:r>
              <a:rPr lang="en-US" sz="1032" b="1" dirty="0">
                <a:solidFill>
                  <a:srgbClr val="B8A890"/>
                </a:solidFill>
                <a:latin typeface="Quattrocento Sans" pitchFamily="34" charset="0"/>
                <a:ea typeface="Quattrocento Sans" pitchFamily="34" charset="-122"/>
                <a:cs typeface="Quattrocento Sans" pitchFamily="34" charset="-120"/>
              </a:rPr>
              <a:t>Key Achievement:</a:t>
            </a:r>
            <a:r>
              <a:rPr lang="en-US" sz="1032" dirty="0">
                <a:solidFill>
                  <a:srgbClr val="E0E2E5">
                    <a:alpha val="90000"/>
                  </a:srgbClr>
                </a:solidFill>
                <a:latin typeface="Quattrocento Sans" pitchFamily="34" charset="0"/>
                <a:ea typeface="Quattrocento Sans" pitchFamily="34" charset="-122"/>
                <a:cs typeface="Quattrocento Sans" pitchFamily="34" charset="-120"/>
              </a:rPr>
              <a:t> Sequential morphological operations produce precise, enhanced boundaries with 95% accuracy, validated through ground-truth comparison.</a:t>
            </a:r>
            <a:endParaRPr lang="en-US" sz="1600" dirty="0"/>
          </a:p>
        </p:txBody>
      </p:sp>
      <p:sp>
        <p:nvSpPr>
          <p:cNvPr id="27" name="Shape 24"/>
          <p:cNvSpPr/>
          <p:nvPr/>
        </p:nvSpPr>
        <p:spPr>
          <a:xfrm>
            <a:off x="6440129" y="4161498"/>
            <a:ext cx="5227484" cy="917677"/>
          </a:xfrm>
          <a:custGeom>
            <a:avLst/>
            <a:gdLst/>
            <a:ahLst/>
            <a:cxnLst/>
            <a:rect l="l" t="t" r="r" b="b"/>
            <a:pathLst>
              <a:path w="5227484" h="917677">
                <a:moveTo>
                  <a:pt x="32774" y="0"/>
                </a:moveTo>
                <a:lnTo>
                  <a:pt x="5161934" y="0"/>
                </a:lnTo>
                <a:cubicBezTo>
                  <a:pt x="5198136" y="0"/>
                  <a:pt x="5227484" y="29348"/>
                  <a:pt x="5227484" y="65550"/>
                </a:cubicBezTo>
                <a:lnTo>
                  <a:pt x="5227484" y="852128"/>
                </a:lnTo>
                <a:cubicBezTo>
                  <a:pt x="5227484" y="888330"/>
                  <a:pt x="5198136" y="917677"/>
                  <a:pt x="5161934" y="917677"/>
                </a:cubicBezTo>
                <a:lnTo>
                  <a:pt x="32774" y="917677"/>
                </a:lnTo>
                <a:cubicBezTo>
                  <a:pt x="14674" y="917677"/>
                  <a:pt x="0" y="903004"/>
                  <a:pt x="0" y="884903"/>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28" name="Shape 25"/>
          <p:cNvSpPr/>
          <p:nvPr/>
        </p:nvSpPr>
        <p:spPr>
          <a:xfrm>
            <a:off x="6440129" y="4161498"/>
            <a:ext cx="32774" cy="917677"/>
          </a:xfrm>
          <a:custGeom>
            <a:avLst/>
            <a:gdLst/>
            <a:ahLst/>
            <a:cxnLst/>
            <a:rect l="l" t="t" r="r" b="b"/>
            <a:pathLst>
              <a:path w="32774" h="917677">
                <a:moveTo>
                  <a:pt x="32774" y="0"/>
                </a:moveTo>
                <a:lnTo>
                  <a:pt x="32774" y="0"/>
                </a:lnTo>
                <a:lnTo>
                  <a:pt x="32774" y="917677"/>
                </a:lnTo>
                <a:lnTo>
                  <a:pt x="32774" y="917677"/>
                </a:lnTo>
                <a:cubicBezTo>
                  <a:pt x="14674" y="917677"/>
                  <a:pt x="0" y="903004"/>
                  <a:pt x="0" y="884903"/>
                </a:cubicBezTo>
                <a:lnTo>
                  <a:pt x="0" y="32774"/>
                </a:lnTo>
                <a:cubicBezTo>
                  <a:pt x="0" y="14686"/>
                  <a:pt x="14686" y="0"/>
                  <a:pt x="32774" y="0"/>
                </a:cubicBezTo>
                <a:close/>
              </a:path>
            </a:pathLst>
          </a:custGeom>
          <a:solidFill>
            <a:srgbClr val="4A6C8C"/>
          </a:solidFill>
          <a:ln/>
        </p:spPr>
        <p:txBody>
          <a:bodyPr/>
          <a:lstStyle/>
          <a:p>
            <a:endParaRPr lang="en-US"/>
          </a:p>
        </p:txBody>
      </p:sp>
      <p:sp>
        <p:nvSpPr>
          <p:cNvPr id="29" name="Text 26"/>
          <p:cNvSpPr/>
          <p:nvPr/>
        </p:nvSpPr>
        <p:spPr>
          <a:xfrm>
            <a:off x="6587613" y="4292595"/>
            <a:ext cx="5022645" cy="229419"/>
          </a:xfrm>
          <a:prstGeom prst="rect">
            <a:avLst/>
          </a:prstGeom>
          <a:noFill/>
          <a:ln/>
        </p:spPr>
        <p:txBody>
          <a:bodyPr wrap="square" lIns="0" tIns="0" rIns="0" bIns="0" rtlCol="0" anchor="ctr"/>
          <a:lstStyle/>
          <a:p>
            <a:pPr>
              <a:lnSpc>
                <a:spcPct val="130000"/>
              </a:lnSpc>
            </a:pPr>
            <a:r>
              <a:rPr lang="en-US" sz="1161" b="1" dirty="0">
                <a:solidFill>
                  <a:srgbClr val="4A6C8C"/>
                </a:solidFill>
                <a:latin typeface="Quattrocento Sans" pitchFamily="34" charset="0"/>
                <a:ea typeface="Quattrocento Sans" pitchFamily="34" charset="-122"/>
                <a:cs typeface="Quattrocento Sans" pitchFamily="34" charset="-120"/>
              </a:rPr>
              <a:t>Processing Pipeline</a:t>
            </a:r>
            <a:endParaRPr lang="en-US" sz="1600" dirty="0"/>
          </a:p>
        </p:txBody>
      </p:sp>
      <p:sp>
        <p:nvSpPr>
          <p:cNvPr id="30" name="Text 27"/>
          <p:cNvSpPr/>
          <p:nvPr/>
        </p:nvSpPr>
        <p:spPr>
          <a:xfrm>
            <a:off x="6587613" y="4587563"/>
            <a:ext cx="5014452" cy="360516"/>
          </a:xfrm>
          <a:prstGeom prst="rect">
            <a:avLst/>
          </a:prstGeom>
          <a:noFill/>
          <a:ln/>
        </p:spPr>
        <p:txBody>
          <a:bodyPr wrap="square" lIns="0" tIns="0" rIns="0" bIns="0" rtlCol="0" anchor="ctr"/>
          <a:lstStyle/>
          <a:p>
            <a:pPr>
              <a:lnSpc>
                <a:spcPct val="110000"/>
              </a:lnSpc>
            </a:pPr>
            <a:r>
              <a:rPr lang="en-US" sz="1032" b="1" dirty="0">
                <a:solidFill>
                  <a:srgbClr val="B8A890"/>
                </a:solidFill>
                <a:latin typeface="Quattrocento Sans" pitchFamily="34" charset="0"/>
                <a:ea typeface="Quattrocento Sans" pitchFamily="34" charset="-122"/>
                <a:cs typeface="Quattrocento Sans" pitchFamily="34" charset="-120"/>
              </a:rPr>
              <a:t>Validation:</a:t>
            </a:r>
            <a:r>
              <a:rPr lang="en-US" sz="1032" dirty="0">
                <a:solidFill>
                  <a:srgbClr val="E0E2E5">
                    <a:alpha val="90000"/>
                  </a:srgbClr>
                </a:solidFill>
                <a:latin typeface="Quattrocento Sans" pitchFamily="34" charset="0"/>
                <a:ea typeface="Quattrocento Sans" pitchFamily="34" charset="-122"/>
                <a:cs typeface="Quattrocento Sans" pitchFamily="34" charset="-120"/>
              </a:rPr>
              <a:t> Each processing step contributes measurably to final result, with progressive enhancement from grayscale to enhanced boundaries.</a:t>
            </a:r>
            <a:endParaRPr lang="en-US" sz="1600" dirty="0"/>
          </a:p>
        </p:txBody>
      </p:sp>
      <p:sp>
        <p:nvSpPr>
          <p:cNvPr id="31" name="Shape 28"/>
          <p:cNvSpPr/>
          <p:nvPr/>
        </p:nvSpPr>
        <p:spPr>
          <a:xfrm>
            <a:off x="270387" y="4957196"/>
            <a:ext cx="11526684" cy="1833716"/>
          </a:xfrm>
          <a:custGeom>
            <a:avLst/>
            <a:gdLst/>
            <a:ahLst/>
            <a:cxnLst/>
            <a:rect l="l" t="t" r="r" b="b"/>
            <a:pathLst>
              <a:path w="11526684" h="1833716">
                <a:moveTo>
                  <a:pt x="98324" y="0"/>
                </a:moveTo>
                <a:lnTo>
                  <a:pt x="11428360" y="0"/>
                </a:lnTo>
                <a:cubicBezTo>
                  <a:pt x="11482663" y="0"/>
                  <a:pt x="11526684" y="44021"/>
                  <a:pt x="11526684" y="98324"/>
                </a:cubicBezTo>
                <a:lnTo>
                  <a:pt x="11526684" y="1735392"/>
                </a:lnTo>
                <a:cubicBezTo>
                  <a:pt x="11526684" y="1789695"/>
                  <a:pt x="11482663" y="1833716"/>
                  <a:pt x="11428360" y="1833716"/>
                </a:cubicBezTo>
                <a:lnTo>
                  <a:pt x="98324" y="1833716"/>
                </a:lnTo>
                <a:cubicBezTo>
                  <a:pt x="44021" y="1833716"/>
                  <a:pt x="0" y="1789695"/>
                  <a:pt x="0" y="1735392"/>
                </a:cubicBezTo>
                <a:lnTo>
                  <a:pt x="0" y="98324"/>
                </a:lnTo>
                <a:cubicBezTo>
                  <a:pt x="0" y="44057"/>
                  <a:pt x="44057" y="0"/>
                  <a:pt x="98324" y="0"/>
                </a:cubicBezTo>
                <a:close/>
              </a:path>
            </a:pathLst>
          </a:custGeom>
          <a:gradFill flip="none" rotWithShape="1">
            <a:gsLst>
              <a:gs pos="0">
                <a:srgbClr val="4A6C8C">
                  <a:alpha val="20000"/>
                </a:srgbClr>
              </a:gs>
              <a:gs pos="50000">
                <a:srgbClr val="5A7D7C">
                  <a:alpha val="15000"/>
                </a:srgbClr>
              </a:gs>
              <a:gs pos="100000">
                <a:srgbClr val="B8A890">
                  <a:alpha val="10000"/>
                </a:srgbClr>
              </a:gs>
            </a:gsLst>
            <a:lin ang="0" scaled="1"/>
          </a:gradFill>
          <a:ln w="10160">
            <a:solidFill>
              <a:srgbClr val="B8A890">
                <a:alpha val="30196"/>
              </a:srgbClr>
            </a:solidFill>
            <a:prstDash val="solid"/>
          </a:ln>
        </p:spPr>
        <p:txBody>
          <a:bodyPr/>
          <a:lstStyle/>
          <a:p>
            <a:endParaRPr lang="en-US"/>
          </a:p>
        </p:txBody>
      </p:sp>
      <p:sp>
        <p:nvSpPr>
          <p:cNvPr id="32" name="Shape 29"/>
          <p:cNvSpPr/>
          <p:nvPr/>
        </p:nvSpPr>
        <p:spPr>
          <a:xfrm>
            <a:off x="551426" y="5724730"/>
            <a:ext cx="163871" cy="163871"/>
          </a:xfrm>
          <a:custGeom>
            <a:avLst/>
            <a:gdLst/>
            <a:ahLst/>
            <a:cxnLst/>
            <a:rect l="l" t="t" r="r" b="b"/>
            <a:pathLst>
              <a:path w="163871" h="163871">
                <a:moveTo>
                  <a:pt x="40968" y="102419"/>
                </a:moveTo>
                <a:lnTo>
                  <a:pt x="7841" y="102419"/>
                </a:lnTo>
                <a:cubicBezTo>
                  <a:pt x="-128" y="102419"/>
                  <a:pt x="-5025" y="93746"/>
                  <a:pt x="-928" y="86896"/>
                </a:cubicBezTo>
                <a:lnTo>
                  <a:pt x="16003" y="58667"/>
                </a:lnTo>
                <a:cubicBezTo>
                  <a:pt x="18788" y="54026"/>
                  <a:pt x="23780" y="51210"/>
                  <a:pt x="29190" y="51210"/>
                </a:cubicBezTo>
                <a:lnTo>
                  <a:pt x="59595" y="51210"/>
                </a:lnTo>
                <a:cubicBezTo>
                  <a:pt x="83952" y="9954"/>
                  <a:pt x="120279" y="7873"/>
                  <a:pt x="144571" y="11426"/>
                </a:cubicBezTo>
                <a:cubicBezTo>
                  <a:pt x="148668" y="12034"/>
                  <a:pt x="151869" y="15235"/>
                  <a:pt x="152445" y="19300"/>
                </a:cubicBezTo>
                <a:cubicBezTo>
                  <a:pt x="155997" y="43592"/>
                  <a:pt x="153917" y="79919"/>
                  <a:pt x="112661" y="104276"/>
                </a:cubicBezTo>
                <a:lnTo>
                  <a:pt x="112661" y="134681"/>
                </a:lnTo>
                <a:cubicBezTo>
                  <a:pt x="112661" y="140090"/>
                  <a:pt x="109845" y="145083"/>
                  <a:pt x="105204" y="147868"/>
                </a:cubicBezTo>
                <a:lnTo>
                  <a:pt x="76975" y="164799"/>
                </a:lnTo>
                <a:cubicBezTo>
                  <a:pt x="70157" y="168896"/>
                  <a:pt x="61452" y="163967"/>
                  <a:pt x="61452" y="156029"/>
                </a:cubicBezTo>
                <a:lnTo>
                  <a:pt x="61452" y="122903"/>
                </a:lnTo>
                <a:cubicBezTo>
                  <a:pt x="61452" y="111605"/>
                  <a:pt x="52266" y="102419"/>
                  <a:pt x="40968" y="102419"/>
                </a:cubicBezTo>
                <a:lnTo>
                  <a:pt x="40936" y="102419"/>
                </a:lnTo>
                <a:close/>
                <a:moveTo>
                  <a:pt x="128024" y="51210"/>
                </a:moveTo>
                <a:cubicBezTo>
                  <a:pt x="128024" y="42731"/>
                  <a:pt x="121140" y="35847"/>
                  <a:pt x="112661" y="35847"/>
                </a:cubicBezTo>
                <a:cubicBezTo>
                  <a:pt x="104182" y="35847"/>
                  <a:pt x="97298" y="42731"/>
                  <a:pt x="97298" y="51210"/>
                </a:cubicBezTo>
                <a:cubicBezTo>
                  <a:pt x="97298" y="59689"/>
                  <a:pt x="104182" y="66573"/>
                  <a:pt x="112661" y="66573"/>
                </a:cubicBezTo>
                <a:cubicBezTo>
                  <a:pt x="121140" y="66573"/>
                  <a:pt x="128024" y="59689"/>
                  <a:pt x="128024" y="51210"/>
                </a:cubicBezTo>
                <a:close/>
              </a:path>
            </a:pathLst>
          </a:custGeom>
          <a:solidFill>
            <a:srgbClr val="B8A890"/>
          </a:solidFill>
          <a:ln/>
        </p:spPr>
        <p:txBody>
          <a:bodyPr/>
          <a:lstStyle/>
          <a:p>
            <a:endParaRPr lang="en-US"/>
          </a:p>
        </p:txBody>
      </p:sp>
      <p:sp>
        <p:nvSpPr>
          <p:cNvPr id="33" name="Text 30"/>
          <p:cNvSpPr/>
          <p:nvPr/>
        </p:nvSpPr>
        <p:spPr>
          <a:xfrm>
            <a:off x="606322" y="5298665"/>
            <a:ext cx="11020323" cy="262194"/>
          </a:xfrm>
          <a:prstGeom prst="rect">
            <a:avLst/>
          </a:prstGeom>
          <a:noFill/>
          <a:ln/>
        </p:spPr>
        <p:txBody>
          <a:bodyPr wrap="square" lIns="0" tIns="0" rIns="0" bIns="0" rtlCol="0" anchor="ctr"/>
          <a:lstStyle/>
          <a:p>
            <a:pPr>
              <a:lnSpc>
                <a:spcPct val="110000"/>
              </a:lnSpc>
            </a:pPr>
            <a:r>
              <a:rPr lang="en-US" sz="1548" b="1" dirty="0">
                <a:solidFill>
                  <a:srgbClr val="E0E2E5"/>
                </a:solidFill>
                <a:latin typeface="Liter" pitchFamily="34" charset="0"/>
                <a:ea typeface="Liter" pitchFamily="34" charset="-122"/>
                <a:cs typeface="Liter" pitchFamily="34" charset="-120"/>
              </a:rPr>
              <a:t>Real-World Applications</a:t>
            </a:r>
            <a:endParaRPr lang="en-US" sz="1600" dirty="0"/>
          </a:p>
        </p:txBody>
      </p:sp>
      <p:sp>
        <p:nvSpPr>
          <p:cNvPr id="34" name="Shape 31"/>
          <p:cNvSpPr/>
          <p:nvPr/>
        </p:nvSpPr>
        <p:spPr>
          <a:xfrm>
            <a:off x="511277" y="5658356"/>
            <a:ext cx="2671097" cy="1048774"/>
          </a:xfrm>
          <a:custGeom>
            <a:avLst/>
            <a:gdLst/>
            <a:ahLst/>
            <a:cxnLst/>
            <a:rect l="l" t="t" r="r" b="b"/>
            <a:pathLst>
              <a:path w="2671097" h="1048774">
                <a:moveTo>
                  <a:pt x="32774" y="0"/>
                </a:moveTo>
                <a:lnTo>
                  <a:pt x="2605548" y="0"/>
                </a:lnTo>
                <a:cubicBezTo>
                  <a:pt x="2641750" y="0"/>
                  <a:pt x="2671097" y="29347"/>
                  <a:pt x="2671097" y="65548"/>
                </a:cubicBezTo>
                <a:lnTo>
                  <a:pt x="2671097" y="983226"/>
                </a:lnTo>
                <a:cubicBezTo>
                  <a:pt x="2671097" y="1019427"/>
                  <a:pt x="2641750" y="1048774"/>
                  <a:pt x="2605548" y="1048774"/>
                </a:cubicBezTo>
                <a:lnTo>
                  <a:pt x="32774" y="1048774"/>
                </a:lnTo>
                <a:cubicBezTo>
                  <a:pt x="14674" y="1048774"/>
                  <a:pt x="0" y="1034101"/>
                  <a:pt x="0" y="1016000"/>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35" name="Shape 32"/>
          <p:cNvSpPr/>
          <p:nvPr/>
        </p:nvSpPr>
        <p:spPr>
          <a:xfrm>
            <a:off x="507385" y="5646638"/>
            <a:ext cx="45719" cy="1048774"/>
          </a:xfrm>
          <a:custGeom>
            <a:avLst/>
            <a:gdLst/>
            <a:ahLst/>
            <a:cxnLst/>
            <a:rect l="l" t="t" r="r" b="b"/>
            <a:pathLst>
              <a:path w="32774" h="1048774">
                <a:moveTo>
                  <a:pt x="32774" y="0"/>
                </a:moveTo>
                <a:lnTo>
                  <a:pt x="32774" y="0"/>
                </a:lnTo>
                <a:lnTo>
                  <a:pt x="32774" y="1048774"/>
                </a:lnTo>
                <a:lnTo>
                  <a:pt x="32774" y="1048774"/>
                </a:lnTo>
                <a:cubicBezTo>
                  <a:pt x="14674" y="1048774"/>
                  <a:pt x="0" y="1034101"/>
                  <a:pt x="0" y="1016000"/>
                </a:cubicBezTo>
                <a:lnTo>
                  <a:pt x="0" y="32774"/>
                </a:lnTo>
                <a:cubicBezTo>
                  <a:pt x="0" y="14686"/>
                  <a:pt x="14686" y="0"/>
                  <a:pt x="32774" y="0"/>
                </a:cubicBezTo>
                <a:close/>
              </a:path>
            </a:pathLst>
          </a:custGeom>
          <a:solidFill>
            <a:srgbClr val="4A6C8C"/>
          </a:solidFill>
          <a:ln/>
        </p:spPr>
        <p:txBody>
          <a:bodyPr/>
          <a:lstStyle/>
          <a:p>
            <a:endParaRPr lang="en-US"/>
          </a:p>
        </p:txBody>
      </p:sp>
      <p:sp>
        <p:nvSpPr>
          <p:cNvPr id="36" name="Shape 33"/>
          <p:cNvSpPr/>
          <p:nvPr/>
        </p:nvSpPr>
        <p:spPr>
          <a:xfrm>
            <a:off x="721032" y="5975881"/>
            <a:ext cx="245806" cy="245806"/>
          </a:xfrm>
          <a:custGeom>
            <a:avLst/>
            <a:gdLst/>
            <a:ahLst/>
            <a:cxnLst/>
            <a:rect l="l" t="t" r="r" b="b"/>
            <a:pathLst>
              <a:path w="245806" h="245806">
                <a:moveTo>
                  <a:pt x="122903" y="51802"/>
                </a:moveTo>
                <a:lnTo>
                  <a:pt x="115702" y="41816"/>
                </a:lnTo>
                <a:cubicBezTo>
                  <a:pt x="103700" y="25205"/>
                  <a:pt x="84448" y="15363"/>
                  <a:pt x="63900" y="15363"/>
                </a:cubicBezTo>
                <a:cubicBezTo>
                  <a:pt x="28613" y="15363"/>
                  <a:pt x="0" y="43976"/>
                  <a:pt x="0" y="79263"/>
                </a:cubicBezTo>
                <a:lnTo>
                  <a:pt x="0" y="80511"/>
                </a:lnTo>
                <a:cubicBezTo>
                  <a:pt x="0" y="91841"/>
                  <a:pt x="2977" y="103556"/>
                  <a:pt x="7970" y="115222"/>
                </a:cubicBezTo>
                <a:lnTo>
                  <a:pt x="58859" y="115222"/>
                </a:lnTo>
                <a:cubicBezTo>
                  <a:pt x="60395" y="115222"/>
                  <a:pt x="61788" y="114310"/>
                  <a:pt x="62412" y="112869"/>
                </a:cubicBezTo>
                <a:lnTo>
                  <a:pt x="77679" y="76238"/>
                </a:lnTo>
                <a:cubicBezTo>
                  <a:pt x="79455" y="72014"/>
                  <a:pt x="83584" y="69229"/>
                  <a:pt x="88145" y="69133"/>
                </a:cubicBezTo>
                <a:cubicBezTo>
                  <a:pt x="92706" y="69037"/>
                  <a:pt x="96930" y="71726"/>
                  <a:pt x="98803" y="75902"/>
                </a:cubicBezTo>
                <a:lnTo>
                  <a:pt x="123431" y="130585"/>
                </a:lnTo>
                <a:lnTo>
                  <a:pt x="143307" y="90833"/>
                </a:lnTo>
                <a:cubicBezTo>
                  <a:pt x="145275" y="86944"/>
                  <a:pt x="149260" y="84448"/>
                  <a:pt x="153629" y="84448"/>
                </a:cubicBezTo>
                <a:cubicBezTo>
                  <a:pt x="157998" y="84448"/>
                  <a:pt x="161983" y="86896"/>
                  <a:pt x="163951" y="90833"/>
                </a:cubicBezTo>
                <a:lnTo>
                  <a:pt x="175089" y="113061"/>
                </a:lnTo>
                <a:cubicBezTo>
                  <a:pt x="175761" y="114358"/>
                  <a:pt x="177057" y="115174"/>
                  <a:pt x="178546" y="115174"/>
                </a:cubicBezTo>
                <a:lnTo>
                  <a:pt x="237885" y="115174"/>
                </a:lnTo>
                <a:cubicBezTo>
                  <a:pt x="242926" y="103508"/>
                  <a:pt x="245854" y="91793"/>
                  <a:pt x="245854" y="80463"/>
                </a:cubicBezTo>
                <a:lnTo>
                  <a:pt x="245854" y="79215"/>
                </a:lnTo>
                <a:cubicBezTo>
                  <a:pt x="245806" y="43976"/>
                  <a:pt x="217193" y="15363"/>
                  <a:pt x="181906" y="15363"/>
                </a:cubicBezTo>
                <a:cubicBezTo>
                  <a:pt x="161407" y="15363"/>
                  <a:pt x="142107" y="25205"/>
                  <a:pt x="130105" y="41816"/>
                </a:cubicBezTo>
                <a:lnTo>
                  <a:pt x="122903" y="51754"/>
                </a:lnTo>
                <a:close/>
                <a:moveTo>
                  <a:pt x="225451" y="138266"/>
                </a:moveTo>
                <a:lnTo>
                  <a:pt x="178498" y="138266"/>
                </a:lnTo>
                <a:cubicBezTo>
                  <a:pt x="168320" y="138266"/>
                  <a:pt x="159006" y="132505"/>
                  <a:pt x="154445" y="123383"/>
                </a:cubicBezTo>
                <a:lnTo>
                  <a:pt x="153629" y="121751"/>
                </a:lnTo>
                <a:lnTo>
                  <a:pt x="133225" y="162607"/>
                </a:lnTo>
                <a:cubicBezTo>
                  <a:pt x="131257" y="166591"/>
                  <a:pt x="127128" y="169088"/>
                  <a:pt x="122663" y="168992"/>
                </a:cubicBezTo>
                <a:cubicBezTo>
                  <a:pt x="118198" y="168896"/>
                  <a:pt x="114214" y="166255"/>
                  <a:pt x="112389" y="162223"/>
                </a:cubicBezTo>
                <a:lnTo>
                  <a:pt x="88721" y="109653"/>
                </a:lnTo>
                <a:lnTo>
                  <a:pt x="83680" y="121751"/>
                </a:lnTo>
                <a:cubicBezTo>
                  <a:pt x="79503" y="131785"/>
                  <a:pt x="69709" y="138314"/>
                  <a:pt x="58859" y="138314"/>
                </a:cubicBezTo>
                <a:lnTo>
                  <a:pt x="20356" y="138314"/>
                </a:lnTo>
                <a:cubicBezTo>
                  <a:pt x="43016" y="173745"/>
                  <a:pt x="79407" y="206343"/>
                  <a:pt x="102163" y="223722"/>
                </a:cubicBezTo>
                <a:cubicBezTo>
                  <a:pt x="108116" y="228235"/>
                  <a:pt x="115414" y="230492"/>
                  <a:pt x="122855" y="230492"/>
                </a:cubicBezTo>
                <a:cubicBezTo>
                  <a:pt x="130297" y="230492"/>
                  <a:pt x="137642" y="228283"/>
                  <a:pt x="143547" y="223722"/>
                </a:cubicBezTo>
                <a:cubicBezTo>
                  <a:pt x="166399" y="206295"/>
                  <a:pt x="202790" y="173697"/>
                  <a:pt x="225451" y="138266"/>
                </a:cubicBezTo>
                <a:close/>
              </a:path>
            </a:pathLst>
          </a:custGeom>
          <a:solidFill>
            <a:srgbClr val="4A6C8C"/>
          </a:solidFill>
          <a:ln/>
        </p:spPr>
        <p:txBody>
          <a:bodyPr/>
          <a:lstStyle/>
          <a:p>
            <a:endParaRPr lang="en-US"/>
          </a:p>
        </p:txBody>
      </p:sp>
      <p:sp>
        <p:nvSpPr>
          <p:cNvPr id="37" name="Text 34"/>
          <p:cNvSpPr/>
          <p:nvPr/>
        </p:nvSpPr>
        <p:spPr>
          <a:xfrm>
            <a:off x="712224" y="6242632"/>
            <a:ext cx="2466258" cy="229419"/>
          </a:xfrm>
          <a:prstGeom prst="rect">
            <a:avLst/>
          </a:prstGeom>
          <a:noFill/>
          <a:ln/>
        </p:spPr>
        <p:txBody>
          <a:bodyPr wrap="square" lIns="0" tIns="0" rIns="0" bIns="0" rtlCol="0" anchor="ctr"/>
          <a:lstStyle/>
          <a:p>
            <a:pPr>
              <a:lnSpc>
                <a:spcPct val="130000"/>
              </a:lnSpc>
            </a:pPr>
            <a:r>
              <a:rPr lang="en-US" sz="1161" b="1" dirty="0">
                <a:solidFill>
                  <a:srgbClr val="E0E2E5"/>
                </a:solidFill>
                <a:latin typeface="Quattrocento Sans" pitchFamily="34" charset="0"/>
                <a:ea typeface="Quattrocento Sans" pitchFamily="34" charset="-122"/>
                <a:cs typeface="Quattrocento Sans" pitchFamily="34" charset="-120"/>
              </a:rPr>
              <a:t>Medical Imaging</a:t>
            </a:r>
            <a:endParaRPr lang="en-US" sz="1600" dirty="0"/>
          </a:p>
        </p:txBody>
      </p:sp>
      <p:sp>
        <p:nvSpPr>
          <p:cNvPr id="38" name="Text 35"/>
          <p:cNvSpPr/>
          <p:nvPr/>
        </p:nvSpPr>
        <p:spPr>
          <a:xfrm>
            <a:off x="694812" y="6489953"/>
            <a:ext cx="2449871" cy="147484"/>
          </a:xfrm>
          <a:prstGeom prst="rect">
            <a:avLst/>
          </a:prstGeom>
          <a:noFill/>
          <a:ln/>
        </p:spPr>
        <p:txBody>
          <a:bodyPr wrap="square" lIns="0" tIns="0" rIns="0" bIns="0" rtlCol="0" anchor="ctr"/>
          <a:lstStyle/>
          <a:p>
            <a:pPr>
              <a:lnSpc>
                <a:spcPct val="100000"/>
              </a:lnSpc>
            </a:pPr>
            <a:r>
              <a:rPr lang="en-US" sz="903" dirty="0">
                <a:solidFill>
                  <a:srgbClr val="E0E2E5">
                    <a:alpha val="80000"/>
                  </a:srgbClr>
                </a:solidFill>
                <a:latin typeface="Quattrocento Sans" pitchFamily="34" charset="0"/>
                <a:ea typeface="Quattrocento Sans" pitchFamily="34" charset="-122"/>
                <a:cs typeface="Quattrocento Sans" pitchFamily="34" charset="-120"/>
              </a:rPr>
              <a:t>Tumor segmentation, anatomical analysis</a:t>
            </a:r>
            <a:endParaRPr lang="en-US" sz="1600" dirty="0"/>
          </a:p>
        </p:txBody>
      </p:sp>
      <p:sp>
        <p:nvSpPr>
          <p:cNvPr id="39" name="Shape 36"/>
          <p:cNvSpPr/>
          <p:nvPr/>
        </p:nvSpPr>
        <p:spPr>
          <a:xfrm>
            <a:off x="3256115" y="5658356"/>
            <a:ext cx="2671097" cy="1048774"/>
          </a:xfrm>
          <a:custGeom>
            <a:avLst/>
            <a:gdLst/>
            <a:ahLst/>
            <a:cxnLst/>
            <a:rect l="l" t="t" r="r" b="b"/>
            <a:pathLst>
              <a:path w="2671097" h="1048774">
                <a:moveTo>
                  <a:pt x="32774" y="0"/>
                </a:moveTo>
                <a:lnTo>
                  <a:pt x="2605548" y="0"/>
                </a:lnTo>
                <a:cubicBezTo>
                  <a:pt x="2641750" y="0"/>
                  <a:pt x="2671097" y="29347"/>
                  <a:pt x="2671097" y="65548"/>
                </a:cubicBezTo>
                <a:lnTo>
                  <a:pt x="2671097" y="983226"/>
                </a:lnTo>
                <a:cubicBezTo>
                  <a:pt x="2671097" y="1019427"/>
                  <a:pt x="2641750" y="1048774"/>
                  <a:pt x="2605548" y="1048774"/>
                </a:cubicBezTo>
                <a:lnTo>
                  <a:pt x="32774" y="1048774"/>
                </a:lnTo>
                <a:cubicBezTo>
                  <a:pt x="14674" y="1048774"/>
                  <a:pt x="0" y="1034101"/>
                  <a:pt x="0" y="1016000"/>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40" name="Shape 37"/>
          <p:cNvSpPr/>
          <p:nvPr/>
        </p:nvSpPr>
        <p:spPr>
          <a:xfrm>
            <a:off x="3346245" y="5637535"/>
            <a:ext cx="32774" cy="1048774"/>
          </a:xfrm>
          <a:custGeom>
            <a:avLst/>
            <a:gdLst/>
            <a:ahLst/>
            <a:cxnLst/>
            <a:rect l="l" t="t" r="r" b="b"/>
            <a:pathLst>
              <a:path w="32774" h="1048774">
                <a:moveTo>
                  <a:pt x="32774" y="0"/>
                </a:moveTo>
                <a:lnTo>
                  <a:pt x="32774" y="0"/>
                </a:lnTo>
                <a:lnTo>
                  <a:pt x="32774" y="1048774"/>
                </a:lnTo>
                <a:lnTo>
                  <a:pt x="32774" y="1048774"/>
                </a:lnTo>
                <a:cubicBezTo>
                  <a:pt x="14674" y="1048774"/>
                  <a:pt x="0" y="1034101"/>
                  <a:pt x="0" y="1016000"/>
                </a:cubicBezTo>
                <a:lnTo>
                  <a:pt x="0" y="32774"/>
                </a:lnTo>
                <a:cubicBezTo>
                  <a:pt x="0" y="14686"/>
                  <a:pt x="14686" y="0"/>
                  <a:pt x="32774" y="0"/>
                </a:cubicBezTo>
                <a:close/>
              </a:path>
            </a:pathLst>
          </a:custGeom>
          <a:solidFill>
            <a:srgbClr val="5A7D7C"/>
          </a:solidFill>
          <a:ln/>
        </p:spPr>
        <p:txBody>
          <a:bodyPr/>
          <a:lstStyle/>
          <a:p>
            <a:endParaRPr lang="en-US"/>
          </a:p>
        </p:txBody>
      </p:sp>
      <p:sp>
        <p:nvSpPr>
          <p:cNvPr id="41" name="Shape 38"/>
          <p:cNvSpPr/>
          <p:nvPr/>
        </p:nvSpPr>
        <p:spPr>
          <a:xfrm>
            <a:off x="3510116" y="5996826"/>
            <a:ext cx="276532" cy="245806"/>
          </a:xfrm>
          <a:custGeom>
            <a:avLst/>
            <a:gdLst/>
            <a:ahLst/>
            <a:cxnLst/>
            <a:rect l="l" t="t" r="r" b="b"/>
            <a:pathLst>
              <a:path w="276532" h="245806">
                <a:moveTo>
                  <a:pt x="138266" y="15363"/>
                </a:moveTo>
                <a:cubicBezTo>
                  <a:pt x="99475" y="15363"/>
                  <a:pt x="68413" y="33030"/>
                  <a:pt x="45801" y="54058"/>
                </a:cubicBezTo>
                <a:cubicBezTo>
                  <a:pt x="23332" y="74942"/>
                  <a:pt x="8306" y="99859"/>
                  <a:pt x="1152" y="116998"/>
                </a:cubicBezTo>
                <a:cubicBezTo>
                  <a:pt x="-432" y="120791"/>
                  <a:pt x="-432" y="125016"/>
                  <a:pt x="1152" y="128808"/>
                </a:cubicBezTo>
                <a:cubicBezTo>
                  <a:pt x="8306" y="145948"/>
                  <a:pt x="23332" y="170912"/>
                  <a:pt x="45801" y="191748"/>
                </a:cubicBezTo>
                <a:cubicBezTo>
                  <a:pt x="68413" y="212728"/>
                  <a:pt x="99475" y="230444"/>
                  <a:pt x="138266" y="230444"/>
                </a:cubicBezTo>
                <a:cubicBezTo>
                  <a:pt x="177057" y="230444"/>
                  <a:pt x="208119" y="212776"/>
                  <a:pt x="230732" y="191748"/>
                </a:cubicBezTo>
                <a:cubicBezTo>
                  <a:pt x="253200" y="170864"/>
                  <a:pt x="268227" y="145948"/>
                  <a:pt x="275380" y="128808"/>
                </a:cubicBezTo>
                <a:cubicBezTo>
                  <a:pt x="276964" y="125016"/>
                  <a:pt x="276964" y="120791"/>
                  <a:pt x="275380" y="116998"/>
                </a:cubicBezTo>
                <a:cubicBezTo>
                  <a:pt x="268227" y="99859"/>
                  <a:pt x="253200" y="74894"/>
                  <a:pt x="230732" y="54058"/>
                </a:cubicBezTo>
                <a:cubicBezTo>
                  <a:pt x="208119" y="33078"/>
                  <a:pt x="177057" y="15363"/>
                  <a:pt x="138266" y="15363"/>
                </a:cubicBezTo>
                <a:close/>
                <a:moveTo>
                  <a:pt x="69133" y="122903"/>
                </a:moveTo>
                <a:cubicBezTo>
                  <a:pt x="69133" y="84748"/>
                  <a:pt x="100111" y="53770"/>
                  <a:pt x="138266" y="53770"/>
                </a:cubicBezTo>
                <a:cubicBezTo>
                  <a:pt x="176422" y="53770"/>
                  <a:pt x="207399" y="84748"/>
                  <a:pt x="207399" y="122903"/>
                </a:cubicBezTo>
                <a:cubicBezTo>
                  <a:pt x="207399" y="161059"/>
                  <a:pt x="176422" y="192036"/>
                  <a:pt x="138266" y="192036"/>
                </a:cubicBezTo>
                <a:cubicBezTo>
                  <a:pt x="100111" y="192036"/>
                  <a:pt x="69133" y="161059"/>
                  <a:pt x="69133" y="122903"/>
                </a:cubicBezTo>
                <a:close/>
                <a:moveTo>
                  <a:pt x="138266" y="92177"/>
                </a:moveTo>
                <a:cubicBezTo>
                  <a:pt x="138266" y="109125"/>
                  <a:pt x="124488" y="122903"/>
                  <a:pt x="107540" y="122903"/>
                </a:cubicBezTo>
                <a:cubicBezTo>
                  <a:pt x="102019" y="122903"/>
                  <a:pt x="96834" y="121463"/>
                  <a:pt x="92321" y="118870"/>
                </a:cubicBezTo>
                <a:cubicBezTo>
                  <a:pt x="91841" y="124103"/>
                  <a:pt x="92273" y="129480"/>
                  <a:pt x="93714" y="134809"/>
                </a:cubicBezTo>
                <a:cubicBezTo>
                  <a:pt x="100291" y="159390"/>
                  <a:pt x="125592" y="173985"/>
                  <a:pt x="150172" y="167408"/>
                </a:cubicBezTo>
                <a:cubicBezTo>
                  <a:pt x="174753" y="160830"/>
                  <a:pt x="189348" y="135530"/>
                  <a:pt x="182771" y="110949"/>
                </a:cubicBezTo>
                <a:cubicBezTo>
                  <a:pt x="176913" y="89009"/>
                  <a:pt x="156126" y="75038"/>
                  <a:pt x="134233" y="76959"/>
                </a:cubicBezTo>
                <a:cubicBezTo>
                  <a:pt x="136778" y="81423"/>
                  <a:pt x="138266" y="86608"/>
                  <a:pt x="138266" y="92177"/>
                </a:cubicBezTo>
                <a:close/>
              </a:path>
            </a:pathLst>
          </a:custGeom>
          <a:solidFill>
            <a:srgbClr val="5A7D7C"/>
          </a:solidFill>
          <a:ln/>
        </p:spPr>
        <p:txBody>
          <a:bodyPr/>
          <a:lstStyle/>
          <a:p>
            <a:endParaRPr lang="en-US"/>
          </a:p>
        </p:txBody>
      </p:sp>
      <p:sp>
        <p:nvSpPr>
          <p:cNvPr id="42" name="Text 39"/>
          <p:cNvSpPr/>
          <p:nvPr/>
        </p:nvSpPr>
        <p:spPr>
          <a:xfrm>
            <a:off x="3459316" y="6263577"/>
            <a:ext cx="2466258" cy="229419"/>
          </a:xfrm>
          <a:prstGeom prst="rect">
            <a:avLst/>
          </a:prstGeom>
          <a:noFill/>
          <a:ln/>
        </p:spPr>
        <p:txBody>
          <a:bodyPr wrap="square" lIns="0" tIns="0" rIns="0" bIns="0" rtlCol="0" anchor="ctr"/>
          <a:lstStyle/>
          <a:p>
            <a:pPr>
              <a:lnSpc>
                <a:spcPct val="130000"/>
              </a:lnSpc>
            </a:pPr>
            <a:r>
              <a:rPr lang="en-US" sz="1161" b="1" dirty="0">
                <a:solidFill>
                  <a:srgbClr val="E0E2E5"/>
                </a:solidFill>
                <a:latin typeface="Quattrocento Sans" pitchFamily="34" charset="0"/>
                <a:ea typeface="Quattrocento Sans" pitchFamily="34" charset="-122"/>
                <a:cs typeface="Quattrocento Sans" pitchFamily="34" charset="-120"/>
              </a:rPr>
              <a:t>Object Recognition</a:t>
            </a:r>
            <a:endParaRPr lang="en-US" sz="1600" dirty="0"/>
          </a:p>
        </p:txBody>
      </p:sp>
      <p:sp>
        <p:nvSpPr>
          <p:cNvPr id="43" name="Text 40"/>
          <p:cNvSpPr/>
          <p:nvPr/>
        </p:nvSpPr>
        <p:spPr>
          <a:xfrm>
            <a:off x="3449484" y="6543066"/>
            <a:ext cx="2449871" cy="147484"/>
          </a:xfrm>
          <a:prstGeom prst="rect">
            <a:avLst/>
          </a:prstGeom>
          <a:noFill/>
          <a:ln/>
        </p:spPr>
        <p:txBody>
          <a:bodyPr wrap="square" lIns="0" tIns="0" rIns="0" bIns="0" rtlCol="0" anchor="ctr"/>
          <a:lstStyle/>
          <a:p>
            <a:pPr>
              <a:lnSpc>
                <a:spcPct val="100000"/>
              </a:lnSpc>
            </a:pPr>
            <a:r>
              <a:rPr lang="en-US" sz="903" dirty="0">
                <a:solidFill>
                  <a:srgbClr val="E0E2E5">
                    <a:alpha val="80000"/>
                  </a:srgbClr>
                </a:solidFill>
                <a:latin typeface="Quattrocento Sans" pitchFamily="34" charset="0"/>
                <a:ea typeface="Quattrocento Sans" pitchFamily="34" charset="-122"/>
                <a:cs typeface="Quattrocento Sans" pitchFamily="34" charset="-120"/>
              </a:rPr>
              <a:t>Shape detection, feature extraction</a:t>
            </a:r>
            <a:endParaRPr lang="en-US" sz="1600" dirty="0"/>
          </a:p>
        </p:txBody>
      </p:sp>
      <p:sp>
        <p:nvSpPr>
          <p:cNvPr id="44" name="Shape 41"/>
          <p:cNvSpPr/>
          <p:nvPr/>
        </p:nvSpPr>
        <p:spPr>
          <a:xfrm>
            <a:off x="6096000" y="5663700"/>
            <a:ext cx="2671097" cy="1048774"/>
          </a:xfrm>
          <a:custGeom>
            <a:avLst/>
            <a:gdLst/>
            <a:ahLst/>
            <a:cxnLst/>
            <a:rect l="l" t="t" r="r" b="b"/>
            <a:pathLst>
              <a:path w="2671097" h="1048774">
                <a:moveTo>
                  <a:pt x="32774" y="0"/>
                </a:moveTo>
                <a:lnTo>
                  <a:pt x="2605548" y="0"/>
                </a:lnTo>
                <a:cubicBezTo>
                  <a:pt x="2641750" y="0"/>
                  <a:pt x="2671097" y="29347"/>
                  <a:pt x="2671097" y="65548"/>
                </a:cubicBezTo>
                <a:lnTo>
                  <a:pt x="2671097" y="983226"/>
                </a:lnTo>
                <a:cubicBezTo>
                  <a:pt x="2671097" y="1019427"/>
                  <a:pt x="2641750" y="1048774"/>
                  <a:pt x="2605548" y="1048774"/>
                </a:cubicBezTo>
                <a:lnTo>
                  <a:pt x="32774" y="1048774"/>
                </a:lnTo>
                <a:cubicBezTo>
                  <a:pt x="14674" y="1048774"/>
                  <a:pt x="0" y="1034101"/>
                  <a:pt x="0" y="1016000"/>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45" name="Shape 42"/>
          <p:cNvSpPr/>
          <p:nvPr/>
        </p:nvSpPr>
        <p:spPr>
          <a:xfrm>
            <a:off x="6177935" y="5694215"/>
            <a:ext cx="32774" cy="1048774"/>
          </a:xfrm>
          <a:custGeom>
            <a:avLst/>
            <a:gdLst/>
            <a:ahLst/>
            <a:cxnLst/>
            <a:rect l="l" t="t" r="r" b="b"/>
            <a:pathLst>
              <a:path w="32774" h="1048774">
                <a:moveTo>
                  <a:pt x="32774" y="0"/>
                </a:moveTo>
                <a:lnTo>
                  <a:pt x="32774" y="0"/>
                </a:lnTo>
                <a:lnTo>
                  <a:pt x="32774" y="1048774"/>
                </a:lnTo>
                <a:lnTo>
                  <a:pt x="32774" y="1048774"/>
                </a:lnTo>
                <a:cubicBezTo>
                  <a:pt x="14674" y="1048774"/>
                  <a:pt x="0" y="1034101"/>
                  <a:pt x="0" y="1016000"/>
                </a:cubicBezTo>
                <a:lnTo>
                  <a:pt x="0" y="32774"/>
                </a:lnTo>
                <a:cubicBezTo>
                  <a:pt x="0" y="14686"/>
                  <a:pt x="14686" y="0"/>
                  <a:pt x="32774" y="0"/>
                </a:cubicBezTo>
                <a:close/>
              </a:path>
            </a:pathLst>
          </a:custGeom>
          <a:solidFill>
            <a:srgbClr val="B8A890"/>
          </a:solidFill>
          <a:ln/>
        </p:spPr>
        <p:txBody>
          <a:bodyPr/>
          <a:lstStyle/>
          <a:p>
            <a:endParaRPr lang="en-US"/>
          </a:p>
        </p:txBody>
      </p:sp>
      <p:sp>
        <p:nvSpPr>
          <p:cNvPr id="46" name="Shape 43"/>
          <p:cNvSpPr/>
          <p:nvPr/>
        </p:nvSpPr>
        <p:spPr>
          <a:xfrm>
            <a:off x="6328407" y="5913245"/>
            <a:ext cx="307258" cy="245806"/>
          </a:xfrm>
          <a:custGeom>
            <a:avLst/>
            <a:gdLst/>
            <a:ahLst/>
            <a:cxnLst/>
            <a:rect l="l" t="t" r="r" b="b"/>
            <a:pathLst>
              <a:path w="307258" h="245806">
                <a:moveTo>
                  <a:pt x="168992" y="0"/>
                </a:moveTo>
                <a:cubicBezTo>
                  <a:pt x="168992" y="-8498"/>
                  <a:pt x="162127" y="-15363"/>
                  <a:pt x="153629" y="-15363"/>
                </a:cubicBezTo>
                <a:cubicBezTo>
                  <a:pt x="145131" y="-15363"/>
                  <a:pt x="138266" y="-8498"/>
                  <a:pt x="138266" y="0"/>
                </a:cubicBezTo>
                <a:lnTo>
                  <a:pt x="138266" y="30726"/>
                </a:lnTo>
                <a:lnTo>
                  <a:pt x="92177" y="30726"/>
                </a:lnTo>
                <a:cubicBezTo>
                  <a:pt x="66733" y="30726"/>
                  <a:pt x="46089" y="51370"/>
                  <a:pt x="46089" y="76815"/>
                </a:cubicBezTo>
                <a:lnTo>
                  <a:pt x="46089" y="184355"/>
                </a:lnTo>
                <a:cubicBezTo>
                  <a:pt x="46089" y="209800"/>
                  <a:pt x="66733" y="230444"/>
                  <a:pt x="92177" y="230444"/>
                </a:cubicBezTo>
                <a:lnTo>
                  <a:pt x="215081" y="230444"/>
                </a:lnTo>
                <a:cubicBezTo>
                  <a:pt x="240525" y="230444"/>
                  <a:pt x="261169" y="209800"/>
                  <a:pt x="261169" y="184355"/>
                </a:cubicBezTo>
                <a:lnTo>
                  <a:pt x="261169" y="76815"/>
                </a:lnTo>
                <a:cubicBezTo>
                  <a:pt x="261169" y="51370"/>
                  <a:pt x="240525" y="30726"/>
                  <a:pt x="215081" y="30726"/>
                </a:cubicBezTo>
                <a:lnTo>
                  <a:pt x="168992" y="30726"/>
                </a:lnTo>
                <a:lnTo>
                  <a:pt x="168992" y="0"/>
                </a:lnTo>
                <a:close/>
                <a:moveTo>
                  <a:pt x="76815" y="176673"/>
                </a:moveTo>
                <a:cubicBezTo>
                  <a:pt x="76815" y="170288"/>
                  <a:pt x="81951" y="165151"/>
                  <a:pt x="88337" y="165151"/>
                </a:cubicBezTo>
                <a:lnTo>
                  <a:pt x="103700" y="165151"/>
                </a:lnTo>
                <a:cubicBezTo>
                  <a:pt x="110085" y="165151"/>
                  <a:pt x="115222" y="170288"/>
                  <a:pt x="115222" y="176673"/>
                </a:cubicBezTo>
                <a:cubicBezTo>
                  <a:pt x="115222" y="183059"/>
                  <a:pt x="110085" y="188196"/>
                  <a:pt x="103700" y="188196"/>
                </a:cubicBezTo>
                <a:lnTo>
                  <a:pt x="88337" y="188196"/>
                </a:lnTo>
                <a:cubicBezTo>
                  <a:pt x="81951" y="188196"/>
                  <a:pt x="76815" y="183059"/>
                  <a:pt x="76815" y="176673"/>
                </a:cubicBezTo>
                <a:close/>
                <a:moveTo>
                  <a:pt x="134425" y="176673"/>
                </a:moveTo>
                <a:cubicBezTo>
                  <a:pt x="134425" y="170288"/>
                  <a:pt x="139562" y="165151"/>
                  <a:pt x="145948" y="165151"/>
                </a:cubicBezTo>
                <a:lnTo>
                  <a:pt x="161310" y="165151"/>
                </a:lnTo>
                <a:cubicBezTo>
                  <a:pt x="167696" y="165151"/>
                  <a:pt x="172833" y="170288"/>
                  <a:pt x="172833" y="176673"/>
                </a:cubicBezTo>
                <a:cubicBezTo>
                  <a:pt x="172833" y="183059"/>
                  <a:pt x="167696" y="188196"/>
                  <a:pt x="161310" y="188196"/>
                </a:cubicBezTo>
                <a:lnTo>
                  <a:pt x="145948" y="188196"/>
                </a:lnTo>
                <a:cubicBezTo>
                  <a:pt x="139562" y="188196"/>
                  <a:pt x="134425" y="183059"/>
                  <a:pt x="134425" y="176673"/>
                </a:cubicBezTo>
                <a:close/>
                <a:moveTo>
                  <a:pt x="192036" y="176673"/>
                </a:moveTo>
                <a:cubicBezTo>
                  <a:pt x="192036" y="170288"/>
                  <a:pt x="197173" y="165151"/>
                  <a:pt x="203558" y="165151"/>
                </a:cubicBezTo>
                <a:lnTo>
                  <a:pt x="218921" y="165151"/>
                </a:lnTo>
                <a:cubicBezTo>
                  <a:pt x="225307" y="165151"/>
                  <a:pt x="230444" y="170288"/>
                  <a:pt x="230444" y="176673"/>
                </a:cubicBezTo>
                <a:cubicBezTo>
                  <a:pt x="230444" y="183059"/>
                  <a:pt x="225307" y="188196"/>
                  <a:pt x="218921" y="188196"/>
                </a:cubicBezTo>
                <a:lnTo>
                  <a:pt x="203558" y="188196"/>
                </a:lnTo>
                <a:cubicBezTo>
                  <a:pt x="197173" y="188196"/>
                  <a:pt x="192036" y="183059"/>
                  <a:pt x="192036" y="176673"/>
                </a:cubicBezTo>
                <a:close/>
                <a:moveTo>
                  <a:pt x="107540" y="84496"/>
                </a:moveTo>
                <a:cubicBezTo>
                  <a:pt x="120259" y="84496"/>
                  <a:pt x="130585" y="94822"/>
                  <a:pt x="130585" y="107540"/>
                </a:cubicBezTo>
                <a:cubicBezTo>
                  <a:pt x="130585" y="120259"/>
                  <a:pt x="120259" y="130585"/>
                  <a:pt x="107540" y="130585"/>
                </a:cubicBezTo>
                <a:cubicBezTo>
                  <a:pt x="94822" y="130585"/>
                  <a:pt x="84496" y="120259"/>
                  <a:pt x="84496" y="107540"/>
                </a:cubicBezTo>
                <a:cubicBezTo>
                  <a:pt x="84496" y="94822"/>
                  <a:pt x="94822" y="84496"/>
                  <a:pt x="107540" y="84496"/>
                </a:cubicBezTo>
                <a:close/>
                <a:moveTo>
                  <a:pt x="176673" y="107540"/>
                </a:moveTo>
                <a:cubicBezTo>
                  <a:pt x="176673" y="94822"/>
                  <a:pt x="186999" y="84496"/>
                  <a:pt x="199718" y="84496"/>
                </a:cubicBezTo>
                <a:cubicBezTo>
                  <a:pt x="212436" y="84496"/>
                  <a:pt x="222762" y="94822"/>
                  <a:pt x="222762" y="107540"/>
                </a:cubicBezTo>
                <a:cubicBezTo>
                  <a:pt x="222762" y="120259"/>
                  <a:pt x="212436" y="130585"/>
                  <a:pt x="199718" y="130585"/>
                </a:cubicBezTo>
                <a:cubicBezTo>
                  <a:pt x="186999" y="130585"/>
                  <a:pt x="176673" y="120259"/>
                  <a:pt x="176673" y="107540"/>
                </a:cubicBezTo>
                <a:close/>
                <a:moveTo>
                  <a:pt x="30726" y="107540"/>
                </a:moveTo>
                <a:cubicBezTo>
                  <a:pt x="30726" y="99043"/>
                  <a:pt x="23861" y="92177"/>
                  <a:pt x="15363" y="92177"/>
                </a:cubicBezTo>
                <a:cubicBezTo>
                  <a:pt x="6865" y="92177"/>
                  <a:pt x="0" y="99043"/>
                  <a:pt x="0" y="107540"/>
                </a:cubicBezTo>
                <a:lnTo>
                  <a:pt x="0" y="153629"/>
                </a:lnTo>
                <a:cubicBezTo>
                  <a:pt x="0" y="162127"/>
                  <a:pt x="6865" y="168992"/>
                  <a:pt x="15363" y="168992"/>
                </a:cubicBezTo>
                <a:cubicBezTo>
                  <a:pt x="23861" y="168992"/>
                  <a:pt x="30726" y="162127"/>
                  <a:pt x="30726" y="153629"/>
                </a:cubicBezTo>
                <a:lnTo>
                  <a:pt x="30726" y="107540"/>
                </a:lnTo>
                <a:close/>
                <a:moveTo>
                  <a:pt x="291895" y="92177"/>
                </a:moveTo>
                <a:cubicBezTo>
                  <a:pt x="283398" y="92177"/>
                  <a:pt x="276532" y="99043"/>
                  <a:pt x="276532" y="107540"/>
                </a:cubicBezTo>
                <a:lnTo>
                  <a:pt x="276532" y="153629"/>
                </a:lnTo>
                <a:cubicBezTo>
                  <a:pt x="276532" y="162127"/>
                  <a:pt x="283398" y="168992"/>
                  <a:pt x="291895" y="168992"/>
                </a:cubicBezTo>
                <a:cubicBezTo>
                  <a:pt x="300393" y="168992"/>
                  <a:pt x="307258" y="162127"/>
                  <a:pt x="307258" y="153629"/>
                </a:cubicBezTo>
                <a:lnTo>
                  <a:pt x="307258" y="107540"/>
                </a:lnTo>
                <a:cubicBezTo>
                  <a:pt x="307258" y="99043"/>
                  <a:pt x="300393" y="92177"/>
                  <a:pt x="291895" y="92177"/>
                </a:cubicBezTo>
                <a:close/>
              </a:path>
            </a:pathLst>
          </a:custGeom>
          <a:solidFill>
            <a:srgbClr val="B8A890"/>
          </a:solidFill>
          <a:ln/>
        </p:spPr>
        <p:txBody>
          <a:bodyPr/>
          <a:lstStyle/>
          <a:p>
            <a:endParaRPr lang="en-US" dirty="0"/>
          </a:p>
        </p:txBody>
      </p:sp>
      <p:sp>
        <p:nvSpPr>
          <p:cNvPr id="47" name="Text 44"/>
          <p:cNvSpPr/>
          <p:nvPr/>
        </p:nvSpPr>
        <p:spPr>
          <a:xfrm>
            <a:off x="6259871" y="6238416"/>
            <a:ext cx="2466258" cy="229419"/>
          </a:xfrm>
          <a:prstGeom prst="rect">
            <a:avLst/>
          </a:prstGeom>
          <a:noFill/>
          <a:ln/>
        </p:spPr>
        <p:txBody>
          <a:bodyPr wrap="square" lIns="0" tIns="0" rIns="0" bIns="0" rtlCol="0" anchor="ctr"/>
          <a:lstStyle/>
          <a:p>
            <a:pPr>
              <a:lnSpc>
                <a:spcPct val="130000"/>
              </a:lnSpc>
            </a:pPr>
            <a:r>
              <a:rPr lang="en-US" sz="1161" b="1" dirty="0">
                <a:solidFill>
                  <a:srgbClr val="E0E2E5"/>
                </a:solidFill>
                <a:latin typeface="Quattrocento Sans" pitchFamily="34" charset="0"/>
                <a:ea typeface="Quattrocento Sans" pitchFamily="34" charset="-122"/>
                <a:cs typeface="Quattrocento Sans" pitchFamily="34" charset="-120"/>
              </a:rPr>
              <a:t>Computer Vision</a:t>
            </a:r>
            <a:endParaRPr lang="en-US" sz="1600" dirty="0"/>
          </a:p>
        </p:txBody>
      </p:sp>
      <p:sp>
        <p:nvSpPr>
          <p:cNvPr id="48" name="Text 45"/>
          <p:cNvSpPr/>
          <p:nvPr/>
        </p:nvSpPr>
        <p:spPr>
          <a:xfrm>
            <a:off x="6259871" y="6519256"/>
            <a:ext cx="2449871" cy="147484"/>
          </a:xfrm>
          <a:prstGeom prst="rect">
            <a:avLst/>
          </a:prstGeom>
          <a:noFill/>
          <a:ln/>
        </p:spPr>
        <p:txBody>
          <a:bodyPr wrap="square" lIns="0" tIns="0" rIns="0" bIns="0" rtlCol="0" anchor="ctr"/>
          <a:lstStyle/>
          <a:p>
            <a:pPr>
              <a:lnSpc>
                <a:spcPct val="100000"/>
              </a:lnSpc>
            </a:pPr>
            <a:r>
              <a:rPr lang="en-US" sz="903" dirty="0">
                <a:solidFill>
                  <a:srgbClr val="E0E2E5">
                    <a:alpha val="80000"/>
                  </a:srgbClr>
                </a:solidFill>
                <a:latin typeface="Quattrocento Sans" pitchFamily="34" charset="0"/>
                <a:ea typeface="Quattrocento Sans" pitchFamily="34" charset="-122"/>
                <a:cs typeface="Quattrocento Sans" pitchFamily="34" charset="-120"/>
              </a:rPr>
              <a:t>Autonomous systems, scene analysis</a:t>
            </a:r>
            <a:endParaRPr lang="en-US" sz="1600" dirty="0"/>
          </a:p>
        </p:txBody>
      </p:sp>
      <p:sp>
        <p:nvSpPr>
          <p:cNvPr id="49" name="Shape 46"/>
          <p:cNvSpPr/>
          <p:nvPr/>
        </p:nvSpPr>
        <p:spPr>
          <a:xfrm>
            <a:off x="8969477" y="5664568"/>
            <a:ext cx="2671097" cy="1048774"/>
          </a:xfrm>
          <a:custGeom>
            <a:avLst/>
            <a:gdLst/>
            <a:ahLst/>
            <a:cxnLst/>
            <a:rect l="l" t="t" r="r" b="b"/>
            <a:pathLst>
              <a:path w="2671097" h="1048774">
                <a:moveTo>
                  <a:pt x="32774" y="0"/>
                </a:moveTo>
                <a:lnTo>
                  <a:pt x="2605548" y="0"/>
                </a:lnTo>
                <a:cubicBezTo>
                  <a:pt x="2641750" y="0"/>
                  <a:pt x="2671097" y="29347"/>
                  <a:pt x="2671097" y="65548"/>
                </a:cubicBezTo>
                <a:lnTo>
                  <a:pt x="2671097" y="983226"/>
                </a:lnTo>
                <a:cubicBezTo>
                  <a:pt x="2671097" y="1019427"/>
                  <a:pt x="2641750" y="1048774"/>
                  <a:pt x="2605548" y="1048774"/>
                </a:cubicBezTo>
                <a:lnTo>
                  <a:pt x="32774" y="1048774"/>
                </a:lnTo>
                <a:cubicBezTo>
                  <a:pt x="14674" y="1048774"/>
                  <a:pt x="0" y="1034101"/>
                  <a:pt x="0" y="1016000"/>
                </a:cubicBezTo>
                <a:lnTo>
                  <a:pt x="0" y="32774"/>
                </a:lnTo>
                <a:cubicBezTo>
                  <a:pt x="0" y="14686"/>
                  <a:pt x="14686" y="0"/>
                  <a:pt x="32774" y="0"/>
                </a:cubicBezTo>
                <a:close/>
              </a:path>
            </a:pathLst>
          </a:custGeom>
          <a:solidFill>
            <a:srgbClr val="1A1D21">
              <a:alpha val="50196"/>
            </a:srgbClr>
          </a:solidFill>
          <a:ln/>
        </p:spPr>
        <p:txBody>
          <a:bodyPr/>
          <a:lstStyle/>
          <a:p>
            <a:endParaRPr lang="en-US"/>
          </a:p>
        </p:txBody>
      </p:sp>
      <p:sp>
        <p:nvSpPr>
          <p:cNvPr id="50" name="Shape 47"/>
          <p:cNvSpPr/>
          <p:nvPr/>
        </p:nvSpPr>
        <p:spPr>
          <a:xfrm>
            <a:off x="8984226" y="5664706"/>
            <a:ext cx="32774" cy="1048774"/>
          </a:xfrm>
          <a:custGeom>
            <a:avLst/>
            <a:gdLst/>
            <a:ahLst/>
            <a:cxnLst/>
            <a:rect l="l" t="t" r="r" b="b"/>
            <a:pathLst>
              <a:path w="32774" h="1048774">
                <a:moveTo>
                  <a:pt x="32774" y="0"/>
                </a:moveTo>
                <a:lnTo>
                  <a:pt x="32774" y="0"/>
                </a:lnTo>
                <a:lnTo>
                  <a:pt x="32774" y="1048774"/>
                </a:lnTo>
                <a:lnTo>
                  <a:pt x="32774" y="1048774"/>
                </a:lnTo>
                <a:cubicBezTo>
                  <a:pt x="14674" y="1048774"/>
                  <a:pt x="0" y="1034101"/>
                  <a:pt x="0" y="1016000"/>
                </a:cubicBezTo>
                <a:lnTo>
                  <a:pt x="0" y="32774"/>
                </a:lnTo>
                <a:cubicBezTo>
                  <a:pt x="0" y="14686"/>
                  <a:pt x="14686" y="0"/>
                  <a:pt x="32774" y="0"/>
                </a:cubicBezTo>
                <a:close/>
              </a:path>
            </a:pathLst>
          </a:custGeom>
          <a:solidFill>
            <a:srgbClr val="4A6C8C"/>
          </a:solidFill>
          <a:ln/>
        </p:spPr>
        <p:txBody>
          <a:bodyPr/>
          <a:lstStyle/>
          <a:p>
            <a:endParaRPr lang="en-US"/>
          </a:p>
        </p:txBody>
      </p:sp>
      <p:sp>
        <p:nvSpPr>
          <p:cNvPr id="51" name="Shape 48"/>
          <p:cNvSpPr/>
          <p:nvPr/>
        </p:nvSpPr>
        <p:spPr>
          <a:xfrm>
            <a:off x="9173497" y="5878303"/>
            <a:ext cx="245806" cy="245806"/>
          </a:xfrm>
          <a:custGeom>
            <a:avLst/>
            <a:gdLst/>
            <a:ahLst/>
            <a:cxnLst/>
            <a:rect l="l" t="t" r="r" b="b"/>
            <a:pathLst>
              <a:path w="245806" h="245806">
                <a:moveTo>
                  <a:pt x="15363" y="15363"/>
                </a:moveTo>
                <a:cubicBezTo>
                  <a:pt x="6865" y="15363"/>
                  <a:pt x="0" y="22228"/>
                  <a:pt x="0" y="30726"/>
                </a:cubicBezTo>
                <a:lnTo>
                  <a:pt x="0" y="207399"/>
                </a:lnTo>
                <a:cubicBezTo>
                  <a:pt x="0" y="220122"/>
                  <a:pt x="10322" y="230444"/>
                  <a:pt x="23044" y="230444"/>
                </a:cubicBezTo>
                <a:lnTo>
                  <a:pt x="222762" y="230444"/>
                </a:lnTo>
                <a:cubicBezTo>
                  <a:pt x="235485" y="230444"/>
                  <a:pt x="245806" y="220122"/>
                  <a:pt x="245806" y="207399"/>
                </a:cubicBezTo>
                <a:lnTo>
                  <a:pt x="245806" y="73070"/>
                </a:lnTo>
                <a:cubicBezTo>
                  <a:pt x="245806" y="64332"/>
                  <a:pt x="236493" y="58811"/>
                  <a:pt x="228811" y="62940"/>
                </a:cubicBezTo>
                <a:lnTo>
                  <a:pt x="153629" y="103412"/>
                </a:lnTo>
                <a:lnTo>
                  <a:pt x="153629" y="73070"/>
                </a:lnTo>
                <a:cubicBezTo>
                  <a:pt x="153629" y="64332"/>
                  <a:pt x="144315" y="58811"/>
                  <a:pt x="136634" y="62940"/>
                </a:cubicBezTo>
                <a:lnTo>
                  <a:pt x="61452" y="103412"/>
                </a:lnTo>
                <a:lnTo>
                  <a:pt x="61452" y="30726"/>
                </a:lnTo>
                <a:cubicBezTo>
                  <a:pt x="61452" y="22228"/>
                  <a:pt x="54586" y="15363"/>
                  <a:pt x="46089" y="15363"/>
                </a:cubicBezTo>
                <a:lnTo>
                  <a:pt x="15363" y="15363"/>
                </a:lnTo>
                <a:close/>
              </a:path>
            </a:pathLst>
          </a:custGeom>
          <a:solidFill>
            <a:srgbClr val="4A6C8C"/>
          </a:solidFill>
          <a:ln/>
        </p:spPr>
        <p:txBody>
          <a:bodyPr/>
          <a:lstStyle/>
          <a:p>
            <a:endParaRPr lang="en-US"/>
          </a:p>
        </p:txBody>
      </p:sp>
      <p:sp>
        <p:nvSpPr>
          <p:cNvPr id="52" name="Text 49"/>
          <p:cNvSpPr/>
          <p:nvPr/>
        </p:nvSpPr>
        <p:spPr>
          <a:xfrm>
            <a:off x="9094839" y="6166846"/>
            <a:ext cx="2466258" cy="229419"/>
          </a:xfrm>
          <a:prstGeom prst="rect">
            <a:avLst/>
          </a:prstGeom>
          <a:noFill/>
          <a:ln/>
        </p:spPr>
        <p:txBody>
          <a:bodyPr wrap="square" lIns="0" tIns="0" rIns="0" bIns="0" rtlCol="0" anchor="ctr"/>
          <a:lstStyle/>
          <a:p>
            <a:pPr>
              <a:lnSpc>
                <a:spcPct val="130000"/>
              </a:lnSpc>
            </a:pPr>
            <a:r>
              <a:rPr lang="en-US" sz="1161" b="1" dirty="0">
                <a:solidFill>
                  <a:srgbClr val="E0E2E5"/>
                </a:solidFill>
                <a:latin typeface="Quattrocento Sans" pitchFamily="34" charset="0"/>
                <a:ea typeface="Quattrocento Sans" pitchFamily="34" charset="-122"/>
                <a:cs typeface="Quattrocento Sans" pitchFamily="34" charset="-120"/>
              </a:rPr>
              <a:t>Quality Inspection</a:t>
            </a:r>
            <a:endParaRPr lang="en-US" sz="1600" dirty="0"/>
          </a:p>
        </p:txBody>
      </p:sp>
      <p:sp>
        <p:nvSpPr>
          <p:cNvPr id="53" name="Text 50"/>
          <p:cNvSpPr/>
          <p:nvPr/>
        </p:nvSpPr>
        <p:spPr>
          <a:xfrm>
            <a:off x="9052231" y="6552031"/>
            <a:ext cx="2449871" cy="147484"/>
          </a:xfrm>
          <a:prstGeom prst="rect">
            <a:avLst/>
          </a:prstGeom>
          <a:noFill/>
          <a:ln/>
        </p:spPr>
        <p:txBody>
          <a:bodyPr wrap="square" lIns="0" tIns="0" rIns="0" bIns="0" rtlCol="0" anchor="ctr"/>
          <a:lstStyle/>
          <a:p>
            <a:pPr>
              <a:lnSpc>
                <a:spcPct val="100000"/>
              </a:lnSpc>
            </a:pPr>
            <a:r>
              <a:rPr lang="en-US" sz="903" dirty="0">
                <a:solidFill>
                  <a:srgbClr val="E0E2E5">
                    <a:alpha val="80000"/>
                  </a:srgbClr>
                </a:solidFill>
                <a:latin typeface="Quattrocento Sans" pitchFamily="34" charset="0"/>
                <a:ea typeface="Quattrocento Sans" pitchFamily="34" charset="-122"/>
                <a:cs typeface="Quattrocento Sans" pitchFamily="34" charset="-120"/>
              </a:rPr>
              <a:t>Defect detection, precision measurement</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TotalTime>
  <Words>1863</Words>
  <Application>Microsoft Office PowerPoint</Application>
  <PresentationFormat>Widescreen</PresentationFormat>
  <Paragraphs>387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Quattrocento Sans</vt:lpstr>
      <vt:lpstr>Liter</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Image Processing Techniques in MATLAB</dc:title>
  <dc:subject>Digital Image Processing Techniques in MATLAB</dc:subject>
  <dc:creator>Kimi</dc:creator>
  <cp:lastModifiedBy>محمد عيسى الحاج</cp:lastModifiedBy>
  <cp:revision>20</cp:revision>
  <dcterms:created xsi:type="dcterms:W3CDTF">2026-01-08T19:26:15Z</dcterms:created>
  <dcterms:modified xsi:type="dcterms:W3CDTF">2026-01-13T21:25:42Z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{"Label":"Digital Image Processing Techniques in MATLAB","ContentProducer":"001191110108MACG2KBH8F10000","ProduceID":"19b9f0c5-6442-8bdc-8000-000030666816","ReservedCode1":"","ContentPropagator":"001191110108MACG2KBH8F20000","PropagateID":"19b9f0c5-6442-8bdc-8000-000030666816","ReservedCode2":""}</vt:lpwstr>
  </property>
</Properties>
</file>